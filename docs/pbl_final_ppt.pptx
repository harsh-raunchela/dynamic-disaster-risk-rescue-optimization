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3" d="100"/>
          <a:sy n="173" d="100"/>
        </p:scale>
        <p:origin x="696" y="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214A3F-62A8-4943-B64E-993CD1FE5F9F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9375E-80CB-43F2-8E5F-CAA105BC52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8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9375E-80CB-43F2-8E5F-CAA105BC523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69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03507" y="71031"/>
            <a:ext cx="0" cy="223520"/>
          </a:xfrm>
          <a:custGeom>
            <a:avLst/>
            <a:gdLst/>
            <a:ahLst/>
            <a:cxnLst/>
            <a:rect l="l" t="t" r="r" b="b"/>
            <a:pathLst>
              <a:path h="223520">
                <a:moveTo>
                  <a:pt x="0" y="22320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400979" y="73558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18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9217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1147" y="1292943"/>
            <a:ext cx="2350135" cy="1123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18946"/>
            <a:ext cx="3020695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394" y="3118946"/>
            <a:ext cx="215900" cy="1193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 MT"/>
                <a:cs typeface="Arial MT"/>
              </a:defRPr>
            </a:lvl1pPr>
          </a:lstStyle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186756" y="172173"/>
            <a:ext cx="365125" cy="365125"/>
            <a:chOff x="5186756" y="172173"/>
            <a:chExt cx="365125" cy="365125"/>
          </a:xfrm>
        </p:grpSpPr>
        <p:sp>
          <p:nvSpPr>
            <p:cNvPr id="4" name="object 4"/>
            <p:cNvSpPr/>
            <p:nvPr/>
          </p:nvSpPr>
          <p:spPr>
            <a:xfrm>
              <a:off x="5191836" y="174713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0" y="35999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89296" y="177241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5999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189296" y="174713"/>
            <a:ext cx="360045" cy="360045"/>
            <a:chOff x="5189296" y="174713"/>
            <a:chExt cx="360045" cy="360045"/>
          </a:xfrm>
        </p:grpSpPr>
        <p:sp>
          <p:nvSpPr>
            <p:cNvPr id="8" name="object 8"/>
            <p:cNvSpPr/>
            <p:nvPr/>
          </p:nvSpPr>
          <p:spPr>
            <a:xfrm>
              <a:off x="5189296" y="532180"/>
              <a:ext cx="360045" cy="0"/>
            </a:xfrm>
            <a:custGeom>
              <a:avLst/>
              <a:gdLst/>
              <a:ahLst/>
              <a:cxnLst/>
              <a:rect l="l" t="t" r="r" b="b"/>
              <a:pathLst>
                <a:path w="360045">
                  <a:moveTo>
                    <a:pt x="0" y="0"/>
                  </a:moveTo>
                  <a:lnTo>
                    <a:pt x="35999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46762" y="174713"/>
              <a:ext cx="0" cy="360045"/>
            </a:xfrm>
            <a:custGeom>
              <a:avLst/>
              <a:gdLst/>
              <a:ahLst/>
              <a:cxnLst/>
              <a:rect l="l" t="t" r="r" b="b"/>
              <a:pathLst>
                <a:path h="360045">
                  <a:moveTo>
                    <a:pt x="0" y="359994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50290" y="1262369"/>
            <a:ext cx="3859529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spc="-60" dirty="0"/>
              <a:t>PROJECT-</a:t>
            </a:r>
            <a:r>
              <a:rPr sz="2200" spc="-35" dirty="0"/>
              <a:t>BASED</a:t>
            </a:r>
            <a:r>
              <a:rPr sz="2200" spc="-175" dirty="0"/>
              <a:t> </a:t>
            </a:r>
            <a:r>
              <a:rPr sz="2200" spc="-10" dirty="0"/>
              <a:t>LEARNING</a:t>
            </a:r>
            <a:endParaRPr sz="2200"/>
          </a:p>
        </p:txBody>
      </p:sp>
      <p:sp>
        <p:nvSpPr>
          <p:cNvPr id="11" name="object 11"/>
          <p:cNvSpPr txBox="1"/>
          <p:nvPr/>
        </p:nvSpPr>
        <p:spPr>
          <a:xfrm>
            <a:off x="1247228" y="1595018"/>
            <a:ext cx="3265804" cy="1476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latin typeface="Arial MT"/>
                <a:cs typeface="Arial MT"/>
              </a:rPr>
              <a:t>PHASE-</a:t>
            </a:r>
            <a:r>
              <a:rPr sz="1500" dirty="0">
                <a:latin typeface="Arial MT"/>
                <a:cs typeface="Arial MT"/>
              </a:rPr>
              <a:t>I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EVALUATION</a:t>
            </a:r>
            <a:endParaRPr sz="1500">
              <a:latin typeface="Arial MT"/>
              <a:cs typeface="Arial MT"/>
            </a:endParaRPr>
          </a:p>
          <a:p>
            <a:pPr marL="12700" marR="5080" algn="ctr">
              <a:lnSpc>
                <a:spcPts val="1350"/>
              </a:lnSpc>
              <a:spcBef>
                <a:spcPts val="1145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Dynamic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Disaster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Risk, Evaluation</a:t>
            </a: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&amp;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Rescue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Optimization</a:t>
            </a:r>
            <a:r>
              <a:rPr sz="1200" b="1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sz="1100" spc="-2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100" spc="4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133768"/>
                </a:solidFill>
                <a:latin typeface="Arial MT"/>
                <a:cs typeface="Arial MT"/>
              </a:rPr>
              <a:t>ID:</a:t>
            </a:r>
            <a:r>
              <a:rPr sz="1100" spc="5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133768"/>
                </a:solidFill>
                <a:latin typeface="Arial MT"/>
                <a:cs typeface="Arial MT"/>
              </a:rPr>
              <a:t>DSCPP-</a:t>
            </a:r>
            <a:r>
              <a:rPr sz="1100" spc="-10" dirty="0">
                <a:solidFill>
                  <a:srgbClr val="133768"/>
                </a:solidFill>
                <a:latin typeface="Arial MT"/>
                <a:cs typeface="Arial MT"/>
              </a:rPr>
              <a:t>III-2026-</a:t>
            </a:r>
            <a:r>
              <a:rPr sz="1100" spc="-20" dirty="0">
                <a:solidFill>
                  <a:srgbClr val="133768"/>
                </a:solidFill>
                <a:latin typeface="Arial MT"/>
                <a:cs typeface="Arial MT"/>
              </a:rPr>
              <a:t>T119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sz="1100" b="1" spc="-10" dirty="0">
                <a:latin typeface="Arial"/>
                <a:cs typeface="Arial"/>
              </a:rPr>
              <a:t>Department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Computer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Science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&amp;</a:t>
            </a:r>
            <a:r>
              <a:rPr sz="1100" b="1" spc="-2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Engineering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 MT"/>
                <a:cs typeface="Arial MT"/>
              </a:rPr>
              <a:t>Graphic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Era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(Deemed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University),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Dehradun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dirty="0">
                <a:latin typeface="Arial MT"/>
                <a:cs typeface="Arial MT"/>
              </a:rPr>
              <a:t>Academic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Session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2026–</a:t>
            </a:r>
            <a:r>
              <a:rPr sz="800" spc="-25" dirty="0">
                <a:latin typeface="Arial MT"/>
                <a:cs typeface="Arial MT"/>
              </a:rPr>
              <a:t>27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16BE41-FE8B-CB1E-3D69-FA3E8D0C3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86758"/>
            <a:ext cx="724249" cy="54506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Team</a:t>
            </a:r>
            <a:r>
              <a:rPr spc="35" dirty="0"/>
              <a:t> </a:t>
            </a:r>
            <a:r>
              <a:rPr dirty="0"/>
              <a:t>&amp;</a:t>
            </a:r>
            <a:r>
              <a:rPr spc="40" dirty="0"/>
              <a:t> </a:t>
            </a:r>
            <a:r>
              <a:rPr dirty="0"/>
              <a:t>Mentor</a:t>
            </a:r>
            <a:r>
              <a:rPr spc="4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3" y="1232433"/>
            <a:ext cx="2520950" cy="194310"/>
          </a:xfrm>
          <a:custGeom>
            <a:avLst/>
            <a:gdLst/>
            <a:ahLst/>
            <a:cxnLst/>
            <a:rect l="l" t="t" r="r" b="b"/>
            <a:pathLst>
              <a:path w="2520950" h="19430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4057"/>
                </a:lnTo>
                <a:lnTo>
                  <a:pt x="2520810" y="19405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217673"/>
            <a:ext cx="11963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-5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Information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0016" y="1232433"/>
            <a:ext cx="2520950" cy="191135"/>
          </a:xfrm>
          <a:custGeom>
            <a:avLst/>
            <a:gdLst/>
            <a:ahLst/>
            <a:cxnLst/>
            <a:rect l="l" t="t" r="r" b="b"/>
            <a:pathLst>
              <a:path w="2520950" h="191134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0564"/>
                </a:lnTo>
                <a:lnTo>
                  <a:pt x="2520810" y="190564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68117" y="1214180"/>
            <a:ext cx="10706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0" dirty="0">
                <a:solidFill>
                  <a:srgbClr val="133768"/>
                </a:solidFill>
                <a:latin typeface="Arial MT"/>
                <a:cs typeface="Arial MT"/>
              </a:rPr>
              <a:t>Team</a:t>
            </a:r>
            <a:r>
              <a:rPr sz="1200" spc="-5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Members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93" y="1413840"/>
            <a:ext cx="2520950" cy="802640"/>
            <a:chOff x="309193" y="1413840"/>
            <a:chExt cx="2520950" cy="80264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13840"/>
              <a:ext cx="2520810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193" y="1458110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7294" y="1452624"/>
            <a:ext cx="69532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spc="-20" dirty="0">
                <a:latin typeface="Arial"/>
                <a:cs typeface="Arial"/>
              </a:rPr>
              <a:t>Team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ID: </a:t>
            </a:r>
            <a:r>
              <a:rPr sz="1100" b="1" spc="-10" dirty="0">
                <a:latin typeface="Arial"/>
                <a:cs typeface="Arial"/>
              </a:rPr>
              <a:t>Semester: Section: Domain: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69008" y="1452624"/>
            <a:ext cx="1381125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Arial MT"/>
                <a:cs typeface="Arial MT"/>
              </a:rPr>
              <a:t>DSCPP-III-2026-</a:t>
            </a:r>
            <a:r>
              <a:rPr sz="1100" spc="-20" dirty="0">
                <a:latin typeface="Arial MT"/>
                <a:cs typeface="Arial MT"/>
              </a:rPr>
              <a:t>T119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Arial MT"/>
                <a:cs typeface="Arial MT"/>
              </a:rPr>
              <a:t>3rd</a:t>
            </a:r>
            <a:endParaRPr sz="1100">
              <a:latin typeface="Arial MT"/>
              <a:cs typeface="Arial MT"/>
            </a:endParaRPr>
          </a:p>
          <a:p>
            <a:pPr marL="12700" marR="50800">
              <a:lnSpc>
                <a:spcPct val="102600"/>
              </a:lnSpc>
            </a:pPr>
            <a:r>
              <a:rPr sz="1100" dirty="0">
                <a:latin typeface="Arial MT"/>
                <a:cs typeface="Arial MT"/>
              </a:rPr>
              <a:t>DS2,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DS1,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ML1,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ML2 CSE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30016" y="1410347"/>
            <a:ext cx="2520950" cy="761365"/>
            <a:chOff x="2930016" y="1410347"/>
            <a:chExt cx="2520950" cy="76136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10347"/>
              <a:ext cx="2520810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930016" y="1454622"/>
              <a:ext cx="2520950" cy="717550"/>
            </a:xfrm>
            <a:custGeom>
              <a:avLst/>
              <a:gdLst/>
              <a:ahLst/>
              <a:cxnLst/>
              <a:rect l="l" t="t" r="r" b="b"/>
              <a:pathLst>
                <a:path w="2520950" h="717550">
                  <a:moveTo>
                    <a:pt x="2520810" y="0"/>
                  </a:moveTo>
                  <a:lnTo>
                    <a:pt x="0" y="0"/>
                  </a:lnTo>
                  <a:lnTo>
                    <a:pt x="0" y="666227"/>
                  </a:lnTo>
                  <a:lnTo>
                    <a:pt x="4008" y="685951"/>
                  </a:lnTo>
                  <a:lnTo>
                    <a:pt x="14922" y="702104"/>
                  </a:lnTo>
                  <a:lnTo>
                    <a:pt x="31075" y="713018"/>
                  </a:lnTo>
                  <a:lnTo>
                    <a:pt x="50800" y="717027"/>
                  </a:lnTo>
                  <a:lnTo>
                    <a:pt x="2470010" y="717027"/>
                  </a:lnTo>
                  <a:lnTo>
                    <a:pt x="2489735" y="713018"/>
                  </a:lnTo>
                  <a:lnTo>
                    <a:pt x="2505888" y="702104"/>
                  </a:lnTo>
                  <a:lnTo>
                    <a:pt x="2516802" y="685951"/>
                  </a:lnTo>
                  <a:lnTo>
                    <a:pt x="2520810" y="666227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68117" y="1430590"/>
            <a:ext cx="2043430" cy="7080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266700" algn="l"/>
              </a:tabLst>
            </a:pPr>
            <a:r>
              <a:rPr sz="1100" dirty="0">
                <a:latin typeface="Arial MT"/>
                <a:cs typeface="Arial MT"/>
              </a:rPr>
              <a:t>Parv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Gautam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2028462</a:t>
            </a:r>
            <a:endParaRPr sz="11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66700" algn="l"/>
              </a:tabLst>
            </a:pPr>
            <a:r>
              <a:rPr sz="1100" spc="-10" dirty="0">
                <a:latin typeface="Arial MT"/>
                <a:cs typeface="Arial MT"/>
              </a:rPr>
              <a:t>Kashish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Rajput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2028444</a:t>
            </a:r>
            <a:endParaRPr sz="11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66700" algn="l"/>
              </a:tabLst>
            </a:pPr>
            <a:r>
              <a:rPr sz="1100" dirty="0">
                <a:latin typeface="Arial MT"/>
                <a:cs typeface="Arial MT"/>
              </a:rPr>
              <a:t>Harsh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Raunchela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2028723</a:t>
            </a:r>
            <a:endParaRPr sz="11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spcBef>
                <a:spcPts val="35"/>
              </a:spcBef>
              <a:buAutoNum type="arabicPeriod"/>
              <a:tabLst>
                <a:tab pos="266700" algn="l"/>
              </a:tabLst>
            </a:pPr>
            <a:r>
              <a:rPr sz="1100" dirty="0">
                <a:latin typeface="Arial MT"/>
                <a:cs typeface="Arial MT"/>
              </a:rPr>
              <a:t>Piyush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Maurya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–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2028797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09193" y="2376715"/>
            <a:ext cx="5142230" cy="422909"/>
            <a:chOff x="309193" y="2376715"/>
            <a:chExt cx="5142230" cy="422909"/>
          </a:xfrm>
        </p:grpSpPr>
        <p:sp>
          <p:nvSpPr>
            <p:cNvPr id="22" name="object 22"/>
            <p:cNvSpPr/>
            <p:nvPr/>
          </p:nvSpPr>
          <p:spPr>
            <a:xfrm>
              <a:off x="309193" y="2376715"/>
              <a:ext cx="5142230" cy="191135"/>
            </a:xfrm>
            <a:custGeom>
              <a:avLst/>
              <a:gdLst/>
              <a:ahLst/>
              <a:cxnLst/>
              <a:rect l="l" t="t" r="r" b="b"/>
              <a:pathLst>
                <a:path w="5142230" h="191135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0564"/>
                  </a:lnTo>
                  <a:lnTo>
                    <a:pt x="5141666" y="190564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4630"/>
              <a:ext cx="5141666" cy="50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9193" y="2598908"/>
              <a:ext cx="5142230" cy="200660"/>
            </a:xfrm>
            <a:custGeom>
              <a:avLst/>
              <a:gdLst/>
              <a:ahLst/>
              <a:cxnLst/>
              <a:rect l="l" t="t" r="r" b="b"/>
              <a:pathLst>
                <a:path w="5142230" h="200660">
                  <a:moveTo>
                    <a:pt x="5141666" y="0"/>
                  </a:moveTo>
                  <a:lnTo>
                    <a:pt x="0" y="0"/>
                  </a:lnTo>
                  <a:lnTo>
                    <a:pt x="0" y="149511"/>
                  </a:lnTo>
                  <a:lnTo>
                    <a:pt x="4008" y="169236"/>
                  </a:lnTo>
                  <a:lnTo>
                    <a:pt x="14922" y="185388"/>
                  </a:lnTo>
                  <a:lnTo>
                    <a:pt x="31075" y="196303"/>
                  </a:lnTo>
                  <a:lnTo>
                    <a:pt x="50800" y="200311"/>
                  </a:lnTo>
                  <a:lnTo>
                    <a:pt x="5090865" y="200311"/>
                  </a:lnTo>
                  <a:lnTo>
                    <a:pt x="5110590" y="196303"/>
                  </a:lnTo>
                  <a:lnTo>
                    <a:pt x="5126743" y="185388"/>
                  </a:lnTo>
                  <a:lnTo>
                    <a:pt x="5137657" y="169236"/>
                  </a:lnTo>
                  <a:lnTo>
                    <a:pt x="5141666" y="149511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7294" y="2320970"/>
            <a:ext cx="1297940" cy="4457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Mentor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1100" dirty="0">
                <a:latin typeface="Arial MT"/>
                <a:cs typeface="Arial MT"/>
              </a:rPr>
              <a:t>Mr.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Ram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Ji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Chauhan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9819" y="2574872"/>
            <a:ext cx="1713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Interactions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completed: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spc="-50" dirty="0">
                <a:latin typeface="Arial MT"/>
                <a:cs typeface="Arial MT"/>
              </a:rPr>
              <a:t>3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2</a:t>
            </a:fld>
            <a:r>
              <a:rPr spc="-20" dirty="0"/>
              <a:t>/10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CB07104-37C1-31F9-D2CD-8434D4AB80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0" y="9695"/>
            <a:ext cx="508733" cy="43558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75" dirty="0"/>
              <a:t> </a:t>
            </a:r>
            <a:r>
              <a:rPr dirty="0"/>
              <a:t>Statement</a:t>
            </a:r>
            <a:r>
              <a:rPr spc="80" dirty="0"/>
              <a:t> </a:t>
            </a:r>
            <a:r>
              <a:rPr dirty="0"/>
              <a:t>&amp;</a:t>
            </a:r>
            <a:r>
              <a:rPr spc="80" dirty="0"/>
              <a:t> </a:t>
            </a:r>
            <a:r>
              <a:rPr spc="-10" dirty="0"/>
              <a:t>Motivation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09193" y="977683"/>
            <a:ext cx="5142230" cy="772795"/>
            <a:chOff x="309193" y="977683"/>
            <a:chExt cx="5142230" cy="772795"/>
          </a:xfrm>
        </p:grpSpPr>
        <p:sp>
          <p:nvSpPr>
            <p:cNvPr id="9" name="object 9"/>
            <p:cNvSpPr/>
            <p:nvPr/>
          </p:nvSpPr>
          <p:spPr>
            <a:xfrm>
              <a:off x="309193" y="977683"/>
              <a:ext cx="5142230" cy="194310"/>
            </a:xfrm>
            <a:custGeom>
              <a:avLst/>
              <a:gdLst/>
              <a:ahLst/>
              <a:cxnLst/>
              <a:rect l="l" t="t" r="r" b="b"/>
              <a:pathLst>
                <a:path w="5142230" h="19430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4057"/>
                  </a:lnTo>
                  <a:lnTo>
                    <a:pt x="5141666" y="19405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9090"/>
              <a:ext cx="5141666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203370"/>
              <a:ext cx="5142230" cy="546735"/>
            </a:xfrm>
            <a:custGeom>
              <a:avLst/>
              <a:gdLst/>
              <a:ahLst/>
              <a:cxnLst/>
              <a:rect l="l" t="t" r="r" b="b"/>
              <a:pathLst>
                <a:path w="5142230" h="546735">
                  <a:moveTo>
                    <a:pt x="5141666" y="0"/>
                  </a:moveTo>
                  <a:lnTo>
                    <a:pt x="0" y="0"/>
                  </a:lnTo>
                  <a:lnTo>
                    <a:pt x="0" y="495813"/>
                  </a:lnTo>
                  <a:lnTo>
                    <a:pt x="4008" y="515537"/>
                  </a:lnTo>
                  <a:lnTo>
                    <a:pt x="14922" y="531690"/>
                  </a:lnTo>
                  <a:lnTo>
                    <a:pt x="31075" y="542604"/>
                  </a:lnTo>
                  <a:lnTo>
                    <a:pt x="50800" y="546613"/>
                  </a:lnTo>
                  <a:lnTo>
                    <a:pt x="5090865" y="546613"/>
                  </a:lnTo>
                  <a:lnTo>
                    <a:pt x="5110590" y="542604"/>
                  </a:lnTo>
                  <a:lnTo>
                    <a:pt x="5126743" y="531690"/>
                  </a:lnTo>
                  <a:lnTo>
                    <a:pt x="5137657" y="515537"/>
                  </a:lnTo>
                  <a:lnTo>
                    <a:pt x="5141666" y="49581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7294" y="925431"/>
            <a:ext cx="4909185" cy="7899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200" dirty="0">
                <a:solidFill>
                  <a:srgbClr val="133768"/>
                </a:solidFill>
                <a:latin typeface="Arial MT"/>
                <a:cs typeface="Arial MT"/>
              </a:rPr>
              <a:t>Problem</a:t>
            </a: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Statement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02600"/>
              </a:lnSpc>
              <a:spcBef>
                <a:spcPts val="225"/>
              </a:spcBef>
            </a:pPr>
            <a:r>
              <a:rPr sz="1100" dirty="0">
                <a:latin typeface="Arial MT"/>
                <a:cs typeface="Arial MT"/>
              </a:rPr>
              <a:t>Disasters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rapidly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change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road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conditions,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making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fixed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unsafe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or </a:t>
            </a:r>
            <a:r>
              <a:rPr sz="1100" spc="-10" dirty="0">
                <a:latin typeface="Arial MT"/>
                <a:cs typeface="Arial MT"/>
              </a:rPr>
              <a:t>unavailable.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Existing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approaches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consider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risk,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priority,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availability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together.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894" y="1761420"/>
            <a:ext cx="2495550" cy="13417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Motivation</a:t>
            </a:r>
            <a:endParaRPr sz="1000">
              <a:latin typeface="Arial"/>
              <a:cs typeface="Arial"/>
            </a:endParaRPr>
          </a:p>
          <a:p>
            <a:pPr marL="313055" indent="-165735">
              <a:lnSpc>
                <a:spcPts val="12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Arial MT"/>
                <a:cs typeface="Arial MT"/>
              </a:rPr>
              <a:t>Changing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road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conditions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require</a:t>
            </a:r>
            <a:endParaRPr sz="1000">
              <a:latin typeface="Arial MT"/>
              <a:cs typeface="Arial MT"/>
            </a:endParaRPr>
          </a:p>
          <a:p>
            <a:pPr marL="314960">
              <a:lnSpc>
                <a:spcPts val="1200"/>
              </a:lnSpc>
            </a:pPr>
            <a:r>
              <a:rPr sz="1000" b="1" dirty="0">
                <a:latin typeface="Arial"/>
                <a:cs typeface="Arial"/>
              </a:rPr>
              <a:t>dynamic</a:t>
            </a:r>
            <a:r>
              <a:rPr sz="1000" b="1" spc="-10" dirty="0">
                <a:latin typeface="Arial"/>
                <a:cs typeface="Arial"/>
              </a:rPr>
              <a:t> re-routing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312420" marR="164465" indent="-165735">
              <a:lnSpc>
                <a:spcPct val="100000"/>
              </a:lnSpc>
              <a:spcBef>
                <a:spcPts val="3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dirty="0">
                <a:latin typeface="Arial MT"/>
                <a:cs typeface="Arial MT"/>
              </a:rPr>
              <a:t>Manual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response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cause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b="1" spc="-10" dirty="0">
                <a:latin typeface="Arial"/>
                <a:cs typeface="Arial"/>
              </a:rPr>
              <a:t>delays 	</a:t>
            </a:r>
            <a:r>
              <a:rPr sz="1000" b="1" dirty="0">
                <a:latin typeface="Arial"/>
                <a:cs typeface="Arial"/>
              </a:rPr>
              <a:t>in</a:t>
            </a:r>
            <a:r>
              <a:rPr sz="1000" b="1" spc="-1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rescue</a:t>
            </a:r>
            <a:r>
              <a:rPr sz="1000" b="1" spc="-10" dirty="0">
                <a:latin typeface="Arial"/>
                <a:cs typeface="Arial"/>
              </a:rPr>
              <a:t> operations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  <a:p>
            <a:pPr marL="313055" indent="-165735">
              <a:lnSpc>
                <a:spcPts val="12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Arial MT"/>
                <a:cs typeface="Arial MT"/>
              </a:rPr>
              <a:t>Shortest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routes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may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not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always </a:t>
            </a:r>
            <a:r>
              <a:rPr sz="1000" dirty="0">
                <a:latin typeface="Arial MT"/>
                <a:cs typeface="Arial MT"/>
              </a:rPr>
              <a:t>be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</a:t>
            </a:r>
            <a:endParaRPr sz="1000">
              <a:latin typeface="Arial MT"/>
              <a:cs typeface="Arial MT"/>
            </a:endParaRPr>
          </a:p>
          <a:p>
            <a:pPr marL="314960">
              <a:lnSpc>
                <a:spcPts val="1200"/>
              </a:lnSpc>
            </a:pPr>
            <a:r>
              <a:rPr sz="1000" b="1" dirty="0">
                <a:latin typeface="Arial"/>
                <a:cs typeface="Arial"/>
              </a:rPr>
              <a:t>safest</a:t>
            </a:r>
            <a:r>
              <a:rPr sz="1000" b="1" spc="-2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routes</a:t>
            </a:r>
            <a:r>
              <a:rPr sz="1000" spc="-1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2717" y="1761420"/>
            <a:ext cx="2239010" cy="13417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Target</a:t>
            </a:r>
            <a:r>
              <a:rPr sz="1000" b="1" spc="-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33768"/>
                </a:solidFill>
                <a:latin typeface="Arial"/>
                <a:cs typeface="Arial"/>
              </a:rPr>
              <a:t>Users</a:t>
            </a:r>
            <a:r>
              <a:rPr sz="1000" b="1" spc="-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33768"/>
                </a:solidFill>
                <a:latin typeface="Arial"/>
                <a:cs typeface="Arial"/>
              </a:rPr>
              <a:t>/</a:t>
            </a:r>
            <a:r>
              <a:rPr sz="1000" b="1" spc="-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Stakeholders</a:t>
            </a:r>
            <a:endParaRPr sz="1000">
              <a:latin typeface="Arial"/>
              <a:cs typeface="Arial"/>
            </a:endParaRPr>
          </a:p>
          <a:p>
            <a:pPr marL="312420" marR="530225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b="1" dirty="0">
                <a:latin typeface="Arial"/>
                <a:cs typeface="Arial"/>
              </a:rPr>
              <a:t>Primary: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Rescue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&amp; 	</a:t>
            </a:r>
            <a:r>
              <a:rPr sz="1000" dirty="0">
                <a:latin typeface="Arial MT"/>
                <a:cs typeface="Arial MT"/>
              </a:rPr>
              <a:t>disaster-response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teams</a:t>
            </a:r>
            <a:endParaRPr sz="1000">
              <a:latin typeface="Arial MT"/>
              <a:cs typeface="Arial MT"/>
            </a:endParaRPr>
          </a:p>
          <a:p>
            <a:pPr marL="312420" marR="30480" indent="-165735">
              <a:lnSpc>
                <a:spcPct val="1000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b="1" dirty="0">
                <a:latin typeface="Arial"/>
                <a:cs typeface="Arial"/>
              </a:rPr>
              <a:t>Secondary: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Hospitals,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shelters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&amp; 	</a:t>
            </a:r>
            <a:r>
              <a:rPr sz="1000" spc="-10" dirty="0">
                <a:latin typeface="Arial MT"/>
                <a:cs typeface="Arial MT"/>
              </a:rPr>
              <a:t>authorities</a:t>
            </a:r>
            <a:endParaRPr sz="1000">
              <a:latin typeface="Arial MT"/>
              <a:cs typeface="Arial MT"/>
            </a:endParaRPr>
          </a:p>
          <a:p>
            <a:pPr marL="312420" marR="89535" indent="-165735">
              <a:lnSpc>
                <a:spcPct val="100000"/>
              </a:lnSpc>
              <a:spcBef>
                <a:spcPts val="3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b="1" dirty="0">
                <a:latin typeface="Arial"/>
                <a:cs typeface="Arial"/>
              </a:rPr>
              <a:t>Benefit:</a:t>
            </a:r>
            <a:r>
              <a:rPr sz="1000" b="1" spc="3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Safer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routes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b="1" spc="-10" dirty="0">
                <a:latin typeface="Arial"/>
                <a:cs typeface="Arial"/>
              </a:rPr>
              <a:t>faster 	</a:t>
            </a:r>
            <a:r>
              <a:rPr sz="1000" b="1" dirty="0">
                <a:latin typeface="Arial"/>
                <a:cs typeface="Arial"/>
              </a:rPr>
              <a:t>resource</a:t>
            </a:r>
            <a:r>
              <a:rPr sz="1000" b="1" spc="-3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allocation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3</a:t>
            </a:fld>
            <a:r>
              <a:rPr spc="-20" dirty="0"/>
              <a:t>/10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B048538-2CA3-171C-415F-CE26DC2FF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479" y="-2755"/>
            <a:ext cx="481562" cy="43437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Objectives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826653"/>
            <a:ext cx="5017135" cy="166370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1100" b="1" dirty="0">
                <a:solidFill>
                  <a:srgbClr val="133768"/>
                </a:solidFill>
                <a:latin typeface="Arial"/>
                <a:cs typeface="Arial"/>
              </a:rPr>
              <a:t>Project</a:t>
            </a:r>
            <a:r>
              <a:rPr sz="1100" b="1" spc="-7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Objectives</a:t>
            </a:r>
            <a:endParaRPr sz="1100">
              <a:latin typeface="Arial"/>
              <a:cs typeface="Arial"/>
            </a:endParaRPr>
          </a:p>
          <a:p>
            <a:pPr marL="287020" indent="-182245">
              <a:lnSpc>
                <a:spcPct val="100000"/>
              </a:lnSpc>
              <a:spcBef>
                <a:spcPts val="745"/>
              </a:spcBef>
              <a:buClr>
                <a:srgbClr val="133768"/>
              </a:buClr>
              <a:buFont typeface="Arial MT"/>
              <a:buAutoNum type="arabicPeriod"/>
              <a:tabLst>
                <a:tab pos="287020" algn="l"/>
              </a:tabLst>
            </a:pPr>
            <a:r>
              <a:rPr sz="1100" b="1" spc="-10" dirty="0">
                <a:latin typeface="Arial"/>
                <a:cs typeface="Arial"/>
              </a:rPr>
              <a:t>Develop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dynamic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disaster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evacuation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rescue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management.</a:t>
            </a:r>
            <a:endParaRPr sz="1100">
              <a:latin typeface="Arial MT"/>
              <a:cs typeface="Arial MT"/>
            </a:endParaRPr>
          </a:p>
          <a:p>
            <a:pPr marL="287020" indent="-182245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Arial MT"/>
              <a:buAutoNum type="arabicPeriod"/>
              <a:tabLst>
                <a:tab pos="287020" algn="l"/>
              </a:tabLst>
            </a:pPr>
            <a:r>
              <a:rPr sz="1100" b="1" dirty="0">
                <a:latin typeface="Arial"/>
                <a:cs typeface="Arial"/>
              </a:rPr>
              <a:t>Implement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risk-aware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optimization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graph-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algorithms.</a:t>
            </a:r>
            <a:endParaRPr sz="1100">
              <a:latin typeface="Arial MT"/>
              <a:cs typeface="Arial MT"/>
            </a:endParaRPr>
          </a:p>
          <a:p>
            <a:pPr marL="286385" marR="106680" indent="-182245">
              <a:lnSpc>
                <a:spcPct val="102600"/>
              </a:lnSpc>
              <a:spcBef>
                <a:spcPts val="500"/>
              </a:spcBef>
              <a:buClr>
                <a:srgbClr val="133768"/>
              </a:buClr>
              <a:buFont typeface="Arial MT"/>
              <a:buAutoNum type="arabicPeriod"/>
              <a:tabLst>
                <a:tab pos="289560" algn="l"/>
              </a:tabLst>
            </a:pPr>
            <a:r>
              <a:rPr sz="1100" b="1" dirty="0">
                <a:latin typeface="Arial"/>
                <a:cs typeface="Arial"/>
              </a:rPr>
              <a:t>Integrate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appropriate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Structures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efficient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emergency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resource 	management.</a:t>
            </a:r>
            <a:endParaRPr sz="1100">
              <a:latin typeface="Arial MT"/>
              <a:cs typeface="Arial MT"/>
            </a:endParaRPr>
          </a:p>
          <a:p>
            <a:pPr marL="287020" indent="-182245">
              <a:lnSpc>
                <a:spcPct val="100000"/>
              </a:lnSpc>
              <a:spcBef>
                <a:spcPts val="535"/>
              </a:spcBef>
              <a:buClr>
                <a:srgbClr val="133768"/>
              </a:buClr>
              <a:buFont typeface="Arial MT"/>
              <a:buAutoNum type="arabicPeriod"/>
              <a:tabLst>
                <a:tab pos="287020" algn="l"/>
              </a:tabLst>
            </a:pPr>
            <a:r>
              <a:rPr sz="1100" b="1" dirty="0">
                <a:latin typeface="Arial"/>
                <a:cs typeface="Arial"/>
              </a:rPr>
              <a:t>Prioritize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emergencies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allocate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suitable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rescue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resources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effectively.</a:t>
            </a:r>
            <a:endParaRPr sz="1100">
              <a:latin typeface="Arial MT"/>
              <a:cs typeface="Arial MT"/>
            </a:endParaRPr>
          </a:p>
          <a:p>
            <a:pPr marL="287020" indent="-182245">
              <a:lnSpc>
                <a:spcPct val="100000"/>
              </a:lnSpc>
              <a:spcBef>
                <a:spcPts val="530"/>
              </a:spcBef>
              <a:buClr>
                <a:srgbClr val="133768"/>
              </a:buClr>
              <a:buFont typeface="Arial MT"/>
              <a:buAutoNum type="arabicPeriod"/>
              <a:tabLst>
                <a:tab pos="287020" algn="l"/>
              </a:tabLst>
            </a:pPr>
            <a:r>
              <a:rPr sz="1100" b="1" spc="-10" dirty="0">
                <a:latin typeface="Arial"/>
                <a:cs typeface="Arial"/>
              </a:rPr>
              <a:t>Evaluate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system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performance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under</a:t>
            </a:r>
            <a:r>
              <a:rPr sz="1100" spc="-10" dirty="0">
                <a:latin typeface="Arial MT"/>
                <a:cs typeface="Arial MT"/>
              </a:rPr>
              <a:t> different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disaster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scenarios.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6033" y="2583357"/>
            <a:ext cx="4108450" cy="381000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2540" rIns="0" bIns="0" rtlCol="0">
            <a:spAutoFit/>
          </a:bodyPr>
          <a:lstStyle/>
          <a:p>
            <a:pPr marL="347980" marR="245745" indent="-95250">
              <a:lnSpc>
                <a:spcPts val="1350"/>
              </a:lnSpc>
              <a:spcBef>
                <a:spcPts val="20"/>
              </a:spcBef>
            </a:pPr>
            <a:r>
              <a:rPr sz="1100" b="1" dirty="0">
                <a:latin typeface="Arial"/>
                <a:cs typeface="Arial"/>
              </a:rPr>
              <a:t>Key</a:t>
            </a:r>
            <a:r>
              <a:rPr sz="1100" b="1" spc="-7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Objective:</a:t>
            </a:r>
            <a:r>
              <a:rPr sz="1100" b="1" spc="20" dirty="0">
                <a:latin typeface="Arial"/>
                <a:cs typeface="Arial"/>
              </a:rPr>
              <a:t> </a:t>
            </a:r>
            <a:r>
              <a:rPr sz="1100" spc="-80" dirty="0">
                <a:latin typeface="Arial MT"/>
                <a:cs typeface="Arial MT"/>
              </a:rPr>
              <a:t>To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enable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safe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planning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efficient </a:t>
            </a:r>
            <a:r>
              <a:rPr sz="1100" dirty="0">
                <a:latin typeface="Arial MT"/>
                <a:cs typeface="Arial MT"/>
              </a:rPr>
              <a:t>resource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allocation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during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changing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disaster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conditions.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20" dirty="0"/>
              <a:t>4</a:t>
            </a:fld>
            <a:r>
              <a:rPr spc="-20" dirty="0"/>
              <a:t>/10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0C43D77-C5FF-4D56-3973-5163E0CED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0" y="32549"/>
            <a:ext cx="512267" cy="44687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Proposed</a:t>
            </a:r>
            <a:r>
              <a:rPr spc="13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9038" y="665399"/>
            <a:ext cx="2444750" cy="20624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Proposed</a:t>
            </a:r>
            <a:r>
              <a:rPr sz="900" b="1" spc="1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Approach</a:t>
            </a:r>
            <a:endParaRPr sz="900" dirty="0">
              <a:latin typeface="Arial"/>
              <a:cs typeface="Arial"/>
            </a:endParaRPr>
          </a:p>
          <a:p>
            <a:pPr marL="289560" marR="313055" indent="-16446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Font typeface="Arial MT"/>
              <a:buAutoNum type="arabicPeriod"/>
              <a:tabLst>
                <a:tab pos="289560" algn="l"/>
              </a:tabLst>
            </a:pPr>
            <a:r>
              <a:rPr sz="900" b="1" dirty="0">
                <a:latin typeface="Arial"/>
                <a:cs typeface="Arial"/>
              </a:rPr>
              <a:t>Input/Data: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Disaster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road </a:t>
            </a:r>
            <a:r>
              <a:rPr sz="900" spc="-10" dirty="0">
                <a:latin typeface="Arial MT"/>
                <a:cs typeface="Arial MT"/>
              </a:rPr>
              <a:t>conditions, </a:t>
            </a:r>
            <a:r>
              <a:rPr sz="900" dirty="0">
                <a:latin typeface="Arial MT"/>
                <a:cs typeface="Arial MT"/>
              </a:rPr>
              <a:t>emergency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0" dirty="0">
                <a:latin typeface="Arial MT"/>
                <a:cs typeface="Arial MT"/>
              </a:rPr>
              <a:t> resource details.</a:t>
            </a:r>
            <a:endParaRPr sz="900" dirty="0">
              <a:latin typeface="Arial MT"/>
              <a:cs typeface="Arial MT"/>
            </a:endParaRPr>
          </a:p>
          <a:p>
            <a:pPr marL="289560" marR="266700" indent="-16446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Arial MT"/>
              <a:buAutoNum type="arabicPeriod"/>
              <a:tabLst>
                <a:tab pos="289560" algn="l"/>
              </a:tabLst>
            </a:pPr>
            <a:r>
              <a:rPr sz="900" b="1" dirty="0">
                <a:latin typeface="Arial"/>
                <a:cs typeface="Arial"/>
              </a:rPr>
              <a:t>Processing:</a:t>
            </a:r>
            <a:r>
              <a:rPr sz="900" b="1" spc="1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Dynamic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Graph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→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 MT"/>
                <a:cs typeface="Arial MT"/>
              </a:rPr>
              <a:t>Risk </a:t>
            </a:r>
            <a:r>
              <a:rPr sz="900" dirty="0">
                <a:latin typeface="Arial MT"/>
                <a:cs typeface="Arial MT"/>
              </a:rPr>
              <a:t>Scoring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→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Dijkstra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/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A*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routing.</a:t>
            </a:r>
            <a:endParaRPr sz="900" dirty="0">
              <a:latin typeface="Arial MT"/>
              <a:cs typeface="Arial MT"/>
            </a:endParaRPr>
          </a:p>
          <a:p>
            <a:pPr marL="289560" marR="58419" indent="-16446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Arial MT"/>
              <a:buAutoNum type="arabicPeriod"/>
              <a:tabLst>
                <a:tab pos="289560" algn="l"/>
              </a:tabLst>
            </a:pPr>
            <a:r>
              <a:rPr sz="900" b="1" dirty="0">
                <a:latin typeface="Arial"/>
                <a:cs typeface="Arial"/>
              </a:rPr>
              <a:t>System</a:t>
            </a:r>
            <a:r>
              <a:rPr sz="900" b="1" spc="-3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Logic:</a:t>
            </a:r>
            <a:r>
              <a:rPr sz="900" b="1" spc="2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C++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engine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using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Graph, </a:t>
            </a:r>
            <a:r>
              <a:rPr sz="900" dirty="0">
                <a:latin typeface="Arial MT"/>
                <a:cs typeface="Arial MT"/>
              </a:rPr>
              <a:t>Priority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Queue,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Min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Heap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Hash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Map.</a:t>
            </a:r>
            <a:endParaRPr sz="900" dirty="0">
              <a:latin typeface="Arial MT"/>
              <a:cs typeface="Arial MT"/>
            </a:endParaRPr>
          </a:p>
          <a:p>
            <a:pPr marL="289560" marR="150495" indent="-16446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Arial MT"/>
              <a:buAutoNum type="arabicPeriod"/>
              <a:tabLst>
                <a:tab pos="289560" algn="l"/>
              </a:tabLst>
            </a:pPr>
            <a:r>
              <a:rPr sz="900" b="1" dirty="0">
                <a:latin typeface="Arial"/>
                <a:cs typeface="Arial"/>
              </a:rPr>
              <a:t>Storage:</a:t>
            </a:r>
            <a:r>
              <a:rPr sz="900" b="1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In-</a:t>
            </a:r>
            <a:r>
              <a:rPr sz="900" dirty="0">
                <a:latin typeface="Arial MT"/>
                <a:cs typeface="Arial MT"/>
              </a:rPr>
              <a:t>memory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structures</a:t>
            </a:r>
            <a:r>
              <a:rPr sz="900" spc="-25" dirty="0">
                <a:latin typeface="Arial MT"/>
                <a:cs typeface="Arial MT"/>
              </a:rPr>
              <a:t> for </a:t>
            </a:r>
            <a:r>
              <a:rPr sz="900" dirty="0">
                <a:latin typeface="Arial MT"/>
                <a:cs typeface="Arial MT"/>
              </a:rPr>
              <a:t>locations,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roads,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emergencies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 </a:t>
            </a:r>
            <a:r>
              <a:rPr sz="900" spc="-10" dirty="0">
                <a:latin typeface="Arial MT"/>
                <a:cs typeface="Arial MT"/>
              </a:rPr>
              <a:t>resources.</a:t>
            </a:r>
            <a:endParaRPr sz="900" dirty="0">
              <a:latin typeface="Arial MT"/>
              <a:cs typeface="Arial MT"/>
            </a:endParaRPr>
          </a:p>
          <a:p>
            <a:pPr marL="289560" marR="5080" indent="-164465">
              <a:lnSpc>
                <a:spcPct val="101499"/>
              </a:lnSpc>
              <a:spcBef>
                <a:spcPts val="245"/>
              </a:spcBef>
              <a:buClr>
                <a:srgbClr val="133768"/>
              </a:buClr>
              <a:buFont typeface="Arial MT"/>
              <a:buAutoNum type="arabicPeriod"/>
              <a:tabLst>
                <a:tab pos="289560" algn="l"/>
              </a:tabLst>
            </a:pPr>
            <a:r>
              <a:rPr sz="900" b="1" dirty="0">
                <a:latin typeface="Arial"/>
                <a:cs typeface="Arial"/>
              </a:rPr>
              <a:t>Output: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Optimized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evacuation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routes, </a:t>
            </a:r>
            <a:r>
              <a:rPr sz="900" dirty="0">
                <a:latin typeface="Arial MT"/>
                <a:cs typeface="Arial MT"/>
              </a:rPr>
              <a:t>rescue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assignments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safe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destinations.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6123" y="665399"/>
            <a:ext cx="2449830" cy="178435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Key</a:t>
            </a:r>
            <a:r>
              <a:rPr sz="900" b="1" spc="-5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Features</a:t>
            </a:r>
            <a:endParaRPr sz="900" dirty="0">
              <a:latin typeface="Arial"/>
              <a:cs typeface="Arial"/>
            </a:endParaRPr>
          </a:p>
          <a:p>
            <a:pPr marL="314960" marR="30480" indent="-15811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Risk-</a:t>
            </a:r>
            <a:r>
              <a:rPr sz="900" b="1" dirty="0">
                <a:latin typeface="Arial"/>
                <a:cs typeface="Arial"/>
              </a:rPr>
              <a:t>aware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routing:</a:t>
            </a:r>
            <a:r>
              <a:rPr sz="900" b="1" spc="1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Considers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distance, </a:t>
            </a:r>
            <a:r>
              <a:rPr sz="900" dirty="0">
                <a:latin typeface="Arial MT"/>
                <a:cs typeface="Arial MT"/>
              </a:rPr>
              <a:t>risk,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traffic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road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damage</a:t>
            </a:r>
            <a:endParaRPr sz="900" dirty="0">
              <a:latin typeface="Arial MT"/>
              <a:cs typeface="Arial MT"/>
            </a:endParaRPr>
          </a:p>
          <a:p>
            <a:pPr marL="314960" marR="55880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Dynamic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graph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updates: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Adapts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routes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changing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disaster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conditions</a:t>
            </a:r>
            <a:endParaRPr sz="900" dirty="0">
              <a:latin typeface="Arial MT"/>
              <a:cs typeface="Arial MT"/>
            </a:endParaRPr>
          </a:p>
          <a:p>
            <a:pPr marL="314960" marR="247650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Emergency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prioritization:</a:t>
            </a:r>
            <a:r>
              <a:rPr sz="900" b="1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Ranks </a:t>
            </a:r>
            <a:r>
              <a:rPr sz="900" dirty="0">
                <a:latin typeface="Arial MT"/>
                <a:cs typeface="Arial MT"/>
              </a:rPr>
              <a:t>emergencies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severity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urgency</a:t>
            </a:r>
            <a:endParaRPr sz="900" dirty="0">
              <a:latin typeface="Arial MT"/>
              <a:cs typeface="Arial MT"/>
            </a:endParaRPr>
          </a:p>
          <a:p>
            <a:pPr marL="314960" marR="229235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Resource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allocation:</a:t>
            </a:r>
            <a:r>
              <a:rPr sz="900" b="1" spc="3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Assigns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teams </a:t>
            </a:r>
            <a:r>
              <a:rPr sz="900" dirty="0">
                <a:latin typeface="Arial MT"/>
                <a:cs typeface="Arial MT"/>
              </a:rPr>
              <a:t>based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</a:t>
            </a:r>
            <a:r>
              <a:rPr sz="900" spc="-10" dirty="0">
                <a:latin typeface="Arial MT"/>
                <a:cs typeface="Arial MT"/>
              </a:rPr>
              <a:t> availability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0" dirty="0">
                <a:latin typeface="Arial MT"/>
                <a:cs typeface="Arial MT"/>
              </a:rPr>
              <a:t> capability</a:t>
            </a:r>
            <a:endParaRPr sz="900" dirty="0">
              <a:latin typeface="Arial MT"/>
              <a:cs typeface="Arial MT"/>
            </a:endParaRPr>
          </a:p>
          <a:p>
            <a:pPr marL="314960" marR="243204" indent="-158115">
              <a:lnSpc>
                <a:spcPct val="101499"/>
              </a:lnSpc>
              <a:spcBef>
                <a:spcPts val="24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Critical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road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detection:</a:t>
            </a:r>
            <a:r>
              <a:rPr sz="900" b="1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Identifies </a:t>
            </a:r>
            <a:r>
              <a:rPr sz="900" dirty="0">
                <a:latin typeface="Arial MT"/>
                <a:cs typeface="Arial MT"/>
              </a:rPr>
              <a:t>infrastructure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essential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evacuation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9617" y="2782351"/>
            <a:ext cx="4813935" cy="206375"/>
          </a:xfrm>
          <a:custGeom>
            <a:avLst/>
            <a:gdLst/>
            <a:ahLst/>
            <a:cxnLst/>
            <a:rect l="l" t="t" r="r" b="b"/>
            <a:pathLst>
              <a:path w="4813935" h="206375">
                <a:moveTo>
                  <a:pt x="4813528" y="0"/>
                </a:moveTo>
                <a:lnTo>
                  <a:pt x="0" y="0"/>
                </a:lnTo>
                <a:lnTo>
                  <a:pt x="0" y="206159"/>
                </a:lnTo>
                <a:lnTo>
                  <a:pt x="4813528" y="206159"/>
                </a:lnTo>
                <a:lnTo>
                  <a:pt x="4813528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5018" y="2755709"/>
            <a:ext cx="4763135" cy="2712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800" b="1" dirty="0">
                <a:latin typeface="Arial"/>
                <a:cs typeface="Arial"/>
              </a:rPr>
              <a:t>The</a:t>
            </a:r>
            <a:r>
              <a:rPr lang="en-IN" sz="800" b="1" spc="-20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system</a:t>
            </a:r>
            <a:r>
              <a:rPr lang="en-IN" sz="800" b="1" spc="-15" dirty="0">
                <a:latin typeface="Arial"/>
                <a:cs typeface="Arial"/>
              </a:rPr>
              <a:t> </a:t>
            </a:r>
            <a:r>
              <a:rPr lang="en-IN" sz="800" b="1" spc="-10" dirty="0">
                <a:latin typeface="Arial"/>
                <a:cs typeface="Arial"/>
              </a:rPr>
              <a:t>dynamically</a:t>
            </a:r>
            <a:r>
              <a:rPr lang="en-IN" sz="800" b="1" spc="-15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updates</a:t>
            </a:r>
            <a:r>
              <a:rPr lang="en-IN" sz="800" b="1" spc="-20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road</a:t>
            </a:r>
            <a:r>
              <a:rPr lang="en-IN" sz="800" b="1" spc="-15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conditions</a:t>
            </a:r>
            <a:r>
              <a:rPr lang="en-IN" sz="800" b="1" spc="-15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and</a:t>
            </a:r>
            <a:r>
              <a:rPr lang="en-IN" sz="800" b="1" spc="-20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generates</a:t>
            </a:r>
            <a:r>
              <a:rPr lang="en-IN" sz="800" b="1" spc="-15" dirty="0">
                <a:latin typeface="Arial"/>
                <a:cs typeface="Arial"/>
              </a:rPr>
              <a:t> </a:t>
            </a:r>
            <a:r>
              <a:rPr lang="en-IN" sz="800" b="1" spc="-10" dirty="0">
                <a:latin typeface="Arial"/>
                <a:cs typeface="Arial"/>
              </a:rPr>
              <a:t>risk-</a:t>
            </a:r>
            <a:r>
              <a:rPr lang="en-IN" sz="800" b="1" dirty="0">
                <a:latin typeface="Arial"/>
                <a:cs typeface="Arial"/>
              </a:rPr>
              <a:t>aware</a:t>
            </a:r>
            <a:r>
              <a:rPr lang="en-IN" sz="800" b="1" spc="-15" dirty="0">
                <a:latin typeface="Arial"/>
                <a:cs typeface="Arial"/>
              </a:rPr>
              <a:t> </a:t>
            </a:r>
            <a:r>
              <a:rPr lang="en-IN" sz="800" b="1" spc="-10" dirty="0">
                <a:latin typeface="Arial"/>
                <a:cs typeface="Arial"/>
              </a:rPr>
              <a:t>evacuation</a:t>
            </a:r>
            <a:r>
              <a:rPr lang="en-IN" sz="800" b="1" spc="-20" dirty="0">
                <a:latin typeface="Arial"/>
                <a:cs typeface="Arial"/>
              </a:rPr>
              <a:t> </a:t>
            </a:r>
            <a:r>
              <a:rPr lang="en-IN" sz="800" b="1" dirty="0">
                <a:latin typeface="Arial"/>
                <a:cs typeface="Arial"/>
              </a:rPr>
              <a:t>routes</a:t>
            </a:r>
            <a:r>
              <a:rPr sz="800" b="1" dirty="0">
                <a:latin typeface="Arial"/>
                <a:cs typeface="Arial"/>
              </a:rPr>
              <a:t>,</a:t>
            </a:r>
            <a:r>
              <a:rPr sz="800" b="1" spc="-10" dirty="0">
                <a:latin typeface="Arial"/>
                <a:cs typeface="Arial"/>
              </a:rPr>
              <a:t> </a:t>
            </a:r>
            <a:endParaRPr lang="en-US" sz="800" b="1" spc="-2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800" b="1" spc="-20" dirty="0">
                <a:latin typeface="Arial"/>
                <a:cs typeface="Arial"/>
              </a:rPr>
              <a:t>prioritises emergencies, and locates suitable rescue resources for a faster response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368" y="3079818"/>
            <a:ext cx="451104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endParaRPr sz="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1603" y="3115378"/>
            <a:ext cx="1733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5/10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DE60C9F-ED54-B250-44A8-2D71E82C1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153" y="1"/>
            <a:ext cx="539214" cy="47942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Integration</a:t>
            </a:r>
            <a:r>
              <a:rPr spc="80" dirty="0"/>
              <a:t> </a:t>
            </a:r>
            <a:r>
              <a:rPr dirty="0"/>
              <a:t>of</a:t>
            </a:r>
            <a:r>
              <a:rPr spc="85" dirty="0"/>
              <a:t> </a:t>
            </a:r>
            <a:r>
              <a:rPr dirty="0"/>
              <a:t>PBL</a:t>
            </a:r>
            <a:r>
              <a:rPr spc="80" dirty="0"/>
              <a:t> </a:t>
            </a:r>
            <a:r>
              <a:rPr dirty="0"/>
              <a:t>Course</a:t>
            </a:r>
            <a:r>
              <a:rPr spc="85" dirty="0"/>
              <a:t> </a:t>
            </a:r>
            <a:r>
              <a:rPr spc="-10" dirty="0"/>
              <a:t>Concepts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0413" y="970495"/>
            <a:ext cx="4939665" cy="0"/>
          </a:xfrm>
          <a:custGeom>
            <a:avLst/>
            <a:gdLst/>
            <a:ahLst/>
            <a:cxnLst/>
            <a:rect l="l" t="t" r="r" b="b"/>
            <a:pathLst>
              <a:path w="4939665">
                <a:moveTo>
                  <a:pt x="0" y="0"/>
                </a:moveTo>
                <a:lnTo>
                  <a:pt x="4939182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7713" y="1045462"/>
            <a:ext cx="501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Arial"/>
                <a:cs typeface="Arial"/>
              </a:rPr>
              <a:t>Course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9521" y="1045462"/>
            <a:ext cx="1111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Concepts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Applied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56900" y="1045462"/>
            <a:ext cx="9499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Project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Module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10413" y="1302207"/>
            <a:ext cx="4939665" cy="0"/>
          </a:xfrm>
          <a:custGeom>
            <a:avLst/>
            <a:gdLst/>
            <a:ahLst/>
            <a:cxnLst/>
            <a:rect l="l" t="t" r="r" b="b"/>
            <a:pathLst>
              <a:path w="4939665">
                <a:moveTo>
                  <a:pt x="0" y="0"/>
                </a:moveTo>
                <a:lnTo>
                  <a:pt x="4939182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97713" y="1375103"/>
            <a:ext cx="11055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b="1" dirty="0">
                <a:latin typeface="Arial"/>
                <a:cs typeface="Arial"/>
              </a:rPr>
              <a:t>Data</a:t>
            </a:r>
            <a:r>
              <a:rPr sz="1100" b="1" spc="3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Structures </a:t>
            </a:r>
            <a:r>
              <a:rPr sz="1100" b="1" dirty="0">
                <a:latin typeface="Arial"/>
                <a:cs typeface="Arial"/>
              </a:rPr>
              <a:t>in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C++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29536" y="1375103"/>
            <a:ext cx="250126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 MT"/>
                <a:cs typeface="Arial MT"/>
              </a:rPr>
              <a:t>Graphs,</a:t>
            </a:r>
            <a:r>
              <a:rPr sz="1100" spc="4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Hash</a:t>
            </a:r>
            <a:r>
              <a:rPr sz="1100" spc="3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Maps,</a:t>
            </a:r>
            <a:r>
              <a:rPr sz="1100" spc="4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Priority</a:t>
            </a:r>
            <a:r>
              <a:rPr sz="1100" spc="38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Queue, Min-</a:t>
            </a:r>
            <a:r>
              <a:rPr sz="1100" dirty="0">
                <a:latin typeface="Arial MT"/>
                <a:cs typeface="Arial MT"/>
              </a:rPr>
              <a:t>Heap,</a:t>
            </a:r>
            <a:r>
              <a:rPr sz="1100" spc="29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Arrays,</a:t>
            </a:r>
            <a:r>
              <a:rPr sz="1100" spc="290" dirty="0">
                <a:latin typeface="Arial MT"/>
                <a:cs typeface="Arial MT"/>
              </a:rPr>
              <a:t>  </a:t>
            </a:r>
            <a:r>
              <a:rPr sz="1100" dirty="0">
                <a:latin typeface="Arial MT"/>
                <a:cs typeface="Arial MT"/>
              </a:rPr>
              <a:t>Sorting,</a:t>
            </a:r>
            <a:r>
              <a:rPr sz="1100" spc="290" dirty="0">
                <a:latin typeface="Arial MT"/>
                <a:cs typeface="Arial MT"/>
              </a:rPr>
              <a:t>  </a:t>
            </a:r>
            <a:r>
              <a:rPr sz="1100" spc="-10" dirty="0">
                <a:latin typeface="Arial MT"/>
                <a:cs typeface="Arial MT"/>
              </a:rPr>
              <a:t>Stacks, Queues</a:t>
            </a:r>
            <a:endParaRPr sz="110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56887" y="1375103"/>
            <a:ext cx="11055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dirty="0">
                <a:latin typeface="Arial MT"/>
                <a:cs typeface="Arial MT"/>
              </a:rPr>
              <a:t>Risk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En-</a:t>
            </a:r>
            <a:r>
              <a:rPr sz="1100" spc="-20" dirty="0">
                <a:latin typeface="Arial MT"/>
                <a:cs typeface="Arial MT"/>
              </a:rPr>
              <a:t>gine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7713" y="1977376"/>
            <a:ext cx="10267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latin typeface="Arial"/>
                <a:cs typeface="Arial"/>
              </a:rPr>
              <a:t>OOPs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with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C++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29521" y="1977376"/>
            <a:ext cx="25012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63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Arial MT"/>
                <a:cs typeface="Arial MT"/>
              </a:rPr>
              <a:t>Classes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Objects,</a:t>
            </a:r>
            <a:r>
              <a:rPr sz="1100" spc="2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Encapsulation,</a:t>
            </a:r>
            <a:r>
              <a:rPr sz="1100" spc="28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In-</a:t>
            </a:r>
            <a:r>
              <a:rPr sz="1100" dirty="0">
                <a:latin typeface="Arial MT"/>
                <a:cs typeface="Arial MT"/>
              </a:rPr>
              <a:t>heritance,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Polymorphism,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STL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56887" y="1977376"/>
            <a:ext cx="11055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Arial MT"/>
                <a:cs typeface="Arial MT"/>
              </a:rPr>
              <a:t>Emergency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&amp;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Re-</a:t>
            </a:r>
            <a:r>
              <a:rPr sz="1100" dirty="0">
                <a:latin typeface="Arial MT"/>
                <a:cs typeface="Arial MT"/>
              </a:rPr>
              <a:t>source </a:t>
            </a:r>
            <a:r>
              <a:rPr sz="1100" spc="-10" dirty="0">
                <a:latin typeface="Arial MT"/>
                <a:cs typeface="Arial MT"/>
              </a:rPr>
              <a:t>Manage-</a:t>
            </a:r>
            <a:r>
              <a:rPr sz="1100" spc="-20" dirty="0">
                <a:latin typeface="Arial MT"/>
                <a:cs typeface="Arial MT"/>
              </a:rPr>
              <a:t>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10413" y="2513316"/>
            <a:ext cx="4939665" cy="0"/>
          </a:xfrm>
          <a:custGeom>
            <a:avLst/>
            <a:gdLst/>
            <a:ahLst/>
            <a:cxnLst/>
            <a:rect l="l" t="t" r="r" b="b"/>
            <a:pathLst>
              <a:path w="4939665">
                <a:moveTo>
                  <a:pt x="0" y="0"/>
                </a:moveTo>
                <a:lnTo>
                  <a:pt x="4939182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73988" y="2533335"/>
            <a:ext cx="4612005" cy="540385"/>
          </a:xfrm>
          <a:custGeom>
            <a:avLst/>
            <a:gdLst/>
            <a:ahLst/>
            <a:cxnLst/>
            <a:rect l="l" t="t" r="r" b="b"/>
            <a:pathLst>
              <a:path w="4612005" h="540385">
                <a:moveTo>
                  <a:pt x="4611890" y="0"/>
                </a:moveTo>
                <a:lnTo>
                  <a:pt x="0" y="0"/>
                </a:lnTo>
                <a:lnTo>
                  <a:pt x="0" y="540283"/>
                </a:lnTo>
                <a:lnTo>
                  <a:pt x="4611890" y="540283"/>
                </a:lnTo>
                <a:lnTo>
                  <a:pt x="461189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62596" y="2533336"/>
            <a:ext cx="4034790" cy="53149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6040" marR="5080" indent="-53975">
              <a:lnSpc>
                <a:spcPct val="102699"/>
              </a:lnSpc>
              <a:spcBef>
                <a:spcPts val="55"/>
              </a:spcBef>
            </a:pPr>
            <a:r>
              <a:rPr sz="1100" b="1" dirty="0">
                <a:latin typeface="Arial"/>
                <a:cs typeface="Arial"/>
              </a:rPr>
              <a:t>Requirement:</a:t>
            </a:r>
            <a:r>
              <a:rPr sz="1100" b="1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 MT"/>
                <a:cs typeface="Arial MT"/>
              </a:rPr>
              <a:t>Demonstrating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meaningful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integration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both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core </a:t>
            </a:r>
            <a:r>
              <a:rPr sz="1100" dirty="0">
                <a:latin typeface="Arial MT"/>
                <a:cs typeface="Arial MT"/>
              </a:rPr>
              <a:t>subjects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Dynamic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Disaster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Risk,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Evacuation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&amp;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Rescue</a:t>
            </a:r>
            <a:endParaRPr lang="en-US" sz="1100" b="1" spc="-10" dirty="0">
              <a:latin typeface="Arial"/>
              <a:cs typeface="Arial"/>
            </a:endParaRPr>
          </a:p>
          <a:p>
            <a:pPr marL="66040" marR="5080" indent="-53975">
              <a:lnSpc>
                <a:spcPct val="102699"/>
              </a:lnSpc>
              <a:spcBef>
                <a:spcPts val="55"/>
              </a:spcBef>
            </a:pPr>
            <a:r>
              <a:rPr lang="en-IN" sz="1100" b="1" spc="-10" dirty="0">
                <a:latin typeface="Arial"/>
                <a:cs typeface="Arial"/>
              </a:rPr>
              <a:t>		Optimization System.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9900" y="3052748"/>
            <a:ext cx="3552825" cy="103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600" dirty="0">
                <a:solidFill>
                  <a:srgbClr val="133768"/>
                </a:solidFill>
                <a:latin typeface="Arial MT"/>
                <a:cs typeface="Arial MT"/>
              </a:rPr>
              <a:t>Department of</a:t>
            </a:r>
            <a:r>
              <a:rPr sz="6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33768"/>
                </a:solidFill>
                <a:latin typeface="Arial MT"/>
                <a:cs typeface="Arial MT"/>
              </a:rPr>
              <a:t>Computer</a:t>
            </a:r>
            <a:r>
              <a:rPr sz="6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3768"/>
                </a:solidFill>
                <a:latin typeface="Arial MT"/>
                <a:cs typeface="Arial MT"/>
              </a:rPr>
              <a:t>Science</a:t>
            </a:r>
            <a:r>
              <a:rPr sz="6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33768"/>
                </a:solidFill>
                <a:latin typeface="Arial MT"/>
                <a:cs typeface="Arial MT"/>
              </a:rPr>
              <a:t>&amp;</a:t>
            </a:r>
            <a:r>
              <a:rPr sz="6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3768"/>
                </a:solidFill>
                <a:latin typeface="Arial MT"/>
                <a:cs typeface="Arial MT"/>
              </a:rPr>
              <a:t>Engineering</a:t>
            </a:r>
            <a:r>
              <a:rPr sz="6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133768"/>
                </a:solidFill>
                <a:latin typeface="Arial MT"/>
                <a:cs typeface="Arial MT"/>
              </a:rPr>
              <a:t>|</a:t>
            </a:r>
            <a:r>
              <a:rPr sz="600" spc="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3768"/>
                </a:solidFill>
                <a:latin typeface="Arial MT"/>
                <a:cs typeface="Arial MT"/>
              </a:rPr>
              <a:t>Graphic</a:t>
            </a:r>
            <a:endParaRPr sz="1650" baseline="7575" dirty="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91603" y="3115378"/>
            <a:ext cx="1733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0E294E"/>
                </a:solidFill>
                <a:latin typeface="Arial MT"/>
                <a:cs typeface="Arial MT"/>
              </a:rPr>
              <a:t>6/10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0C63E6B-FF9A-D409-F253-CD4AE8030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860" y="12633"/>
            <a:ext cx="525659" cy="41843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System</a:t>
            </a:r>
            <a:r>
              <a:rPr spc="80" dirty="0"/>
              <a:t> </a:t>
            </a:r>
            <a:r>
              <a:rPr dirty="0"/>
              <a:t>Architecture</a:t>
            </a:r>
            <a:r>
              <a:rPr spc="80" dirty="0"/>
              <a:t> </a:t>
            </a:r>
            <a:r>
              <a:rPr dirty="0"/>
              <a:t>/</a:t>
            </a:r>
            <a:r>
              <a:rPr spc="8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68174" y="1033114"/>
            <a:ext cx="864235" cy="366395"/>
            <a:chOff x="368174" y="1033114"/>
            <a:chExt cx="864235" cy="366395"/>
          </a:xfrm>
        </p:grpSpPr>
        <p:sp>
          <p:nvSpPr>
            <p:cNvPr id="9" name="object 9"/>
            <p:cNvSpPr/>
            <p:nvPr/>
          </p:nvSpPr>
          <p:spPr>
            <a:xfrm>
              <a:off x="370714" y="1035654"/>
              <a:ext cx="859155" cy="361315"/>
            </a:xfrm>
            <a:custGeom>
              <a:avLst/>
              <a:gdLst/>
              <a:ahLst/>
              <a:cxnLst/>
              <a:rect l="l" t="t" r="r" b="b"/>
              <a:pathLst>
                <a:path w="859155" h="361315">
                  <a:moveTo>
                    <a:pt x="80810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0358"/>
                  </a:lnTo>
                  <a:lnTo>
                    <a:pt x="3977" y="330059"/>
                  </a:lnTo>
                  <a:lnTo>
                    <a:pt x="14823" y="346146"/>
                  </a:lnTo>
                  <a:lnTo>
                    <a:pt x="30910" y="356992"/>
                  </a:lnTo>
                  <a:lnTo>
                    <a:pt x="50610" y="360969"/>
                  </a:lnTo>
                  <a:lnTo>
                    <a:pt x="808109" y="360969"/>
                  </a:lnTo>
                  <a:lnTo>
                    <a:pt x="827809" y="356992"/>
                  </a:lnTo>
                  <a:lnTo>
                    <a:pt x="843896" y="346146"/>
                  </a:lnTo>
                  <a:lnTo>
                    <a:pt x="854743" y="330059"/>
                  </a:lnTo>
                  <a:lnTo>
                    <a:pt x="858720" y="310358"/>
                  </a:lnTo>
                  <a:lnTo>
                    <a:pt x="858720" y="50610"/>
                  </a:lnTo>
                  <a:lnTo>
                    <a:pt x="854743" y="30910"/>
                  </a:lnTo>
                  <a:lnTo>
                    <a:pt x="843896" y="14823"/>
                  </a:lnTo>
                  <a:lnTo>
                    <a:pt x="827809" y="3977"/>
                  </a:lnTo>
                  <a:lnTo>
                    <a:pt x="808109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0714" y="1035654"/>
              <a:ext cx="859155" cy="361315"/>
            </a:xfrm>
            <a:custGeom>
              <a:avLst/>
              <a:gdLst/>
              <a:ahLst/>
              <a:cxnLst/>
              <a:rect l="l" t="t" r="r" b="b"/>
              <a:pathLst>
                <a:path w="859155" h="361315">
                  <a:moveTo>
                    <a:pt x="80810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0358"/>
                  </a:lnTo>
                  <a:lnTo>
                    <a:pt x="3977" y="330059"/>
                  </a:lnTo>
                  <a:lnTo>
                    <a:pt x="14823" y="346146"/>
                  </a:lnTo>
                  <a:lnTo>
                    <a:pt x="30910" y="356992"/>
                  </a:lnTo>
                  <a:lnTo>
                    <a:pt x="50610" y="360969"/>
                  </a:lnTo>
                  <a:lnTo>
                    <a:pt x="808109" y="360969"/>
                  </a:lnTo>
                  <a:lnTo>
                    <a:pt x="827809" y="356992"/>
                  </a:lnTo>
                  <a:lnTo>
                    <a:pt x="843896" y="346146"/>
                  </a:lnTo>
                  <a:lnTo>
                    <a:pt x="854743" y="330059"/>
                  </a:lnTo>
                  <a:lnTo>
                    <a:pt x="858720" y="310358"/>
                  </a:lnTo>
                  <a:lnTo>
                    <a:pt x="858720" y="50610"/>
                  </a:lnTo>
                  <a:lnTo>
                    <a:pt x="854743" y="30910"/>
                  </a:lnTo>
                  <a:lnTo>
                    <a:pt x="843896" y="14823"/>
                  </a:lnTo>
                  <a:lnTo>
                    <a:pt x="827809" y="3977"/>
                  </a:lnTo>
                  <a:lnTo>
                    <a:pt x="808109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4190" y="1032756"/>
            <a:ext cx="7918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1760" marR="5080" indent="-9969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Disaster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Data </a:t>
            </a:r>
            <a:r>
              <a:rPr sz="1000" dirty="0">
                <a:latin typeface="Arial MT"/>
                <a:cs typeface="Arial MT"/>
              </a:rPr>
              <a:t>&amp;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Reports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83958" y="1032354"/>
            <a:ext cx="779145" cy="367665"/>
            <a:chOff x="1483958" y="1032354"/>
            <a:chExt cx="779145" cy="367665"/>
          </a:xfrm>
        </p:grpSpPr>
        <p:sp>
          <p:nvSpPr>
            <p:cNvPr id="13" name="object 13"/>
            <p:cNvSpPr/>
            <p:nvPr/>
          </p:nvSpPr>
          <p:spPr>
            <a:xfrm>
              <a:off x="1486498" y="1034894"/>
              <a:ext cx="774065" cy="362585"/>
            </a:xfrm>
            <a:custGeom>
              <a:avLst/>
              <a:gdLst/>
              <a:ahLst/>
              <a:cxnLst/>
              <a:rect l="l" t="t" r="r" b="b"/>
              <a:pathLst>
                <a:path w="774064" h="362584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1877"/>
                  </a:lnTo>
                  <a:lnTo>
                    <a:pt x="3977" y="331578"/>
                  </a:lnTo>
                  <a:lnTo>
                    <a:pt x="14823" y="347665"/>
                  </a:lnTo>
                  <a:lnTo>
                    <a:pt x="30910" y="358511"/>
                  </a:lnTo>
                  <a:lnTo>
                    <a:pt x="50610" y="362488"/>
                  </a:lnTo>
                  <a:lnTo>
                    <a:pt x="723396" y="362488"/>
                  </a:lnTo>
                  <a:lnTo>
                    <a:pt x="743097" y="358511"/>
                  </a:lnTo>
                  <a:lnTo>
                    <a:pt x="759184" y="347665"/>
                  </a:lnTo>
                  <a:lnTo>
                    <a:pt x="770030" y="331578"/>
                  </a:lnTo>
                  <a:lnTo>
                    <a:pt x="774007" y="311877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86498" y="1034894"/>
              <a:ext cx="774065" cy="362585"/>
            </a:xfrm>
            <a:custGeom>
              <a:avLst/>
              <a:gdLst/>
              <a:ahLst/>
              <a:cxnLst/>
              <a:rect l="l" t="t" r="r" b="b"/>
              <a:pathLst>
                <a:path w="774064" h="362584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1877"/>
                  </a:lnTo>
                  <a:lnTo>
                    <a:pt x="3977" y="331578"/>
                  </a:lnTo>
                  <a:lnTo>
                    <a:pt x="14823" y="347665"/>
                  </a:lnTo>
                  <a:lnTo>
                    <a:pt x="30910" y="358511"/>
                  </a:lnTo>
                  <a:lnTo>
                    <a:pt x="50610" y="362488"/>
                  </a:lnTo>
                  <a:lnTo>
                    <a:pt x="723396" y="362488"/>
                  </a:lnTo>
                  <a:lnTo>
                    <a:pt x="743097" y="358511"/>
                  </a:lnTo>
                  <a:lnTo>
                    <a:pt x="759184" y="347665"/>
                  </a:lnTo>
                  <a:lnTo>
                    <a:pt x="770030" y="331578"/>
                  </a:lnTo>
                  <a:lnTo>
                    <a:pt x="774007" y="311877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32343" y="1031994"/>
            <a:ext cx="48260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5080" indent="-1333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ML</a:t>
            </a:r>
            <a:r>
              <a:rPr sz="1000" spc="-20" dirty="0">
                <a:latin typeface="Arial MT"/>
                <a:cs typeface="Arial MT"/>
              </a:rPr>
              <a:t> Risk </a:t>
            </a:r>
            <a:r>
              <a:rPr sz="1000" spc="-10" dirty="0">
                <a:latin typeface="Arial MT"/>
                <a:cs typeface="Arial MT"/>
              </a:rPr>
              <a:t>Scoring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15030" y="1030899"/>
            <a:ext cx="779145" cy="370840"/>
            <a:chOff x="2515030" y="1030899"/>
            <a:chExt cx="779145" cy="370840"/>
          </a:xfrm>
        </p:grpSpPr>
        <p:sp>
          <p:nvSpPr>
            <p:cNvPr id="17" name="object 17"/>
            <p:cNvSpPr/>
            <p:nvPr/>
          </p:nvSpPr>
          <p:spPr>
            <a:xfrm>
              <a:off x="2517570" y="1033439"/>
              <a:ext cx="774065" cy="365760"/>
            </a:xfrm>
            <a:custGeom>
              <a:avLst/>
              <a:gdLst/>
              <a:ahLst/>
              <a:cxnLst/>
              <a:rect l="l" t="t" r="r" b="b"/>
              <a:pathLst>
                <a:path w="774064" h="36575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4788"/>
                  </a:lnTo>
                  <a:lnTo>
                    <a:pt x="3977" y="334488"/>
                  </a:lnTo>
                  <a:lnTo>
                    <a:pt x="14823" y="350575"/>
                  </a:lnTo>
                  <a:lnTo>
                    <a:pt x="30910" y="361422"/>
                  </a:lnTo>
                  <a:lnTo>
                    <a:pt x="50610" y="365399"/>
                  </a:lnTo>
                  <a:lnTo>
                    <a:pt x="723396" y="365399"/>
                  </a:lnTo>
                  <a:lnTo>
                    <a:pt x="743096" y="361422"/>
                  </a:lnTo>
                  <a:lnTo>
                    <a:pt x="759184" y="350575"/>
                  </a:lnTo>
                  <a:lnTo>
                    <a:pt x="770030" y="334488"/>
                  </a:lnTo>
                  <a:lnTo>
                    <a:pt x="774007" y="314788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17570" y="1033439"/>
              <a:ext cx="774065" cy="365760"/>
            </a:xfrm>
            <a:custGeom>
              <a:avLst/>
              <a:gdLst/>
              <a:ahLst/>
              <a:cxnLst/>
              <a:rect l="l" t="t" r="r" b="b"/>
              <a:pathLst>
                <a:path w="774064" h="36575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14788"/>
                  </a:lnTo>
                  <a:lnTo>
                    <a:pt x="3977" y="334488"/>
                  </a:lnTo>
                  <a:lnTo>
                    <a:pt x="14823" y="350575"/>
                  </a:lnTo>
                  <a:lnTo>
                    <a:pt x="30910" y="361422"/>
                  </a:lnTo>
                  <a:lnTo>
                    <a:pt x="50610" y="365399"/>
                  </a:lnTo>
                  <a:lnTo>
                    <a:pt x="723396" y="365399"/>
                  </a:lnTo>
                  <a:lnTo>
                    <a:pt x="743096" y="361422"/>
                  </a:lnTo>
                  <a:lnTo>
                    <a:pt x="759184" y="350575"/>
                  </a:lnTo>
                  <a:lnTo>
                    <a:pt x="770030" y="334488"/>
                  </a:lnTo>
                  <a:lnTo>
                    <a:pt x="774007" y="314788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579522" y="1033454"/>
            <a:ext cx="6502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635" marR="5080" indent="-11557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C++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Graph Engine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546102" y="1045703"/>
            <a:ext cx="779145" cy="340995"/>
            <a:chOff x="3546102" y="1045703"/>
            <a:chExt cx="779145" cy="340995"/>
          </a:xfrm>
        </p:grpSpPr>
        <p:sp>
          <p:nvSpPr>
            <p:cNvPr id="21" name="object 21"/>
            <p:cNvSpPr/>
            <p:nvPr/>
          </p:nvSpPr>
          <p:spPr>
            <a:xfrm>
              <a:off x="3548642" y="1048243"/>
              <a:ext cx="774065" cy="335915"/>
            </a:xfrm>
            <a:custGeom>
              <a:avLst/>
              <a:gdLst/>
              <a:ahLst/>
              <a:cxnLst/>
              <a:rect l="l" t="t" r="r" b="b"/>
              <a:pathLst>
                <a:path w="774064" h="33591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5179"/>
                  </a:lnTo>
                  <a:lnTo>
                    <a:pt x="3977" y="304880"/>
                  </a:lnTo>
                  <a:lnTo>
                    <a:pt x="14823" y="320967"/>
                  </a:lnTo>
                  <a:lnTo>
                    <a:pt x="30910" y="331813"/>
                  </a:lnTo>
                  <a:lnTo>
                    <a:pt x="50610" y="335790"/>
                  </a:lnTo>
                  <a:lnTo>
                    <a:pt x="723396" y="335790"/>
                  </a:lnTo>
                  <a:lnTo>
                    <a:pt x="743097" y="331813"/>
                  </a:lnTo>
                  <a:lnTo>
                    <a:pt x="759184" y="320967"/>
                  </a:lnTo>
                  <a:lnTo>
                    <a:pt x="770030" y="304880"/>
                  </a:lnTo>
                  <a:lnTo>
                    <a:pt x="774007" y="285179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548642" y="1048243"/>
              <a:ext cx="774065" cy="335915"/>
            </a:xfrm>
            <a:custGeom>
              <a:avLst/>
              <a:gdLst/>
              <a:ahLst/>
              <a:cxnLst/>
              <a:rect l="l" t="t" r="r" b="b"/>
              <a:pathLst>
                <a:path w="774064" h="33591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5179"/>
                  </a:lnTo>
                  <a:lnTo>
                    <a:pt x="3977" y="304880"/>
                  </a:lnTo>
                  <a:lnTo>
                    <a:pt x="14823" y="320967"/>
                  </a:lnTo>
                  <a:lnTo>
                    <a:pt x="30910" y="331813"/>
                  </a:lnTo>
                  <a:lnTo>
                    <a:pt x="50610" y="335790"/>
                  </a:lnTo>
                  <a:lnTo>
                    <a:pt x="723396" y="335790"/>
                  </a:lnTo>
                  <a:lnTo>
                    <a:pt x="743097" y="331813"/>
                  </a:lnTo>
                  <a:lnTo>
                    <a:pt x="759184" y="320967"/>
                  </a:lnTo>
                  <a:lnTo>
                    <a:pt x="770030" y="304880"/>
                  </a:lnTo>
                  <a:lnTo>
                    <a:pt x="774007" y="285179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48659" y="1045342"/>
            <a:ext cx="57404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17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 MT"/>
                <a:cs typeface="Arial MT"/>
              </a:rPr>
              <a:t>Resource Allocation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31965" y="1192889"/>
            <a:ext cx="3329940" cy="46990"/>
            <a:chOff x="1231965" y="1192889"/>
            <a:chExt cx="3329940" cy="46990"/>
          </a:xfrm>
        </p:grpSpPr>
        <p:sp>
          <p:nvSpPr>
            <p:cNvPr id="29" name="object 29"/>
            <p:cNvSpPr/>
            <p:nvPr/>
          </p:nvSpPr>
          <p:spPr>
            <a:xfrm>
              <a:off x="1231965" y="1216139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17028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17028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263037" y="1216139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448100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448100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94109" y="1216139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79172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79172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25180" y="1216139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10244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10244" y="1197950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577174" y="1044248"/>
            <a:ext cx="814705" cy="344170"/>
            <a:chOff x="4577174" y="1044248"/>
            <a:chExt cx="814705" cy="344170"/>
          </a:xfrm>
        </p:grpSpPr>
        <p:sp>
          <p:nvSpPr>
            <p:cNvPr id="25" name="object 25"/>
            <p:cNvSpPr/>
            <p:nvPr/>
          </p:nvSpPr>
          <p:spPr>
            <a:xfrm>
              <a:off x="4579714" y="1046788"/>
              <a:ext cx="809625" cy="339090"/>
            </a:xfrm>
            <a:custGeom>
              <a:avLst/>
              <a:gdLst/>
              <a:ahLst/>
              <a:cxnLst/>
              <a:rect l="l" t="t" r="r" b="b"/>
              <a:pathLst>
                <a:path w="809625" h="339090">
                  <a:moveTo>
                    <a:pt x="75901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8090"/>
                  </a:lnTo>
                  <a:lnTo>
                    <a:pt x="3977" y="307790"/>
                  </a:lnTo>
                  <a:lnTo>
                    <a:pt x="14823" y="323877"/>
                  </a:lnTo>
                  <a:lnTo>
                    <a:pt x="30910" y="334724"/>
                  </a:lnTo>
                  <a:lnTo>
                    <a:pt x="50610" y="338701"/>
                  </a:lnTo>
                  <a:lnTo>
                    <a:pt x="759019" y="338701"/>
                  </a:lnTo>
                  <a:lnTo>
                    <a:pt x="778719" y="334724"/>
                  </a:lnTo>
                  <a:lnTo>
                    <a:pt x="794806" y="323877"/>
                  </a:lnTo>
                  <a:lnTo>
                    <a:pt x="805652" y="307790"/>
                  </a:lnTo>
                  <a:lnTo>
                    <a:pt x="809629" y="288090"/>
                  </a:lnTo>
                  <a:lnTo>
                    <a:pt x="809629" y="50610"/>
                  </a:lnTo>
                  <a:lnTo>
                    <a:pt x="805652" y="30910"/>
                  </a:lnTo>
                  <a:lnTo>
                    <a:pt x="794806" y="14823"/>
                  </a:lnTo>
                  <a:lnTo>
                    <a:pt x="778719" y="3977"/>
                  </a:lnTo>
                  <a:lnTo>
                    <a:pt x="759019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9714" y="1046788"/>
              <a:ext cx="809625" cy="339090"/>
            </a:xfrm>
            <a:custGeom>
              <a:avLst/>
              <a:gdLst/>
              <a:ahLst/>
              <a:cxnLst/>
              <a:rect l="l" t="t" r="r" b="b"/>
              <a:pathLst>
                <a:path w="809625" h="339090">
                  <a:moveTo>
                    <a:pt x="75901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8090"/>
                  </a:lnTo>
                  <a:lnTo>
                    <a:pt x="3977" y="307790"/>
                  </a:lnTo>
                  <a:lnTo>
                    <a:pt x="14823" y="323877"/>
                  </a:lnTo>
                  <a:lnTo>
                    <a:pt x="30910" y="334724"/>
                  </a:lnTo>
                  <a:lnTo>
                    <a:pt x="50610" y="338701"/>
                  </a:lnTo>
                  <a:lnTo>
                    <a:pt x="759019" y="338701"/>
                  </a:lnTo>
                  <a:lnTo>
                    <a:pt x="778719" y="334724"/>
                  </a:lnTo>
                  <a:lnTo>
                    <a:pt x="794806" y="323877"/>
                  </a:lnTo>
                  <a:lnTo>
                    <a:pt x="805652" y="307790"/>
                  </a:lnTo>
                  <a:lnTo>
                    <a:pt x="809629" y="288090"/>
                  </a:lnTo>
                  <a:lnTo>
                    <a:pt x="809629" y="50610"/>
                  </a:lnTo>
                  <a:lnTo>
                    <a:pt x="805652" y="30910"/>
                  </a:lnTo>
                  <a:lnTo>
                    <a:pt x="794806" y="14823"/>
                  </a:lnTo>
                  <a:lnTo>
                    <a:pt x="778719" y="3977"/>
                  </a:lnTo>
                  <a:lnTo>
                    <a:pt x="759019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13135" y="1046802"/>
            <a:ext cx="7429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Arial MT"/>
                <a:cs typeface="Arial MT"/>
              </a:rPr>
              <a:t>Evacuation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/ </a:t>
            </a:r>
            <a:r>
              <a:rPr sz="1000" dirty="0">
                <a:latin typeface="Arial MT"/>
                <a:cs typeface="Arial MT"/>
              </a:rPr>
              <a:t>Rescue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Plan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1894" y="1570218"/>
            <a:ext cx="2424430" cy="130365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Major</a:t>
            </a:r>
            <a:r>
              <a:rPr sz="900" b="1" spc="-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  <a:p>
            <a:pPr marL="314960" marR="60325" indent="-15811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Data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Input:</a:t>
            </a:r>
            <a:r>
              <a:rPr sz="900" b="1" spc="2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Road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network,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disaster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risk, </a:t>
            </a:r>
            <a:r>
              <a:rPr sz="900" dirty="0">
                <a:latin typeface="Arial MT"/>
                <a:cs typeface="Arial MT"/>
              </a:rPr>
              <a:t>emergency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rescue-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data.</a:t>
            </a:r>
            <a:endParaRPr sz="900">
              <a:latin typeface="Arial MT"/>
              <a:cs typeface="Arial MT"/>
            </a:endParaRPr>
          </a:p>
          <a:p>
            <a:pPr marL="314960" marR="30480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Risk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&amp;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Route</a:t>
            </a:r>
            <a:r>
              <a:rPr sz="900" b="1" spc="-2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Engine:</a:t>
            </a:r>
            <a:r>
              <a:rPr sz="900" b="1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Graph-</a:t>
            </a:r>
            <a:r>
              <a:rPr sz="900" dirty="0">
                <a:latin typeface="Arial MT"/>
                <a:cs typeface="Arial MT"/>
              </a:rPr>
              <a:t>based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risk </a:t>
            </a:r>
            <a:r>
              <a:rPr sz="900" dirty="0">
                <a:latin typeface="Arial MT"/>
                <a:cs typeface="Arial MT"/>
              </a:rPr>
              <a:t>assessment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route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optimization.</a:t>
            </a:r>
            <a:endParaRPr sz="900">
              <a:latin typeface="Arial MT"/>
              <a:cs typeface="Arial MT"/>
            </a:endParaRPr>
          </a:p>
          <a:p>
            <a:pPr marL="314960" marR="60325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Emergency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Manager:</a:t>
            </a:r>
            <a:r>
              <a:rPr sz="900" b="1" spc="4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Priority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handling, 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allocation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destination selection.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42717" y="1570218"/>
            <a:ext cx="2457450" cy="147447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Data</a:t>
            </a:r>
            <a:r>
              <a:rPr sz="900" b="1" spc="-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/</a:t>
            </a:r>
            <a:r>
              <a:rPr sz="900" b="1" spc="-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Control</a:t>
            </a:r>
            <a:r>
              <a:rPr sz="900" b="1" spc="-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spc="-20" dirty="0">
                <a:solidFill>
                  <a:srgbClr val="133768"/>
                </a:solidFill>
                <a:latin typeface="Arial"/>
                <a:cs typeface="Arial"/>
              </a:rPr>
              <a:t>Flow</a:t>
            </a:r>
            <a:endParaRPr sz="900">
              <a:latin typeface="Arial"/>
              <a:cs typeface="Arial"/>
            </a:endParaRPr>
          </a:p>
          <a:p>
            <a:pPr marL="314960" marR="118110" indent="-15811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Processing:</a:t>
            </a:r>
            <a:r>
              <a:rPr sz="900" b="1" spc="4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Input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→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Validation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→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 MT"/>
                <a:cs typeface="Arial MT"/>
              </a:rPr>
              <a:t>Risk </a:t>
            </a:r>
            <a:r>
              <a:rPr sz="900" dirty="0">
                <a:latin typeface="Arial MT"/>
                <a:cs typeface="Arial MT"/>
              </a:rPr>
              <a:t>Analysis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→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Graph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Update</a:t>
            </a:r>
            <a:endParaRPr sz="900">
              <a:latin typeface="Arial MT"/>
              <a:cs typeface="Arial MT"/>
            </a:endParaRPr>
          </a:p>
          <a:p>
            <a:pPr marL="314960" marR="30480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Core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Logic:</a:t>
            </a:r>
            <a:r>
              <a:rPr sz="900" b="1" spc="1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Dijkstra/A*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finds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safer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routes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prioritizes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emergencies.</a:t>
            </a:r>
            <a:endParaRPr sz="900">
              <a:latin typeface="Arial MT"/>
              <a:cs typeface="Arial MT"/>
            </a:endParaRPr>
          </a:p>
          <a:p>
            <a:pPr marL="314960" marR="92075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Module</a:t>
            </a:r>
            <a:r>
              <a:rPr sz="900" b="1" spc="-4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Interaction:</a:t>
            </a:r>
            <a:r>
              <a:rPr sz="900" b="1" spc="1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Modules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exchange </a:t>
            </a:r>
            <a:r>
              <a:rPr sz="900" dirty="0">
                <a:latin typeface="Arial MT"/>
                <a:cs typeface="Arial MT"/>
              </a:rPr>
              <a:t>updated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risk,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route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data.</a:t>
            </a:r>
            <a:endParaRPr sz="900">
              <a:latin typeface="Arial MT"/>
              <a:cs typeface="Arial MT"/>
            </a:endParaRPr>
          </a:p>
          <a:p>
            <a:pPr marL="314960" marR="169545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Output:</a:t>
            </a:r>
            <a:r>
              <a:rPr sz="900" b="1" spc="3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Priority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list,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evacuation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routes, </a:t>
            </a:r>
            <a:r>
              <a:rPr sz="900" dirty="0">
                <a:latin typeface="Arial MT"/>
                <a:cs typeface="Arial MT"/>
              </a:rPr>
              <a:t>rescue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assignments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destinations.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7</a:t>
            </a:fld>
            <a:r>
              <a:rPr spc="-10" dirty="0"/>
              <a:t>/10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071A336-9792-D754-752F-17654717A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0" y="40381"/>
            <a:ext cx="512267" cy="36284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Technology</a:t>
            </a:r>
            <a:r>
              <a:rPr spc="60" dirty="0"/>
              <a:t> </a:t>
            </a:r>
            <a:r>
              <a:rPr dirty="0"/>
              <a:t>Stack</a:t>
            </a:r>
            <a:r>
              <a:rPr spc="65" dirty="0"/>
              <a:t> </a:t>
            </a:r>
            <a:r>
              <a:rPr dirty="0"/>
              <a:t>&amp;</a:t>
            </a:r>
            <a:r>
              <a:rPr spc="6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3" y="1069961"/>
            <a:ext cx="2520950" cy="208915"/>
          </a:xfrm>
          <a:custGeom>
            <a:avLst/>
            <a:gdLst/>
            <a:ahLst/>
            <a:cxnLst/>
            <a:rect l="l" t="t" r="r" b="b"/>
            <a:pathLst>
              <a:path w="2520950" h="20891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8860"/>
                </a:lnTo>
                <a:lnTo>
                  <a:pt x="2520810" y="208860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055202"/>
            <a:ext cx="1210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Technology</a:t>
            </a:r>
            <a:r>
              <a:rPr sz="1200" spc="-60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33768"/>
                </a:solidFill>
                <a:latin typeface="Arial MT"/>
                <a:cs typeface="Arial MT"/>
              </a:rPr>
              <a:t>Stack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30016" y="1069961"/>
            <a:ext cx="2520950" cy="205740"/>
          </a:xfrm>
          <a:custGeom>
            <a:avLst/>
            <a:gdLst/>
            <a:ahLst/>
            <a:cxnLst/>
            <a:rect l="l" t="t" r="r" b="b"/>
            <a:pathLst>
              <a:path w="2520950" h="205740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5367"/>
                </a:lnTo>
                <a:lnTo>
                  <a:pt x="2520810" y="205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68117" y="1051709"/>
            <a:ext cx="18230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Arial MT"/>
                <a:cs typeface="Arial MT"/>
              </a:rPr>
              <a:t>Development</a:t>
            </a:r>
            <a:r>
              <a:rPr sz="1200" spc="-85" dirty="0">
                <a:solidFill>
                  <a:srgbClr val="133768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Arial MT"/>
                <a:cs typeface="Arial MT"/>
              </a:rPr>
              <a:t>Methodology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93" y="1266177"/>
            <a:ext cx="2520950" cy="1162050"/>
            <a:chOff x="309193" y="1266177"/>
            <a:chExt cx="2520950" cy="11620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66177"/>
              <a:ext cx="2520810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193" y="1310445"/>
              <a:ext cx="2520950" cy="1117600"/>
            </a:xfrm>
            <a:custGeom>
              <a:avLst/>
              <a:gdLst/>
              <a:ahLst/>
              <a:cxnLst/>
              <a:rect l="l" t="t" r="r" b="b"/>
              <a:pathLst>
                <a:path w="2520950" h="1117600">
                  <a:moveTo>
                    <a:pt x="2520810" y="0"/>
                  </a:moveTo>
                  <a:lnTo>
                    <a:pt x="0" y="0"/>
                  </a:lnTo>
                  <a:lnTo>
                    <a:pt x="0" y="1066626"/>
                  </a:lnTo>
                  <a:lnTo>
                    <a:pt x="4008" y="1086350"/>
                  </a:lnTo>
                  <a:lnTo>
                    <a:pt x="14922" y="1102503"/>
                  </a:lnTo>
                  <a:lnTo>
                    <a:pt x="31075" y="1113418"/>
                  </a:lnTo>
                  <a:lnTo>
                    <a:pt x="50800" y="1117426"/>
                  </a:lnTo>
                  <a:lnTo>
                    <a:pt x="2470010" y="1117426"/>
                  </a:lnTo>
                  <a:lnTo>
                    <a:pt x="2489735" y="1113418"/>
                  </a:lnTo>
                  <a:lnTo>
                    <a:pt x="2505888" y="1102503"/>
                  </a:lnTo>
                  <a:lnTo>
                    <a:pt x="2516802" y="1086350"/>
                  </a:lnTo>
                  <a:lnTo>
                    <a:pt x="2520810" y="1066626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95580" marR="30480" indent="-158115">
              <a:lnSpc>
                <a:spcPct val="101499"/>
              </a:lnSpc>
              <a:spcBef>
                <a:spcPts val="80"/>
              </a:spcBef>
              <a:buClr>
                <a:srgbClr val="133768"/>
              </a:buClr>
              <a:buFont typeface="Lucida Sans Unicode"/>
              <a:buChar char="►"/>
              <a:tabLst>
                <a:tab pos="195580" algn="l"/>
              </a:tabLst>
            </a:pPr>
            <a:r>
              <a:rPr sz="900" dirty="0"/>
              <a:t>Programming:</a:t>
            </a:r>
            <a:r>
              <a:rPr sz="900" spc="20" dirty="0"/>
              <a:t> </a:t>
            </a:r>
            <a:r>
              <a:rPr sz="900" dirty="0"/>
              <a:t>C++</a:t>
            </a:r>
            <a:r>
              <a:rPr sz="900" spc="-30" dirty="0"/>
              <a:t> </a:t>
            </a:r>
            <a:r>
              <a:rPr sz="900" dirty="0"/>
              <a:t>(Core</a:t>
            </a:r>
            <a:r>
              <a:rPr sz="900" spc="-35" dirty="0"/>
              <a:t> </a:t>
            </a:r>
            <a:r>
              <a:rPr sz="900" dirty="0"/>
              <a:t>Logic</a:t>
            </a:r>
            <a:r>
              <a:rPr sz="900" spc="-30" dirty="0"/>
              <a:t> </a:t>
            </a:r>
            <a:r>
              <a:rPr sz="900" dirty="0"/>
              <a:t>&amp;</a:t>
            </a:r>
            <a:r>
              <a:rPr sz="900" spc="-30" dirty="0"/>
              <a:t> </a:t>
            </a:r>
            <a:r>
              <a:rPr sz="900" dirty="0"/>
              <a:t>OOP)</a:t>
            </a:r>
            <a:r>
              <a:rPr sz="900" spc="-35" dirty="0"/>
              <a:t> </a:t>
            </a:r>
            <a:r>
              <a:rPr sz="900" spc="-50" dirty="0"/>
              <a:t>+</a:t>
            </a:r>
            <a:r>
              <a:rPr sz="900" dirty="0"/>
              <a:t> Python</a:t>
            </a:r>
            <a:r>
              <a:rPr sz="900" spc="-35" dirty="0"/>
              <a:t> </a:t>
            </a:r>
            <a:r>
              <a:rPr sz="900" spc="-10" dirty="0"/>
              <a:t>(AI/ML)</a:t>
            </a:r>
            <a:endParaRPr sz="900"/>
          </a:p>
          <a:p>
            <a:pPr marL="196215" indent="-158115">
              <a:lnSpc>
                <a:spcPct val="100000"/>
              </a:lnSpc>
              <a:spcBef>
                <a:spcPts val="265"/>
              </a:spcBef>
              <a:buClr>
                <a:srgbClr val="133768"/>
              </a:buClr>
              <a:buFont typeface="Lucida Sans Unicode"/>
              <a:buChar char="►"/>
              <a:tabLst>
                <a:tab pos="196215" algn="l"/>
              </a:tabLst>
            </a:pPr>
            <a:r>
              <a:rPr sz="900" dirty="0"/>
              <a:t>Database:</a:t>
            </a:r>
            <a:r>
              <a:rPr sz="900" spc="25" dirty="0"/>
              <a:t> </a:t>
            </a:r>
            <a:r>
              <a:rPr sz="900" dirty="0"/>
              <a:t>MySQL</a:t>
            </a:r>
            <a:r>
              <a:rPr sz="900" spc="-30" dirty="0"/>
              <a:t> </a:t>
            </a:r>
            <a:r>
              <a:rPr sz="900" dirty="0"/>
              <a:t>/</a:t>
            </a:r>
            <a:r>
              <a:rPr sz="900" spc="-25" dirty="0"/>
              <a:t> </a:t>
            </a:r>
            <a:r>
              <a:rPr sz="900" spc="-10" dirty="0"/>
              <a:t>PostgreSQL</a:t>
            </a:r>
            <a:endParaRPr sz="900"/>
          </a:p>
          <a:p>
            <a:pPr marL="195580" marR="509270" indent="-15811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Lucida Sans Unicode"/>
              <a:buChar char="►"/>
              <a:tabLst>
                <a:tab pos="195580" algn="l"/>
              </a:tabLst>
            </a:pPr>
            <a:r>
              <a:rPr sz="900" spc="-20" dirty="0"/>
              <a:t>Tools</a:t>
            </a:r>
            <a:r>
              <a:rPr sz="900" spc="-25" dirty="0"/>
              <a:t> </a:t>
            </a:r>
            <a:r>
              <a:rPr sz="900" dirty="0"/>
              <a:t>/</a:t>
            </a:r>
            <a:r>
              <a:rPr sz="900" spc="-25" dirty="0"/>
              <a:t> </a:t>
            </a:r>
            <a:r>
              <a:rPr sz="900" spc="-10" dirty="0"/>
              <a:t>Framework:</a:t>
            </a:r>
            <a:r>
              <a:rPr sz="900" spc="35" dirty="0"/>
              <a:t> </a:t>
            </a:r>
            <a:r>
              <a:rPr sz="900" dirty="0"/>
              <a:t>STL,</a:t>
            </a:r>
            <a:r>
              <a:rPr sz="900" spc="-25" dirty="0"/>
              <a:t> </a:t>
            </a:r>
            <a:r>
              <a:rPr sz="900" spc="-10" dirty="0"/>
              <a:t>Leaflet, OpenStreetMap</a:t>
            </a:r>
            <a:endParaRPr sz="900"/>
          </a:p>
          <a:p>
            <a:pPr marL="196215" indent="-158115">
              <a:lnSpc>
                <a:spcPct val="100000"/>
              </a:lnSpc>
              <a:spcBef>
                <a:spcPts val="265"/>
              </a:spcBef>
              <a:buClr>
                <a:srgbClr val="133768"/>
              </a:buClr>
              <a:buFont typeface="Lucida Sans Unicode"/>
              <a:buChar char="►"/>
              <a:tabLst>
                <a:tab pos="196215" algn="l"/>
              </a:tabLst>
            </a:pPr>
            <a:r>
              <a:rPr sz="900" dirty="0"/>
              <a:t>IDE:</a:t>
            </a:r>
            <a:r>
              <a:rPr sz="900" spc="-30" dirty="0"/>
              <a:t> </a:t>
            </a:r>
            <a:r>
              <a:rPr sz="900" dirty="0"/>
              <a:t>VS</a:t>
            </a:r>
            <a:r>
              <a:rPr sz="900" spc="-30" dirty="0"/>
              <a:t> </a:t>
            </a:r>
            <a:r>
              <a:rPr sz="900" dirty="0"/>
              <a:t>Code,</a:t>
            </a:r>
            <a:r>
              <a:rPr sz="900" spc="-25" dirty="0"/>
              <a:t> </a:t>
            </a:r>
            <a:r>
              <a:rPr sz="900" spc="-10" dirty="0"/>
              <a:t>GCC/G++</a:t>
            </a:r>
            <a:endParaRPr sz="900"/>
          </a:p>
          <a:p>
            <a:pPr marL="196215" indent="-158115">
              <a:lnSpc>
                <a:spcPct val="100000"/>
              </a:lnSpc>
              <a:spcBef>
                <a:spcPts val="265"/>
              </a:spcBef>
              <a:buClr>
                <a:srgbClr val="133768"/>
              </a:buClr>
              <a:buFont typeface="Lucida Sans Unicode"/>
              <a:buChar char="►"/>
              <a:tabLst>
                <a:tab pos="196215" algn="l"/>
              </a:tabLst>
            </a:pPr>
            <a:r>
              <a:rPr sz="900" spc="-10" dirty="0"/>
              <a:t>Version</a:t>
            </a:r>
            <a:r>
              <a:rPr sz="900" spc="-25" dirty="0"/>
              <a:t> </a:t>
            </a:r>
            <a:r>
              <a:rPr sz="900" dirty="0"/>
              <a:t>Control:</a:t>
            </a:r>
            <a:r>
              <a:rPr sz="900" spc="30" dirty="0"/>
              <a:t> </a:t>
            </a:r>
            <a:r>
              <a:rPr sz="900" dirty="0"/>
              <a:t>Git</a:t>
            </a:r>
            <a:r>
              <a:rPr sz="900" spc="-25" dirty="0"/>
              <a:t> </a:t>
            </a:r>
            <a:r>
              <a:rPr sz="900" dirty="0"/>
              <a:t>&amp;</a:t>
            </a:r>
            <a:r>
              <a:rPr sz="900" spc="-25" dirty="0"/>
              <a:t> </a:t>
            </a:r>
            <a:r>
              <a:rPr sz="900" spc="-10" dirty="0"/>
              <a:t>GitHub</a:t>
            </a:r>
            <a:endParaRPr sz="900"/>
          </a:p>
        </p:txBody>
      </p:sp>
      <p:grpSp>
        <p:nvGrpSpPr>
          <p:cNvPr id="16" name="object 16"/>
          <p:cNvGrpSpPr/>
          <p:nvPr/>
        </p:nvGrpSpPr>
        <p:grpSpPr>
          <a:xfrm>
            <a:off x="2930016" y="1262684"/>
            <a:ext cx="2520950" cy="1740535"/>
            <a:chOff x="2930016" y="1262684"/>
            <a:chExt cx="2520950" cy="174053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62684"/>
              <a:ext cx="2520810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30016" y="1306942"/>
              <a:ext cx="2520950" cy="1696085"/>
            </a:xfrm>
            <a:custGeom>
              <a:avLst/>
              <a:gdLst/>
              <a:ahLst/>
              <a:cxnLst/>
              <a:rect l="l" t="t" r="r" b="b"/>
              <a:pathLst>
                <a:path w="2520950" h="1696085">
                  <a:moveTo>
                    <a:pt x="2520810" y="0"/>
                  </a:moveTo>
                  <a:lnTo>
                    <a:pt x="0" y="0"/>
                  </a:lnTo>
                  <a:lnTo>
                    <a:pt x="0" y="1644981"/>
                  </a:lnTo>
                  <a:lnTo>
                    <a:pt x="4008" y="1664706"/>
                  </a:lnTo>
                  <a:lnTo>
                    <a:pt x="14922" y="1680859"/>
                  </a:lnTo>
                  <a:lnTo>
                    <a:pt x="31075" y="1691773"/>
                  </a:lnTo>
                  <a:lnTo>
                    <a:pt x="50800" y="1695781"/>
                  </a:lnTo>
                  <a:lnTo>
                    <a:pt x="2470010" y="1695781"/>
                  </a:lnTo>
                  <a:lnTo>
                    <a:pt x="2489735" y="1691773"/>
                  </a:lnTo>
                  <a:lnTo>
                    <a:pt x="2505888" y="1680859"/>
                  </a:lnTo>
                  <a:lnTo>
                    <a:pt x="2516802" y="1664706"/>
                  </a:lnTo>
                  <a:lnTo>
                    <a:pt x="2520810" y="1644981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80969" y="1289451"/>
            <a:ext cx="2241550" cy="16808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76530" marR="233679" indent="-164465">
              <a:lnSpc>
                <a:spcPct val="101499"/>
              </a:lnSpc>
              <a:spcBef>
                <a:spcPts val="80"/>
              </a:spcBef>
              <a:buClr>
                <a:srgbClr val="133768"/>
              </a:buClr>
              <a:buFont typeface="Arial MT"/>
              <a:buAutoNum type="arabicPeriod"/>
              <a:tabLst>
                <a:tab pos="176530" algn="l"/>
              </a:tabLst>
            </a:pPr>
            <a:r>
              <a:rPr sz="900" b="1" dirty="0">
                <a:latin typeface="Arial"/>
                <a:cs typeface="Arial"/>
              </a:rPr>
              <a:t>Requirement</a:t>
            </a:r>
            <a:r>
              <a:rPr sz="900" b="1" spc="-5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Analysis: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Identify disaster-</a:t>
            </a:r>
            <a:r>
              <a:rPr sz="900" dirty="0">
                <a:latin typeface="Arial MT"/>
                <a:cs typeface="Arial MT"/>
              </a:rPr>
              <a:t>response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requirements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 </a:t>
            </a:r>
            <a:r>
              <a:rPr sz="900" dirty="0">
                <a:latin typeface="Arial MT"/>
                <a:cs typeface="Arial MT"/>
              </a:rPr>
              <a:t>system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features</a:t>
            </a:r>
            <a:endParaRPr sz="900">
              <a:latin typeface="Arial MT"/>
              <a:cs typeface="Arial MT"/>
            </a:endParaRPr>
          </a:p>
          <a:p>
            <a:pPr marL="176530" marR="152400" indent="-16446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Arial MT"/>
              <a:buAutoNum type="arabicPeriod"/>
              <a:tabLst>
                <a:tab pos="176530" algn="l"/>
              </a:tabLst>
            </a:pPr>
            <a:r>
              <a:rPr sz="900" b="1" dirty="0">
                <a:latin typeface="Arial"/>
                <a:cs typeface="Arial"/>
              </a:rPr>
              <a:t>System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Design:</a:t>
            </a:r>
            <a:r>
              <a:rPr sz="900" b="1" spc="2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Design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architecture, </a:t>
            </a:r>
            <a:r>
              <a:rPr sz="900" dirty="0">
                <a:latin typeface="Arial MT"/>
                <a:cs typeface="Arial MT"/>
              </a:rPr>
              <a:t>data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structures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algorithms</a:t>
            </a:r>
            <a:endParaRPr sz="900">
              <a:latin typeface="Arial MT"/>
              <a:cs typeface="Arial MT"/>
            </a:endParaRPr>
          </a:p>
          <a:p>
            <a:pPr marL="176530" marR="5080" indent="-164465">
              <a:lnSpc>
                <a:spcPct val="101499"/>
              </a:lnSpc>
              <a:spcBef>
                <a:spcPts val="245"/>
              </a:spcBef>
              <a:buClr>
                <a:srgbClr val="133768"/>
              </a:buClr>
              <a:buFont typeface="Arial MT"/>
              <a:buAutoNum type="arabicPeriod"/>
              <a:tabLst>
                <a:tab pos="176530" algn="l"/>
              </a:tabLst>
            </a:pPr>
            <a:r>
              <a:rPr sz="900" b="1" dirty="0">
                <a:latin typeface="Arial"/>
                <a:cs typeface="Arial"/>
              </a:rPr>
              <a:t>Implementation:</a:t>
            </a:r>
            <a:r>
              <a:rPr sz="900" b="1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Develop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C++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core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 </a:t>
            </a:r>
            <a:r>
              <a:rPr sz="900" dirty="0">
                <a:latin typeface="Arial MT"/>
                <a:cs typeface="Arial MT"/>
              </a:rPr>
              <a:t>supporting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modules</a:t>
            </a:r>
            <a:endParaRPr sz="900">
              <a:latin typeface="Arial MT"/>
              <a:cs typeface="Arial MT"/>
            </a:endParaRPr>
          </a:p>
          <a:p>
            <a:pPr marL="176530" marR="276225" indent="-16446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Arial MT"/>
              <a:buAutoNum type="arabicPeriod"/>
              <a:tabLst>
                <a:tab pos="176530" algn="l"/>
              </a:tabLst>
            </a:pPr>
            <a:r>
              <a:rPr sz="900" b="1" dirty="0">
                <a:latin typeface="Arial"/>
                <a:cs typeface="Arial"/>
              </a:rPr>
              <a:t>Testing: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 MT"/>
                <a:cs typeface="Arial MT"/>
              </a:rPr>
              <a:t>Test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routes,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priorities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 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allocation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using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scenarios</a:t>
            </a:r>
            <a:endParaRPr sz="900">
              <a:latin typeface="Arial MT"/>
              <a:cs typeface="Arial MT"/>
            </a:endParaRPr>
          </a:p>
          <a:p>
            <a:pPr marL="176530" marR="297815" indent="-164465">
              <a:lnSpc>
                <a:spcPct val="101499"/>
              </a:lnSpc>
              <a:spcBef>
                <a:spcPts val="250"/>
              </a:spcBef>
              <a:buClr>
                <a:srgbClr val="133768"/>
              </a:buClr>
              <a:buFont typeface="Arial MT"/>
              <a:buAutoNum type="arabicPeriod"/>
              <a:tabLst>
                <a:tab pos="176530" algn="l"/>
              </a:tabLst>
            </a:pPr>
            <a:r>
              <a:rPr sz="900" b="1" dirty="0">
                <a:latin typeface="Arial"/>
                <a:cs typeface="Arial"/>
              </a:rPr>
              <a:t>Evaluation:</a:t>
            </a:r>
            <a:r>
              <a:rPr sz="900" b="1" spc="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Assess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route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safety, </a:t>
            </a:r>
            <a:r>
              <a:rPr sz="900" dirty="0">
                <a:latin typeface="Arial MT"/>
                <a:cs typeface="Arial MT"/>
              </a:rPr>
              <a:t>efficiency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system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performance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95502" y="3038505"/>
            <a:ext cx="43694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600" spc="-20" dirty="0">
                <a:latin typeface="Arial MT"/>
                <a:cs typeface="Arial MT"/>
              </a:rPr>
              <a:t>Technology</a:t>
            </a:r>
            <a:r>
              <a:rPr lang="en-US" sz="600" spc="20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choices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dirty="0">
                <a:latin typeface="Arial MT"/>
                <a:cs typeface="Arial MT"/>
              </a:rPr>
              <a:t>support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dirty="0">
                <a:latin typeface="Arial MT"/>
                <a:cs typeface="Arial MT"/>
              </a:rPr>
              <a:t>efficient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algorithmic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processing,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modular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development,</a:t>
            </a:r>
            <a:r>
              <a:rPr lang="en-US" sz="600" spc="20" dirty="0">
                <a:latin typeface="Arial MT"/>
                <a:cs typeface="Arial MT"/>
              </a:rPr>
              <a:t> </a:t>
            </a:r>
            <a:r>
              <a:rPr lang="en-US" sz="600" dirty="0">
                <a:latin typeface="Arial MT"/>
                <a:cs typeface="Arial MT"/>
              </a:rPr>
              <a:t>and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scalable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disaster-response</a:t>
            </a:r>
            <a:r>
              <a:rPr lang="en-US" sz="600" spc="25" dirty="0">
                <a:latin typeface="Arial MT"/>
                <a:cs typeface="Arial MT"/>
              </a:rPr>
              <a:t> </a:t>
            </a:r>
            <a:r>
              <a:rPr lang="en-US" sz="600" spc="-10" dirty="0">
                <a:latin typeface="Arial MT"/>
                <a:cs typeface="Arial MT"/>
              </a:rPr>
              <a:t>management.</a:t>
            </a:r>
            <a:endParaRPr lang="en-US" sz="600" dirty="0">
              <a:latin typeface="Arial MT"/>
              <a:cs typeface="Arial MT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8</a:t>
            </a:fld>
            <a:r>
              <a:rPr spc="-10" dirty="0"/>
              <a:t>/10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37AEDA-1D32-2793-A1AE-2E327094A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0" y="22676"/>
            <a:ext cx="499567" cy="372816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Initial</a:t>
            </a:r>
            <a:r>
              <a:rPr spc="50" dirty="0"/>
              <a:t> </a:t>
            </a:r>
            <a:r>
              <a:rPr dirty="0"/>
              <a:t>Progress</a:t>
            </a:r>
            <a:r>
              <a:rPr spc="55" dirty="0"/>
              <a:t> </a:t>
            </a:r>
            <a:r>
              <a:rPr dirty="0"/>
              <a:t>&amp;</a:t>
            </a:r>
            <a:r>
              <a:rPr spc="55" dirty="0"/>
              <a:t> </a:t>
            </a:r>
            <a:r>
              <a:rPr dirty="0"/>
              <a:t>Team</a:t>
            </a:r>
            <a:r>
              <a:rPr spc="55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1894" y="904929"/>
            <a:ext cx="2185670" cy="211328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Progress</a:t>
            </a:r>
            <a:r>
              <a:rPr sz="900" b="1" spc="1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Achieved</a:t>
            </a:r>
            <a:endParaRPr sz="900">
              <a:latin typeface="Arial"/>
              <a:cs typeface="Arial"/>
            </a:endParaRPr>
          </a:p>
          <a:p>
            <a:pPr marL="314960" marR="370840" indent="-15811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Literature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Study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Reviewed disaster-</a:t>
            </a:r>
            <a:r>
              <a:rPr sz="900" dirty="0">
                <a:latin typeface="Arial MT"/>
                <a:cs typeface="Arial MT"/>
              </a:rPr>
              <a:t>response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and</a:t>
            </a:r>
            <a:endParaRPr sz="900">
              <a:latin typeface="Arial MT"/>
              <a:cs typeface="Arial MT"/>
            </a:endParaRPr>
          </a:p>
          <a:p>
            <a:pPr marL="314960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Arial MT"/>
                <a:cs typeface="Arial MT"/>
              </a:rPr>
              <a:t>route-</a:t>
            </a:r>
            <a:r>
              <a:rPr sz="900" dirty="0">
                <a:latin typeface="Arial MT"/>
                <a:cs typeface="Arial MT"/>
              </a:rPr>
              <a:t>optimization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concepts.</a:t>
            </a:r>
            <a:endParaRPr sz="900">
              <a:latin typeface="Arial MT"/>
              <a:cs typeface="Arial MT"/>
            </a:endParaRPr>
          </a:p>
          <a:p>
            <a:pPr marL="314960" marR="64769" indent="-158115">
              <a:lnSpc>
                <a:spcPct val="101499"/>
              </a:lnSpc>
              <a:spcBef>
                <a:spcPts val="34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Requirements</a:t>
            </a:r>
            <a:r>
              <a:rPr sz="900" b="1" dirty="0">
                <a:latin typeface="Arial"/>
                <a:cs typeface="Arial"/>
              </a:rPr>
              <a:t> Defined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Identified evacuation,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risk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rescue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needs.</a:t>
            </a:r>
            <a:endParaRPr sz="900">
              <a:latin typeface="Arial MT"/>
              <a:cs typeface="Arial MT"/>
            </a:endParaRPr>
          </a:p>
          <a:p>
            <a:pPr marL="314960" marR="55244" indent="-158115">
              <a:lnSpc>
                <a:spcPct val="101499"/>
              </a:lnSpc>
              <a:spcBef>
                <a:spcPts val="3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Architecture </a:t>
            </a:r>
            <a:r>
              <a:rPr sz="900" b="1" dirty="0">
                <a:latin typeface="Arial"/>
                <a:cs typeface="Arial"/>
              </a:rPr>
              <a:t>Designed</a:t>
            </a:r>
            <a:r>
              <a:rPr sz="900" b="1" spc="-10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Prepared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dynamic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graph-</a:t>
            </a:r>
            <a:r>
              <a:rPr sz="900" dirty="0">
                <a:latin typeface="Arial MT"/>
                <a:cs typeface="Arial MT"/>
              </a:rPr>
              <a:t>based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system architecture.</a:t>
            </a:r>
            <a:endParaRPr sz="900">
              <a:latin typeface="Arial MT"/>
              <a:cs typeface="Arial MT"/>
            </a:endParaRPr>
          </a:p>
          <a:p>
            <a:pPr marL="314960" marR="30480" indent="-158115">
              <a:lnSpc>
                <a:spcPct val="101499"/>
              </a:lnSpc>
              <a:spcBef>
                <a:spcPts val="3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Initial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Module</a:t>
            </a:r>
            <a:r>
              <a:rPr sz="900" b="1" spc="-1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Developed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Started </a:t>
            </a:r>
            <a:r>
              <a:rPr sz="900" dirty="0">
                <a:latin typeface="Arial MT"/>
                <a:cs typeface="Arial MT"/>
              </a:rPr>
              <a:t>C++ </a:t>
            </a:r>
            <a:r>
              <a:rPr sz="900" spc="-10" dirty="0">
                <a:latin typeface="Arial MT"/>
                <a:cs typeface="Arial MT"/>
              </a:rPr>
              <a:t>implementation</a:t>
            </a:r>
            <a:r>
              <a:rPr sz="900" dirty="0">
                <a:latin typeface="Arial MT"/>
                <a:cs typeface="Arial MT"/>
              </a:rPr>
              <a:t> with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core </a:t>
            </a:r>
            <a:r>
              <a:rPr sz="900" spc="-20" dirty="0">
                <a:latin typeface="Arial MT"/>
                <a:cs typeface="Arial MT"/>
              </a:rPr>
              <a:t>DSA.</a:t>
            </a:r>
            <a:endParaRPr sz="900">
              <a:latin typeface="Arial MT"/>
              <a:cs typeface="Arial MT"/>
            </a:endParaRPr>
          </a:p>
          <a:p>
            <a:pPr marL="314960" marR="75565" indent="-158115">
              <a:lnSpc>
                <a:spcPct val="101499"/>
              </a:lnSpc>
              <a:spcBef>
                <a:spcPts val="34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Data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Prepared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Organized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road, </a:t>
            </a:r>
            <a:r>
              <a:rPr sz="900" dirty="0">
                <a:latin typeface="Arial MT"/>
                <a:cs typeface="Arial MT"/>
              </a:rPr>
              <a:t>risk,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emergency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data.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5729" y="901508"/>
            <a:ext cx="2763520" cy="3479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  <a:tabLst>
                <a:tab pos="2750185" algn="l"/>
              </a:tabLst>
            </a:pP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I</a:t>
            </a:r>
            <a:r>
              <a:rPr sz="9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ndividual</a:t>
            </a:r>
            <a:r>
              <a:rPr sz="900" b="1" u="sng" spc="-5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900" b="1" u="sng" spc="-10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Contribution</a:t>
            </a:r>
            <a:r>
              <a:rPr sz="900" b="1" u="sng" dirty="0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295"/>
              </a:spcBef>
              <a:tabLst>
                <a:tab pos="792480" algn="l"/>
                <a:tab pos="1628139" algn="l"/>
              </a:tabLst>
            </a:pPr>
            <a:r>
              <a:rPr sz="600" spc="-10" dirty="0">
                <a:latin typeface="Arial MT"/>
                <a:cs typeface="Arial MT"/>
              </a:rPr>
              <a:t>Member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20" dirty="0">
                <a:latin typeface="Arial MT"/>
                <a:cs typeface="Arial MT"/>
              </a:rPr>
              <a:t>Role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600" spc="-10" dirty="0">
                <a:latin typeface="Arial MT"/>
                <a:cs typeface="Arial MT"/>
              </a:rPr>
              <a:t>Contribution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94533" y="1279677"/>
            <a:ext cx="2721610" cy="0"/>
          </a:xfrm>
          <a:custGeom>
            <a:avLst/>
            <a:gdLst/>
            <a:ahLst/>
            <a:cxnLst/>
            <a:rect l="l" t="t" r="r" b="b"/>
            <a:pathLst>
              <a:path w="2721610">
                <a:moveTo>
                  <a:pt x="0" y="0"/>
                </a:moveTo>
                <a:lnTo>
                  <a:pt x="2721571" y="0"/>
                </a:lnTo>
              </a:path>
            </a:pathLst>
          </a:custGeom>
          <a:ln w="68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681833" y="1305818"/>
            <a:ext cx="4724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Parv</a:t>
            </a:r>
            <a:r>
              <a:rPr sz="600" spc="-3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Gautam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1833" y="1496242"/>
            <a:ext cx="5359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Kashish</a:t>
            </a:r>
            <a:r>
              <a:rPr sz="600" spc="2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Rajput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5662" y="1305818"/>
            <a:ext cx="709930" cy="3956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dirty="0">
                <a:latin typeface="Arial MT"/>
                <a:cs typeface="Arial MT"/>
              </a:rPr>
              <a:t>System</a:t>
            </a:r>
            <a:r>
              <a:rPr sz="600" spc="9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&amp;</a:t>
            </a:r>
            <a:r>
              <a:rPr sz="600" spc="9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Architec-</a:t>
            </a:r>
            <a:r>
              <a:rPr sz="600" dirty="0">
                <a:latin typeface="Arial MT"/>
                <a:cs typeface="Arial MT"/>
              </a:rPr>
              <a:t>ture</a:t>
            </a:r>
            <a:r>
              <a:rPr sz="600" spc="-20" dirty="0">
                <a:latin typeface="Arial MT"/>
                <a:cs typeface="Arial MT"/>
              </a:rPr>
              <a:t> Lead</a:t>
            </a:r>
            <a:endParaRPr sz="600">
              <a:latin typeface="Arial MT"/>
              <a:cs typeface="Arial MT"/>
            </a:endParaRPr>
          </a:p>
          <a:p>
            <a:pPr marL="12700" marR="5080">
              <a:lnSpc>
                <a:spcPts val="7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Database</a:t>
            </a:r>
            <a:r>
              <a:rPr sz="600" spc="16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&amp;</a:t>
            </a:r>
            <a:r>
              <a:rPr sz="600" spc="16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Docu-mentation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1833" y="1775223"/>
            <a:ext cx="6121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Harsh</a:t>
            </a:r>
            <a:r>
              <a:rPr sz="600" spc="-4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Raunchela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45695" y="1775223"/>
            <a:ext cx="6172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Algorithm</a:t>
            </a:r>
            <a:r>
              <a:rPr sz="600" spc="-4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Analyst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81833" y="2054217"/>
            <a:ext cx="528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</a:rPr>
              <a:t>Piyush</a:t>
            </a:r>
            <a:r>
              <a:rPr sz="600" spc="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Maurya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45662" y="2054217"/>
            <a:ext cx="709930" cy="20510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700"/>
              </a:lnSpc>
              <a:spcBef>
                <a:spcPts val="135"/>
              </a:spcBef>
            </a:pPr>
            <a:r>
              <a:rPr sz="600" dirty="0">
                <a:latin typeface="Arial MT"/>
                <a:cs typeface="Arial MT"/>
              </a:rPr>
              <a:t>Research</a:t>
            </a:r>
            <a:r>
              <a:rPr sz="600" spc="8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&amp;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Project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Planning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1487" y="1305818"/>
            <a:ext cx="1147445" cy="95376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4099"/>
              </a:lnSpc>
              <a:spcBef>
                <a:spcPts val="65"/>
              </a:spcBef>
            </a:pPr>
            <a:r>
              <a:rPr sz="600" dirty="0">
                <a:latin typeface="Arial MT"/>
                <a:cs typeface="Arial MT"/>
              </a:rPr>
              <a:t>System</a:t>
            </a:r>
            <a:r>
              <a:rPr sz="600" spc="-1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Architecture,</a:t>
            </a:r>
            <a:r>
              <a:rPr sz="600" spc="-1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-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Struc-</a:t>
            </a:r>
            <a:r>
              <a:rPr sz="600" dirty="0">
                <a:latin typeface="Arial MT"/>
                <a:cs typeface="Arial MT"/>
              </a:rPr>
              <a:t>ture</a:t>
            </a:r>
            <a:r>
              <a:rPr sz="600" spc="-10" dirty="0">
                <a:latin typeface="Arial MT"/>
                <a:cs typeface="Arial MT"/>
              </a:rPr>
              <a:t> Planning,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Route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Design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Database</a:t>
            </a:r>
            <a:r>
              <a:rPr sz="600" spc="2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Planning,</a:t>
            </a:r>
            <a:r>
              <a:rPr sz="600" spc="3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Data</a:t>
            </a:r>
            <a:r>
              <a:rPr sz="600" spc="280" dirty="0">
                <a:latin typeface="Arial MT"/>
                <a:cs typeface="Arial MT"/>
              </a:rPr>
              <a:t> </a:t>
            </a:r>
            <a:r>
              <a:rPr sz="600" spc="-25" dirty="0">
                <a:latin typeface="Arial MT"/>
                <a:cs typeface="Arial MT"/>
              </a:rPr>
              <a:t>Re-</a:t>
            </a:r>
            <a:endParaRPr sz="600">
              <a:latin typeface="Arial MT"/>
              <a:cs typeface="Arial MT"/>
            </a:endParaRPr>
          </a:p>
          <a:p>
            <a:pPr marL="12700" marR="5080" algn="just">
              <a:lnSpc>
                <a:spcPts val="700"/>
              </a:lnSpc>
              <a:spcBef>
                <a:spcPts val="20"/>
              </a:spcBef>
            </a:pPr>
            <a:r>
              <a:rPr sz="600" dirty="0">
                <a:latin typeface="Arial MT"/>
                <a:cs typeface="Arial MT"/>
              </a:rPr>
              <a:t>quirements,</a:t>
            </a:r>
            <a:r>
              <a:rPr sz="600" spc="-1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Technical</a:t>
            </a:r>
            <a:r>
              <a:rPr sz="600" spc="-2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Documen-tation</a:t>
            </a:r>
            <a:endParaRPr sz="600">
              <a:latin typeface="Arial MT"/>
              <a:cs typeface="Arial MT"/>
            </a:endParaRPr>
          </a:p>
          <a:p>
            <a:pPr marL="12700" marR="5080" algn="just">
              <a:lnSpc>
                <a:spcPts val="7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Algorithm</a:t>
            </a:r>
            <a:r>
              <a:rPr sz="600" spc="7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Research,</a:t>
            </a:r>
            <a:r>
              <a:rPr sz="600" spc="1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Risk-</a:t>
            </a:r>
            <a:r>
              <a:rPr sz="600" spc="-20" dirty="0">
                <a:latin typeface="Arial MT"/>
                <a:cs typeface="Arial MT"/>
              </a:rPr>
              <a:t>Aware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Routing</a:t>
            </a:r>
            <a:r>
              <a:rPr sz="600" spc="4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Design,</a:t>
            </a:r>
            <a:r>
              <a:rPr sz="600" spc="190" dirty="0">
                <a:latin typeface="Arial MT"/>
                <a:cs typeface="Arial MT"/>
              </a:rPr>
              <a:t>  </a:t>
            </a:r>
            <a:r>
              <a:rPr sz="600" spc="-10" dirty="0">
                <a:latin typeface="Arial MT"/>
                <a:cs typeface="Arial MT"/>
              </a:rPr>
              <a:t>Optimization</a:t>
            </a:r>
            <a:r>
              <a:rPr sz="600" spc="50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Planning</a:t>
            </a:r>
            <a:endParaRPr sz="600">
              <a:latin typeface="Arial MT"/>
              <a:cs typeface="Arial MT"/>
            </a:endParaRPr>
          </a:p>
          <a:p>
            <a:pPr marL="12700" marR="5080" algn="just">
              <a:lnSpc>
                <a:spcPts val="7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Literature Research, </a:t>
            </a:r>
            <a:r>
              <a:rPr sz="600" spc="-10" dirty="0">
                <a:latin typeface="Arial MT"/>
                <a:cs typeface="Arial MT"/>
              </a:rPr>
              <a:t>Require-</a:t>
            </a:r>
            <a:r>
              <a:rPr sz="600" dirty="0">
                <a:latin typeface="Arial MT"/>
                <a:cs typeface="Arial MT"/>
              </a:rPr>
              <a:t>ment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Analysis,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Project </a:t>
            </a:r>
            <a:r>
              <a:rPr sz="600" spc="-10" dirty="0">
                <a:latin typeface="Arial MT"/>
                <a:cs typeface="Arial MT"/>
              </a:rPr>
              <a:t>Planning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694533" y="2292095"/>
            <a:ext cx="2721610" cy="0"/>
          </a:xfrm>
          <a:custGeom>
            <a:avLst/>
            <a:gdLst/>
            <a:ahLst/>
            <a:cxnLst/>
            <a:rect l="l" t="t" r="r" b="b"/>
            <a:pathLst>
              <a:path w="2721610">
                <a:moveTo>
                  <a:pt x="0" y="0"/>
                </a:moveTo>
                <a:lnTo>
                  <a:pt x="2721571" y="0"/>
                </a:lnTo>
              </a:path>
            </a:pathLst>
          </a:custGeom>
          <a:ln w="110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9</a:t>
            </a:fld>
            <a:r>
              <a:rPr spc="-10" dirty="0"/>
              <a:t>/10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3741A7D-F4DA-863E-C0A6-7F8451260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0" y="-2054"/>
            <a:ext cx="485210" cy="40801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09387" y="108767"/>
            <a:ext cx="3479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Georgia"/>
                <a:cs typeface="Georgia"/>
              </a:rPr>
              <a:t>graphice</a:t>
            </a:r>
            <a:endParaRPr sz="600">
              <a:latin typeface="Georgia"/>
              <a:cs typeface="Georg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00979" y="71031"/>
            <a:ext cx="223520" cy="223520"/>
            <a:chOff x="5400979" y="71031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400979" y="291693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1629" y="71031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Roadmap,</a:t>
            </a:r>
            <a:r>
              <a:rPr spc="105" dirty="0"/>
              <a:t> </a:t>
            </a:r>
            <a:r>
              <a:rPr dirty="0"/>
              <a:t>Expected</a:t>
            </a:r>
            <a:r>
              <a:rPr spc="110" dirty="0"/>
              <a:t> </a:t>
            </a:r>
            <a:r>
              <a:rPr dirty="0"/>
              <a:t>Outcomes</a:t>
            </a:r>
            <a:r>
              <a:rPr spc="110" dirty="0"/>
              <a:t> </a:t>
            </a:r>
            <a:r>
              <a:rPr dirty="0"/>
              <a:t>&amp;</a:t>
            </a:r>
            <a:r>
              <a:rPr spc="110" dirty="0"/>
              <a:t> </a:t>
            </a:r>
            <a:r>
              <a:rPr spc="-10" dirty="0"/>
              <a:t>References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2446" y="706239"/>
            <a:ext cx="2445385" cy="229489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Roadmap</a:t>
            </a:r>
            <a:endParaRPr sz="900" dirty="0">
              <a:latin typeface="Arial"/>
              <a:cs typeface="Arial"/>
            </a:endParaRPr>
          </a:p>
          <a:p>
            <a:pPr marL="314325" indent="-163830">
              <a:lnSpc>
                <a:spcPct val="100000"/>
              </a:lnSpc>
              <a:spcBef>
                <a:spcPts val="414"/>
              </a:spcBef>
              <a:buClr>
                <a:srgbClr val="133768"/>
              </a:buClr>
              <a:buAutoNum type="arabicPeriod"/>
              <a:tabLst>
                <a:tab pos="314325" algn="l"/>
              </a:tabLst>
            </a:pPr>
            <a:r>
              <a:rPr sz="900" spc="-10" dirty="0">
                <a:latin typeface="Arial MT"/>
                <a:cs typeface="Arial MT"/>
              </a:rPr>
              <a:t>Phase-</a:t>
            </a:r>
            <a:r>
              <a:rPr sz="900" dirty="0">
                <a:latin typeface="Arial MT"/>
                <a:cs typeface="Arial MT"/>
              </a:rPr>
              <a:t>I: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Proposal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-10" dirty="0">
                <a:latin typeface="Arial MT"/>
                <a:cs typeface="Arial MT"/>
              </a:rPr>
              <a:t> Design</a:t>
            </a:r>
            <a:endParaRPr sz="900" dirty="0">
              <a:latin typeface="Arial MT"/>
              <a:cs typeface="Arial MT"/>
            </a:endParaRPr>
          </a:p>
          <a:p>
            <a:pPr marL="314325" indent="-163830">
              <a:lnSpc>
                <a:spcPct val="100000"/>
              </a:lnSpc>
              <a:spcBef>
                <a:spcPts val="365"/>
              </a:spcBef>
              <a:buClr>
                <a:srgbClr val="133768"/>
              </a:buClr>
              <a:buAutoNum type="arabicPeriod"/>
              <a:tabLst>
                <a:tab pos="314325" algn="l"/>
              </a:tabLst>
            </a:pPr>
            <a:r>
              <a:rPr sz="900" spc="-10" dirty="0">
                <a:latin typeface="Arial MT"/>
                <a:cs typeface="Arial MT"/>
              </a:rPr>
              <a:t>Phase-</a:t>
            </a:r>
            <a:r>
              <a:rPr sz="900" dirty="0">
                <a:latin typeface="Arial MT"/>
                <a:cs typeface="Arial MT"/>
              </a:rPr>
              <a:t>II: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Development</a:t>
            </a:r>
            <a:endParaRPr sz="900" dirty="0">
              <a:latin typeface="Arial MT"/>
              <a:cs typeface="Arial MT"/>
            </a:endParaRPr>
          </a:p>
          <a:p>
            <a:pPr marL="314325" indent="-163830">
              <a:lnSpc>
                <a:spcPct val="100000"/>
              </a:lnSpc>
              <a:spcBef>
                <a:spcPts val="360"/>
              </a:spcBef>
              <a:buClr>
                <a:srgbClr val="133768"/>
              </a:buClr>
              <a:buAutoNum type="arabicPeriod"/>
              <a:tabLst>
                <a:tab pos="314325" algn="l"/>
              </a:tabLst>
            </a:pPr>
            <a:r>
              <a:rPr sz="900" spc="-10" dirty="0">
                <a:latin typeface="Arial MT"/>
                <a:cs typeface="Arial MT"/>
              </a:rPr>
              <a:t>Phase-</a:t>
            </a:r>
            <a:r>
              <a:rPr sz="900" dirty="0">
                <a:latin typeface="Arial MT"/>
                <a:cs typeface="Arial MT"/>
              </a:rPr>
              <a:t>III: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Final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Implementation</a:t>
            </a:r>
            <a:endParaRPr sz="900" dirty="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900" b="1" dirty="0">
                <a:solidFill>
                  <a:srgbClr val="133768"/>
                </a:solidFill>
                <a:latin typeface="Arial"/>
                <a:cs typeface="Arial"/>
              </a:rPr>
              <a:t>Expected</a:t>
            </a:r>
            <a:r>
              <a:rPr sz="900" b="1" spc="-4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Outcomes</a:t>
            </a:r>
            <a:endParaRPr sz="900" dirty="0">
              <a:latin typeface="Arial"/>
              <a:cs typeface="Arial"/>
            </a:endParaRPr>
          </a:p>
          <a:p>
            <a:pPr marL="314960" marR="579120" lvl="1" indent="-158115">
              <a:lnSpc>
                <a:spcPct val="101499"/>
              </a:lnSpc>
              <a:spcBef>
                <a:spcPts val="4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Functional</a:t>
            </a:r>
            <a:r>
              <a:rPr sz="900" b="1" spc="-5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Prototype:</a:t>
            </a:r>
            <a:r>
              <a:rPr sz="900" b="1" spc="-10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Offline disaster-</a:t>
            </a:r>
            <a:r>
              <a:rPr sz="900" dirty="0">
                <a:latin typeface="Arial MT"/>
                <a:cs typeface="Arial MT"/>
              </a:rPr>
              <a:t>response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system.</a:t>
            </a:r>
            <a:endParaRPr sz="900" dirty="0">
              <a:latin typeface="Arial MT"/>
              <a:cs typeface="Arial MT"/>
            </a:endParaRPr>
          </a:p>
          <a:p>
            <a:pPr marL="314960" marR="30480" lvl="1" indent="-158115">
              <a:lnSpc>
                <a:spcPct val="101499"/>
              </a:lnSpc>
              <a:spcBef>
                <a:spcPts val="34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spc="-10" dirty="0">
                <a:latin typeface="Arial"/>
                <a:cs typeface="Arial"/>
              </a:rPr>
              <a:t>Risk-Aware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Routing:</a:t>
            </a:r>
            <a:r>
              <a:rPr sz="900" b="1" spc="25" dirty="0">
                <a:latin typeface="Arial"/>
                <a:cs typeface="Arial"/>
              </a:rPr>
              <a:t> </a:t>
            </a:r>
            <a:r>
              <a:rPr sz="900" dirty="0">
                <a:latin typeface="Arial MT"/>
                <a:cs typeface="Arial MT"/>
              </a:rPr>
              <a:t>Safer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routes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under </a:t>
            </a:r>
            <a:r>
              <a:rPr sz="900" dirty="0">
                <a:latin typeface="Arial MT"/>
                <a:cs typeface="Arial MT"/>
              </a:rPr>
              <a:t>changing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conditions.</a:t>
            </a:r>
            <a:endParaRPr sz="900" dirty="0">
              <a:latin typeface="Arial MT"/>
              <a:cs typeface="Arial MT"/>
            </a:endParaRPr>
          </a:p>
          <a:p>
            <a:pPr marL="314960" marR="313690" lvl="1" indent="-158115">
              <a:lnSpc>
                <a:spcPct val="101499"/>
              </a:lnSpc>
              <a:spcBef>
                <a:spcPts val="3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Efficient</a:t>
            </a:r>
            <a:r>
              <a:rPr sz="900" b="1" spc="-1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Response:</a:t>
            </a:r>
            <a:r>
              <a:rPr sz="900" b="1" spc="5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Priority-based </a:t>
            </a:r>
            <a:r>
              <a:rPr sz="900" dirty="0">
                <a:latin typeface="Arial MT"/>
                <a:cs typeface="Arial MT"/>
              </a:rPr>
              <a:t>rescue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resource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allocation.</a:t>
            </a:r>
            <a:endParaRPr sz="900" dirty="0">
              <a:latin typeface="Arial MT"/>
              <a:cs typeface="Arial MT"/>
            </a:endParaRPr>
          </a:p>
          <a:p>
            <a:pPr marL="314960" marR="404495" lvl="1" indent="-158115">
              <a:lnSpc>
                <a:spcPct val="101499"/>
              </a:lnSpc>
              <a:spcBef>
                <a:spcPts val="35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900" b="1" dirty="0">
                <a:latin typeface="Arial"/>
                <a:cs typeface="Arial"/>
              </a:rPr>
              <a:t>Scalability:</a:t>
            </a:r>
            <a:r>
              <a:rPr sz="900" b="1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 MT"/>
                <a:cs typeface="Arial MT"/>
              </a:rPr>
              <a:t>Adaptable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different </a:t>
            </a:r>
            <a:r>
              <a:rPr sz="900" dirty="0">
                <a:latin typeface="Arial MT"/>
                <a:cs typeface="Arial MT"/>
              </a:rPr>
              <a:t>disaster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scenarios.</a:t>
            </a:r>
            <a:endParaRPr sz="9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8497" y="884711"/>
            <a:ext cx="2207895" cy="151257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b="1" spc="-10" dirty="0">
                <a:solidFill>
                  <a:srgbClr val="133768"/>
                </a:solidFill>
                <a:latin typeface="Arial"/>
                <a:cs typeface="Arial"/>
              </a:rPr>
              <a:t>References</a:t>
            </a:r>
            <a:endParaRPr sz="900">
              <a:latin typeface="Arial"/>
              <a:cs typeface="Arial"/>
            </a:endParaRPr>
          </a:p>
          <a:p>
            <a:pPr marL="288925" indent="-163830">
              <a:lnSpc>
                <a:spcPct val="100000"/>
              </a:lnSpc>
              <a:spcBef>
                <a:spcPts val="414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900" dirty="0">
                <a:latin typeface="Arial MT"/>
                <a:cs typeface="Arial MT"/>
              </a:rPr>
              <a:t>Cormen,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Leiserson,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Rivest,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Stein,</a:t>
            </a:r>
            <a:endParaRPr sz="9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15"/>
              </a:spcBef>
            </a:pPr>
            <a:r>
              <a:rPr sz="900" i="1" dirty="0">
                <a:latin typeface="Arial"/>
                <a:cs typeface="Arial"/>
              </a:rPr>
              <a:t>Introduction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Algorithms</a:t>
            </a:r>
            <a:r>
              <a:rPr sz="900" dirty="0">
                <a:latin typeface="Arial MT"/>
                <a:cs typeface="Arial MT"/>
              </a:rPr>
              <a:t>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MIT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Press.</a:t>
            </a:r>
            <a:endParaRPr sz="900">
              <a:latin typeface="Arial MT"/>
              <a:cs typeface="Arial MT"/>
            </a:endParaRPr>
          </a:p>
          <a:p>
            <a:pPr marL="289560" marR="26670" indent="-164465">
              <a:lnSpc>
                <a:spcPct val="101499"/>
              </a:lnSpc>
              <a:spcBef>
                <a:spcPts val="345"/>
              </a:spcBef>
              <a:buClr>
                <a:srgbClr val="133768"/>
              </a:buClr>
              <a:buAutoNum type="arabicPeriod" startAt="2"/>
              <a:tabLst>
                <a:tab pos="289560" algn="l"/>
              </a:tabLst>
            </a:pPr>
            <a:r>
              <a:rPr sz="900" spc="-10" dirty="0">
                <a:latin typeface="Arial MT"/>
                <a:cs typeface="Arial MT"/>
              </a:rPr>
              <a:t>GeeksforGeeks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Graph,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Dijkstra’s </a:t>
            </a:r>
            <a:r>
              <a:rPr sz="900" dirty="0">
                <a:latin typeface="Arial MT"/>
                <a:cs typeface="Arial MT"/>
              </a:rPr>
              <a:t>Algorithm,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A*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Search,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Priority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Queue, </a:t>
            </a:r>
            <a:r>
              <a:rPr sz="900" dirty="0">
                <a:latin typeface="Arial MT"/>
                <a:cs typeface="Arial MT"/>
              </a:rPr>
              <a:t>Min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Heap.</a:t>
            </a:r>
            <a:endParaRPr sz="900">
              <a:latin typeface="Arial MT"/>
              <a:cs typeface="Arial MT"/>
            </a:endParaRPr>
          </a:p>
          <a:p>
            <a:pPr marL="289560" marR="510540" indent="-164465">
              <a:lnSpc>
                <a:spcPct val="101499"/>
              </a:lnSpc>
              <a:spcBef>
                <a:spcPts val="350"/>
              </a:spcBef>
              <a:buClr>
                <a:srgbClr val="133768"/>
              </a:buClr>
              <a:buAutoNum type="arabicPeriod" startAt="2"/>
              <a:tabLst>
                <a:tab pos="289560" algn="l"/>
              </a:tabLst>
            </a:pPr>
            <a:r>
              <a:rPr sz="900" spc="-10" dirty="0">
                <a:latin typeface="Arial MT"/>
                <a:cs typeface="Arial MT"/>
              </a:rPr>
              <a:t>OpenStreetMap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&amp;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Leaflet.js Documentation.</a:t>
            </a:r>
            <a:endParaRPr sz="900">
              <a:latin typeface="Arial MT"/>
              <a:cs typeface="Arial MT"/>
            </a:endParaRPr>
          </a:p>
          <a:p>
            <a:pPr marL="288925" indent="-163830">
              <a:lnSpc>
                <a:spcPct val="100000"/>
              </a:lnSpc>
              <a:spcBef>
                <a:spcPts val="365"/>
              </a:spcBef>
              <a:buClr>
                <a:srgbClr val="133768"/>
              </a:buClr>
              <a:buAutoNum type="arabicPeriod" startAt="2"/>
              <a:tabLst>
                <a:tab pos="288925" algn="l"/>
              </a:tabLst>
            </a:pPr>
            <a:r>
              <a:rPr sz="900" spc="-10" dirty="0">
                <a:latin typeface="Arial MT"/>
                <a:cs typeface="Arial MT"/>
              </a:rPr>
              <a:t>Scikit-</a:t>
            </a:r>
            <a:r>
              <a:rPr sz="900" dirty="0">
                <a:latin typeface="Arial MT"/>
                <a:cs typeface="Arial MT"/>
              </a:rPr>
              <a:t>learn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Documentation.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53803" y="2648775"/>
            <a:ext cx="1924050" cy="321310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3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0"/>
              </a:spcBef>
            </a:pPr>
            <a:r>
              <a:rPr sz="90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9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1" spc="-2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Questions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 MT"/>
                <a:cs typeface="Arial MT"/>
              </a:rPr>
              <a:t>Suggestions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/>
              <a:t>Department</a:t>
            </a:r>
            <a:r>
              <a:rPr spc="-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Computer </a:t>
            </a:r>
            <a:r>
              <a:rPr spc="-10" dirty="0"/>
              <a:t>Science</a:t>
            </a:r>
            <a:r>
              <a:rPr spc="-5" dirty="0"/>
              <a:t> </a:t>
            </a:r>
            <a:r>
              <a:rPr dirty="0"/>
              <a:t>&amp; </a:t>
            </a:r>
            <a:r>
              <a:rPr spc="-10" dirty="0"/>
              <a:t>Engineering</a:t>
            </a:r>
            <a:r>
              <a:rPr spc="-5" dirty="0"/>
              <a:t> </a:t>
            </a:r>
            <a:r>
              <a:rPr dirty="0"/>
              <a:t>|</a:t>
            </a:r>
            <a:r>
              <a:rPr spc="-5" dirty="0"/>
              <a:t> </a:t>
            </a:r>
            <a:r>
              <a:rPr spc="-10" dirty="0"/>
              <a:t>Graphic</a:t>
            </a:r>
            <a:r>
              <a:rPr dirty="0"/>
              <a:t> Era</a:t>
            </a:r>
            <a:r>
              <a:rPr spc="-5" dirty="0"/>
              <a:t> </a:t>
            </a:r>
            <a:r>
              <a:rPr spc="-10" dirty="0"/>
              <a:t>(Deemed</a:t>
            </a:r>
            <a:r>
              <a:rPr dirty="0"/>
              <a:t> to</a:t>
            </a:r>
            <a:r>
              <a:rPr spc="-5" dirty="0"/>
              <a:t> </a:t>
            </a:r>
            <a:r>
              <a:rPr dirty="0"/>
              <a:t>be</a:t>
            </a:r>
            <a:r>
              <a:rPr spc="-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3D7624-8BDE-E12D-2E3E-5FCB720F0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00" y="37302"/>
            <a:ext cx="464893" cy="36592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1070</Words>
  <Application>Microsoft Office PowerPoint</Application>
  <PresentationFormat>Custom</PresentationFormat>
  <Paragraphs>164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MT</vt:lpstr>
      <vt:lpstr>Calibri</vt:lpstr>
      <vt:lpstr>Georgia</vt:lpstr>
      <vt:lpstr>Lucida Sans Unicode</vt:lpstr>
      <vt:lpstr>Office Theme</vt:lpstr>
      <vt:lpstr>PROJECT-BASED LEARNING</vt:lpstr>
      <vt:lpstr>Team &amp; Mentor Details</vt:lpstr>
      <vt:lpstr>Problem Statement &amp; Motivation</vt:lpstr>
      <vt:lpstr>Objectives</vt:lpstr>
      <vt:lpstr>Proposed Solution</vt:lpstr>
      <vt:lpstr>Integration of PBL Course Concepts</vt:lpstr>
      <vt:lpstr>System Architecture / Workflow</vt:lpstr>
      <vt:lpstr>Technology Stack &amp; Methodology</vt:lpstr>
      <vt:lpstr>Initial Progress &amp; Team Contribution</vt:lpstr>
      <vt:lpstr>Roadmap, 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 Evaluation</dc:title>
  <dc:creator>Dynamic Disaster Risk, Evaluation &amp; Rescue Optimization SystemTeam ID: DSCPP-III-2026-T119</dc:creator>
  <cp:lastModifiedBy>Harsh Raunchela</cp:lastModifiedBy>
  <cp:revision>5</cp:revision>
  <dcterms:created xsi:type="dcterms:W3CDTF">2026-09-09T12:01:10Z</dcterms:created>
  <dcterms:modified xsi:type="dcterms:W3CDTF">2026-09-09T12:16:32Z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2026-09-09T00:00:00Z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2026-09-09T00:00:00Z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