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5765800" cy="3244850"/>
  <p:notesSz cx="5765800" cy="32448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0" d="100"/>
          <a:sy n="100" d="100"/>
        </p:scale>
        <p:origin x="58" y="85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435" y="1005903"/>
            <a:ext cx="4900930" cy="68141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864870" y="1817116"/>
            <a:ext cx="4036060" cy="8112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88290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969387" y="746315"/>
            <a:ext cx="2508123" cy="21416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401932" y="72605"/>
            <a:ext cx="0" cy="223520"/>
          </a:xfrm>
          <a:custGeom>
            <a:avLst/>
            <a:gdLst/>
            <a:ahLst/>
            <a:cxnLst/>
            <a:rect l="l" t="t" r="r" b="b"/>
            <a:pathLst>
              <a:path h="223520">
                <a:moveTo>
                  <a:pt x="0" y="223202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5399392" y="75145"/>
            <a:ext cx="223520" cy="0"/>
          </a:xfrm>
          <a:custGeom>
            <a:avLst/>
            <a:gdLst/>
            <a:ahLst/>
            <a:cxnLst/>
            <a:rect l="l" t="t" r="r" b="b"/>
            <a:pathLst>
              <a:path w="223520">
                <a:moveTo>
                  <a:pt x="0" y="0"/>
                </a:moveTo>
                <a:lnTo>
                  <a:pt x="223189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47294" y="302841"/>
            <a:ext cx="4304030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894" y="870045"/>
            <a:ext cx="2495550" cy="12147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1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5300" y="3133522"/>
            <a:ext cx="3115310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133768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88290" y="3017710"/>
            <a:ext cx="1326134" cy="1622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87002" y="3133522"/>
            <a:ext cx="278436" cy="102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0" i="0">
                <a:solidFill>
                  <a:srgbClr val="0E294E"/>
                </a:solidFill>
                <a:latin typeface="Arial"/>
                <a:cs typeface="Arial"/>
              </a:defRPr>
            </a:lvl1pPr>
          </a:lstStyle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‹#›</a:t>
            </a:fld>
            <a:r>
              <a:rPr spc="-20" dirty="0"/>
              <a:t>/15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0" y="-19"/>
            <a:ext cx="5760085" cy="0"/>
          </a:xfrm>
          <a:custGeom>
            <a:avLst/>
            <a:gdLst/>
            <a:ahLst/>
            <a:cxnLst/>
            <a:rect l="l" t="t" r="r" b="b"/>
            <a:pathLst>
              <a:path w="5760085">
                <a:moveTo>
                  <a:pt x="0" y="0"/>
                </a:moveTo>
                <a:lnTo>
                  <a:pt x="5760073" y="0"/>
                </a:lnTo>
              </a:path>
            </a:pathLst>
          </a:custGeom>
          <a:ln w="37958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642378" y="819694"/>
            <a:ext cx="4474845" cy="4032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450" dirty="0"/>
              <a:t>PROJECT-BASED</a:t>
            </a:r>
            <a:r>
              <a:rPr sz="2450" spc="100" dirty="0"/>
              <a:t> </a:t>
            </a:r>
            <a:r>
              <a:rPr sz="2450" spc="-10" dirty="0"/>
              <a:t>LEARNING</a:t>
            </a:r>
            <a:endParaRPr sz="2450"/>
          </a:p>
        </p:txBody>
      </p:sp>
      <p:sp>
        <p:nvSpPr>
          <p:cNvPr id="11" name="object 11"/>
          <p:cNvSpPr txBox="1"/>
          <p:nvPr/>
        </p:nvSpPr>
        <p:spPr>
          <a:xfrm>
            <a:off x="1804212" y="1195928"/>
            <a:ext cx="2152015" cy="28829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700" dirty="0">
                <a:latin typeface="Trebuchet MS"/>
                <a:cs typeface="Trebuchet MS"/>
              </a:rPr>
              <a:t>PHASE-II</a:t>
            </a:r>
            <a:r>
              <a:rPr sz="1700" spc="35" dirty="0">
                <a:latin typeface="Trebuchet MS"/>
                <a:cs typeface="Trebuchet MS"/>
              </a:rPr>
              <a:t> </a:t>
            </a:r>
            <a:r>
              <a:rPr sz="1700" spc="-10" dirty="0">
                <a:latin typeface="Trebuchet MS"/>
                <a:cs typeface="Trebuchet MS"/>
              </a:rPr>
              <a:t>EVALUATION</a:t>
            </a:r>
            <a:endParaRPr sz="1700">
              <a:latin typeface="Trebuchet MS"/>
              <a:cs typeface="Trebuchet M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4263" y="1686811"/>
            <a:ext cx="4591685" cy="4851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200" b="1" spc="-25" dirty="0">
                <a:solidFill>
                  <a:srgbClr val="595959"/>
                </a:solidFill>
                <a:latin typeface="Arial"/>
                <a:cs typeface="Arial"/>
              </a:rPr>
              <a:t>Dynamic</a:t>
            </a:r>
            <a:r>
              <a:rPr sz="1200" b="1" spc="-1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Disaster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30" dirty="0">
                <a:solidFill>
                  <a:srgbClr val="595959"/>
                </a:solidFill>
                <a:latin typeface="Arial"/>
                <a:cs typeface="Arial"/>
              </a:rPr>
              <a:t>Risk,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35" dirty="0">
                <a:solidFill>
                  <a:srgbClr val="595959"/>
                </a:solidFill>
                <a:latin typeface="Arial"/>
                <a:cs typeface="Arial"/>
              </a:rPr>
              <a:t>Evaluation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125" dirty="0">
                <a:solidFill>
                  <a:srgbClr val="595959"/>
                </a:solidFill>
                <a:latin typeface="Arial"/>
                <a:cs typeface="Arial"/>
              </a:rPr>
              <a:t>&amp;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75" dirty="0">
                <a:solidFill>
                  <a:srgbClr val="595959"/>
                </a:solidFill>
                <a:latin typeface="Arial"/>
                <a:cs typeface="Arial"/>
              </a:rPr>
              <a:t>Rescue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200" b="1" spc="-20" dirty="0">
                <a:solidFill>
                  <a:srgbClr val="595959"/>
                </a:solidFill>
                <a:latin typeface="Arial"/>
                <a:cs typeface="Arial"/>
              </a:rPr>
              <a:t>Optimization</a:t>
            </a:r>
            <a:r>
              <a:rPr sz="1200" b="1" spc="-10" dirty="0">
                <a:solidFill>
                  <a:srgbClr val="595959"/>
                </a:solidFill>
                <a:latin typeface="Arial"/>
                <a:cs typeface="Arial"/>
              </a:rPr>
              <a:t> System</a:t>
            </a:r>
            <a:endParaRPr sz="12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865"/>
              </a:spcBef>
              <a:tabLst>
                <a:tab pos="1109345" algn="l"/>
                <a:tab pos="1386840" algn="l"/>
              </a:tabLst>
            </a:pP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-6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10" dirty="0">
                <a:solidFill>
                  <a:srgbClr val="133768"/>
                </a:solidFill>
                <a:latin typeface="Tahoma"/>
                <a:cs typeface="Tahoma"/>
              </a:rPr>
              <a:t>DisasterX</a:t>
            </a:r>
            <a:r>
              <a:rPr sz="1100" dirty="0">
                <a:solidFill>
                  <a:srgbClr val="133768"/>
                </a:solidFill>
                <a:latin typeface="Tahoma"/>
                <a:cs typeface="Tahoma"/>
              </a:rPr>
              <a:t>	</a:t>
            </a:r>
            <a:r>
              <a:rPr sz="1100" spc="80" dirty="0">
                <a:solidFill>
                  <a:srgbClr val="133768"/>
                </a:solidFill>
                <a:latin typeface="Tahoma"/>
                <a:cs typeface="Tahoma"/>
              </a:rPr>
              <a:t>—</a:t>
            </a:r>
            <a:r>
              <a:rPr sz="1100" dirty="0">
                <a:solidFill>
                  <a:srgbClr val="133768"/>
                </a:solidFill>
                <a:latin typeface="Tahoma"/>
                <a:cs typeface="Tahoma"/>
              </a:rPr>
              <a:t>	</a:t>
            </a:r>
            <a:r>
              <a:rPr sz="1100" spc="-30" dirty="0">
                <a:solidFill>
                  <a:srgbClr val="133768"/>
                </a:solidFill>
                <a:latin typeface="Tahoma"/>
                <a:cs typeface="Tahoma"/>
              </a:rPr>
              <a:t>Team</a:t>
            </a:r>
            <a:r>
              <a:rPr sz="1100" spc="65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spc="-40" dirty="0">
                <a:solidFill>
                  <a:srgbClr val="133768"/>
                </a:solidFill>
                <a:latin typeface="Tahoma"/>
                <a:cs typeface="Tahoma"/>
              </a:rPr>
              <a:t>ID:</a:t>
            </a:r>
            <a:r>
              <a:rPr sz="1100" spc="70" dirty="0">
                <a:solidFill>
                  <a:srgbClr val="133768"/>
                </a:solidFill>
                <a:latin typeface="Tahoma"/>
                <a:cs typeface="Tahoma"/>
              </a:rPr>
              <a:t> </a:t>
            </a:r>
            <a:r>
              <a:rPr sz="1100" dirty="0">
                <a:solidFill>
                  <a:srgbClr val="133768"/>
                </a:solidFill>
                <a:latin typeface="Tahoma"/>
                <a:cs typeface="Tahoma"/>
              </a:rPr>
              <a:t>DSCPP-</a:t>
            </a:r>
            <a:r>
              <a:rPr sz="1100" spc="-65" dirty="0">
                <a:solidFill>
                  <a:srgbClr val="133768"/>
                </a:solidFill>
                <a:latin typeface="Tahoma"/>
                <a:cs typeface="Tahoma"/>
              </a:rPr>
              <a:t>III-</a:t>
            </a:r>
            <a:r>
              <a:rPr sz="1100" spc="-50" dirty="0">
                <a:solidFill>
                  <a:srgbClr val="133768"/>
                </a:solidFill>
                <a:latin typeface="Tahoma"/>
                <a:cs typeface="Tahoma"/>
              </a:rPr>
              <a:t>2026-</a:t>
            </a:r>
            <a:r>
              <a:rPr sz="1100" spc="-20" dirty="0">
                <a:solidFill>
                  <a:srgbClr val="133768"/>
                </a:solidFill>
                <a:latin typeface="Tahoma"/>
                <a:cs typeface="Tahoma"/>
              </a:rPr>
              <a:t>T119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21257" y="2580702"/>
            <a:ext cx="3117215" cy="49275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100" b="1" spc="-10" dirty="0">
                <a:latin typeface="Arial"/>
                <a:cs typeface="Arial"/>
              </a:rPr>
              <a:t>Department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of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Computer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55" dirty="0">
                <a:latin typeface="Arial"/>
                <a:cs typeface="Arial"/>
              </a:rPr>
              <a:t>Science</a:t>
            </a:r>
            <a:r>
              <a:rPr sz="1100" b="1" spc="30" dirty="0">
                <a:latin typeface="Arial"/>
                <a:cs typeface="Arial"/>
              </a:rPr>
              <a:t> </a:t>
            </a:r>
            <a:r>
              <a:rPr sz="1100" b="1" spc="100" dirty="0">
                <a:latin typeface="Arial"/>
                <a:cs typeface="Arial"/>
              </a:rPr>
              <a:t>&amp;</a:t>
            </a:r>
            <a:r>
              <a:rPr sz="1100" b="1" spc="35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Engineering</a:t>
            </a:r>
            <a:endParaRPr sz="11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35"/>
              </a:spcBef>
            </a:pPr>
            <a:r>
              <a:rPr sz="1100" spc="-25" dirty="0">
                <a:latin typeface="Tahoma"/>
                <a:cs typeface="Tahoma"/>
              </a:rPr>
              <a:t>Graphic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Era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(Deemed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University), </a:t>
            </a:r>
            <a:r>
              <a:rPr sz="1100" spc="-10" dirty="0">
                <a:latin typeface="Tahoma"/>
                <a:cs typeface="Tahoma"/>
              </a:rPr>
              <a:t>Dehradun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50"/>
              </a:spcBef>
            </a:pPr>
            <a:r>
              <a:rPr sz="800" spc="-10" dirty="0">
                <a:latin typeface="Arial"/>
                <a:cs typeface="Arial"/>
              </a:rPr>
              <a:t>Academic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40" dirty="0">
                <a:latin typeface="Arial"/>
                <a:cs typeface="Arial"/>
              </a:rPr>
              <a:t>Session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2026–</a:t>
            </a:r>
            <a:r>
              <a:rPr sz="800" spc="-25" dirty="0">
                <a:latin typeface="Arial"/>
                <a:cs typeface="Arial"/>
              </a:rPr>
              <a:t>27</a:t>
            </a:r>
            <a:endParaRPr sz="8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90F365C-A57E-D932-8D2E-7524479AA4A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358" y="57451"/>
            <a:ext cx="596702" cy="596702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Team</a:t>
            </a:r>
            <a:r>
              <a:rPr spc="170" dirty="0"/>
              <a:t> &amp;</a:t>
            </a:r>
            <a:r>
              <a:rPr spc="175" dirty="0"/>
              <a:t> </a:t>
            </a:r>
            <a:r>
              <a:rPr dirty="0"/>
              <a:t>Mentor</a:t>
            </a:r>
            <a:r>
              <a:rPr spc="175" dirty="0"/>
              <a:t> </a:t>
            </a:r>
            <a:r>
              <a:rPr spc="-10" dirty="0"/>
              <a:t>Details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3" y="1100835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1079853"/>
            <a:ext cx="1129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Team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Information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930016" y="1100835"/>
            <a:ext cx="2520950" cy="187960"/>
          </a:xfrm>
          <a:custGeom>
            <a:avLst/>
            <a:gdLst/>
            <a:ahLst/>
            <a:cxnLst/>
            <a:rect l="l" t="t" r="r" b="b"/>
            <a:pathLst>
              <a:path w="2520950" h="187959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2520810" y="187823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2968117" y="1079853"/>
            <a:ext cx="985519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Team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Members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93" y="1276007"/>
            <a:ext cx="2520950" cy="974725"/>
            <a:chOff x="309193" y="1276007"/>
            <a:chExt cx="2520950" cy="974725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276007"/>
              <a:ext cx="2520810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9193" y="1320285"/>
              <a:ext cx="2520950" cy="930275"/>
            </a:xfrm>
            <a:custGeom>
              <a:avLst/>
              <a:gdLst/>
              <a:ahLst/>
              <a:cxnLst/>
              <a:rect l="l" t="t" r="r" b="b"/>
              <a:pathLst>
                <a:path w="2520950" h="930275">
                  <a:moveTo>
                    <a:pt x="2520810" y="0"/>
                  </a:moveTo>
                  <a:lnTo>
                    <a:pt x="0" y="0"/>
                  </a:lnTo>
                  <a:lnTo>
                    <a:pt x="0" y="879315"/>
                  </a:lnTo>
                  <a:lnTo>
                    <a:pt x="4008" y="899040"/>
                  </a:lnTo>
                  <a:lnTo>
                    <a:pt x="14922" y="915193"/>
                  </a:lnTo>
                  <a:lnTo>
                    <a:pt x="31075" y="926107"/>
                  </a:lnTo>
                  <a:lnTo>
                    <a:pt x="50800" y="930116"/>
                  </a:lnTo>
                  <a:lnTo>
                    <a:pt x="2470010" y="930116"/>
                  </a:lnTo>
                  <a:lnTo>
                    <a:pt x="2489735" y="926107"/>
                  </a:lnTo>
                  <a:lnTo>
                    <a:pt x="2505888" y="915193"/>
                  </a:lnTo>
                  <a:lnTo>
                    <a:pt x="2516802" y="899040"/>
                  </a:lnTo>
                  <a:lnTo>
                    <a:pt x="2520810" y="879315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47294" y="1314804"/>
            <a:ext cx="845185" cy="88011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>
              <a:lnSpc>
                <a:spcPct val="102600"/>
              </a:lnSpc>
              <a:spcBef>
                <a:spcPts val="55"/>
              </a:spcBef>
            </a:pPr>
            <a:r>
              <a:rPr sz="1100" b="1" dirty="0">
                <a:latin typeface="Arial"/>
                <a:cs typeface="Arial"/>
              </a:rPr>
              <a:t>Team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25" dirty="0">
                <a:latin typeface="Arial"/>
                <a:cs typeface="Arial"/>
              </a:rPr>
              <a:t>ID: </a:t>
            </a:r>
            <a:r>
              <a:rPr sz="1100" b="1" dirty="0">
                <a:latin typeface="Arial"/>
                <a:cs typeface="Arial"/>
              </a:rPr>
              <a:t>Team</a:t>
            </a:r>
            <a:r>
              <a:rPr sz="1100" b="1" spc="-20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Name: </a:t>
            </a:r>
            <a:r>
              <a:rPr sz="1100" b="1" spc="-10" dirty="0">
                <a:latin typeface="Arial"/>
                <a:cs typeface="Arial"/>
              </a:rPr>
              <a:t>Semester: Section: Domain:</a:t>
            </a:r>
            <a:endParaRPr sz="11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18664" y="1314804"/>
            <a:ext cx="1309370" cy="103791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DSCPP-</a:t>
            </a:r>
            <a:r>
              <a:rPr sz="1100" spc="-35" dirty="0">
                <a:latin typeface="Tahoma"/>
                <a:cs typeface="Tahoma"/>
              </a:rPr>
              <a:t>III-</a:t>
            </a:r>
            <a:r>
              <a:rPr sz="1100" spc="-50" dirty="0">
                <a:latin typeface="Tahoma"/>
                <a:cs typeface="Tahoma"/>
              </a:rPr>
              <a:t>2026-</a:t>
            </a:r>
            <a:r>
              <a:rPr sz="1100" spc="-35" dirty="0">
                <a:latin typeface="Tahoma"/>
                <a:cs typeface="Tahoma"/>
              </a:rPr>
              <a:t>T119</a:t>
            </a:r>
            <a:endParaRPr sz="1100" dirty="0">
              <a:latin typeface="Tahoma"/>
              <a:cs typeface="Tahoma"/>
            </a:endParaRPr>
          </a:p>
          <a:p>
            <a:pPr marL="12700" marR="730885">
              <a:lnSpc>
                <a:spcPct val="102600"/>
              </a:lnSpc>
            </a:pPr>
            <a:r>
              <a:rPr sz="1100" spc="-25" dirty="0">
                <a:latin typeface="Tahoma"/>
                <a:cs typeface="Tahoma"/>
              </a:rPr>
              <a:t>DisasterX 3rd</a:t>
            </a:r>
            <a:endParaRPr sz="1100" dirty="0">
              <a:latin typeface="Tahoma"/>
              <a:cs typeface="Tahoma"/>
            </a:endParaRPr>
          </a:p>
          <a:p>
            <a:pPr marL="12700" marR="10160">
              <a:lnSpc>
                <a:spcPct val="102600"/>
              </a:lnSpc>
            </a:pPr>
            <a:r>
              <a:rPr sz="1100" dirty="0">
                <a:latin typeface="Tahoma"/>
                <a:cs typeface="Tahoma"/>
              </a:rPr>
              <a:t>DS1,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DS2,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ML1,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ML2 </a:t>
            </a:r>
            <a:r>
              <a:rPr sz="1100" dirty="0">
                <a:latin typeface="Tahoma"/>
                <a:cs typeface="Tahoma"/>
              </a:rPr>
              <a:t>DS</a:t>
            </a:r>
            <a:r>
              <a:rPr lang="en-US" sz="1100" dirty="0">
                <a:latin typeface="Tahoma"/>
                <a:cs typeface="Tahoma"/>
              </a:rPr>
              <a:t> , C++</a:t>
            </a:r>
          </a:p>
          <a:p>
            <a:pPr marL="12700" marR="10160">
              <a:lnSpc>
                <a:spcPct val="102600"/>
              </a:lnSpc>
            </a:pPr>
            <a:endParaRPr sz="1100" dirty="0">
              <a:latin typeface="Tahoma"/>
              <a:cs typeface="Tahoma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2930016" y="1276007"/>
            <a:ext cx="2520950" cy="689610"/>
            <a:chOff x="2930016" y="1276007"/>
            <a:chExt cx="2520950" cy="68961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276007"/>
              <a:ext cx="2520810" cy="5060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930016" y="1320292"/>
              <a:ext cx="2520950" cy="645160"/>
            </a:xfrm>
            <a:custGeom>
              <a:avLst/>
              <a:gdLst/>
              <a:ahLst/>
              <a:cxnLst/>
              <a:rect l="l" t="t" r="r" b="b"/>
              <a:pathLst>
                <a:path w="2520950" h="645160">
                  <a:moveTo>
                    <a:pt x="2520810" y="0"/>
                  </a:moveTo>
                  <a:lnTo>
                    <a:pt x="0" y="0"/>
                  </a:lnTo>
                  <a:lnTo>
                    <a:pt x="0" y="593927"/>
                  </a:lnTo>
                  <a:lnTo>
                    <a:pt x="4008" y="613652"/>
                  </a:lnTo>
                  <a:lnTo>
                    <a:pt x="14922" y="629805"/>
                  </a:lnTo>
                  <a:lnTo>
                    <a:pt x="31075" y="640719"/>
                  </a:lnTo>
                  <a:lnTo>
                    <a:pt x="50800" y="644727"/>
                  </a:lnTo>
                  <a:lnTo>
                    <a:pt x="2470010" y="644727"/>
                  </a:lnTo>
                  <a:lnTo>
                    <a:pt x="2489735" y="640719"/>
                  </a:lnTo>
                  <a:lnTo>
                    <a:pt x="2505888" y="629805"/>
                  </a:lnTo>
                  <a:lnTo>
                    <a:pt x="2516802" y="613652"/>
                  </a:lnTo>
                  <a:lnTo>
                    <a:pt x="2520810" y="593927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2968117" y="1301272"/>
            <a:ext cx="2445385" cy="63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6854" indent="-224154">
              <a:lnSpc>
                <a:spcPts val="1200"/>
              </a:lnSpc>
              <a:spcBef>
                <a:spcPts val="95"/>
              </a:spcBef>
              <a:buAutoNum type="arabicPeriod"/>
              <a:tabLst>
                <a:tab pos="236854" algn="l"/>
              </a:tabLst>
            </a:pPr>
            <a:r>
              <a:rPr sz="1000" spc="-10" dirty="0">
                <a:latin typeface="Tahoma"/>
                <a:cs typeface="Tahoma"/>
              </a:rPr>
              <a:t>Parv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Gautam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(Team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Lead)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–</a:t>
            </a:r>
            <a:r>
              <a:rPr sz="1000" spc="-45" dirty="0">
                <a:latin typeface="Tahoma"/>
                <a:cs typeface="Tahoma"/>
              </a:rPr>
              <a:t> 2510010701</a:t>
            </a:r>
            <a:endParaRPr sz="1000" dirty="0">
              <a:latin typeface="Tahoma"/>
              <a:cs typeface="Tahoma"/>
            </a:endParaRPr>
          </a:p>
          <a:p>
            <a:pPr marL="236854" indent="-224154">
              <a:lnSpc>
                <a:spcPts val="1195"/>
              </a:lnSpc>
              <a:buAutoNum type="arabicPeriod"/>
              <a:tabLst>
                <a:tab pos="236854" algn="l"/>
              </a:tabLst>
            </a:pPr>
            <a:r>
              <a:rPr sz="1000" spc="-20" dirty="0">
                <a:latin typeface="Tahoma"/>
                <a:cs typeface="Tahoma"/>
              </a:rPr>
              <a:t>Kashish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Rajput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–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2510388</a:t>
            </a:r>
            <a:r>
              <a:rPr lang="en-US" sz="1000" spc="-60" dirty="0">
                <a:latin typeface="Tahoma"/>
                <a:cs typeface="Tahoma"/>
              </a:rPr>
              <a:t>8</a:t>
            </a:r>
            <a:r>
              <a:rPr sz="1000" spc="-60" dirty="0">
                <a:latin typeface="Tahoma"/>
                <a:cs typeface="Tahoma"/>
              </a:rPr>
              <a:t>91</a:t>
            </a:r>
            <a:endParaRPr sz="1000" dirty="0">
              <a:latin typeface="Arial"/>
              <a:cs typeface="Arial"/>
            </a:endParaRPr>
          </a:p>
          <a:p>
            <a:pPr marL="236854" indent="-224154">
              <a:lnSpc>
                <a:spcPts val="1195"/>
              </a:lnSpc>
              <a:buAutoNum type="arabicPeriod"/>
              <a:tabLst>
                <a:tab pos="236854" algn="l"/>
              </a:tabLst>
            </a:pPr>
            <a:r>
              <a:rPr sz="1000" spc="-30" dirty="0">
                <a:latin typeface="Tahoma"/>
                <a:cs typeface="Tahoma"/>
              </a:rPr>
              <a:t>Harsh </a:t>
            </a:r>
            <a:r>
              <a:rPr sz="1000" spc="-35" dirty="0">
                <a:latin typeface="Tahoma"/>
                <a:cs typeface="Tahoma"/>
              </a:rPr>
              <a:t>Raunchela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–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2510370071</a:t>
            </a:r>
            <a:endParaRPr sz="1000" dirty="0">
              <a:latin typeface="Tahoma"/>
              <a:cs typeface="Tahoma"/>
            </a:endParaRPr>
          </a:p>
          <a:p>
            <a:pPr marL="236854" indent="-224154">
              <a:lnSpc>
                <a:spcPts val="1200"/>
              </a:lnSpc>
              <a:buAutoNum type="arabicPeriod"/>
              <a:tabLst>
                <a:tab pos="236854" algn="l"/>
              </a:tabLst>
            </a:pPr>
            <a:r>
              <a:rPr sz="1000" spc="-10" dirty="0">
                <a:latin typeface="Tahoma"/>
                <a:cs typeface="Tahoma"/>
              </a:rPr>
              <a:t>Piyush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Maurya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–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2510202366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09193" y="2385656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/>
          <p:nvPr/>
        </p:nvSpPr>
        <p:spPr>
          <a:xfrm>
            <a:off x="347294" y="2364673"/>
            <a:ext cx="47117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5" dirty="0">
                <a:solidFill>
                  <a:srgbClr val="133768"/>
                </a:solidFill>
                <a:latin typeface="Gill Sans MT"/>
                <a:cs typeface="Gill Sans MT"/>
              </a:rPr>
              <a:t>Mentor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309193" y="2560827"/>
            <a:ext cx="5142230" cy="252729"/>
            <a:chOff x="309193" y="2560827"/>
            <a:chExt cx="5142230" cy="252729"/>
          </a:xfrm>
        </p:grpSpPr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9193" y="2560827"/>
              <a:ext cx="5141666" cy="50609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309193" y="2605114"/>
              <a:ext cx="5142230" cy="208279"/>
            </a:xfrm>
            <a:custGeom>
              <a:avLst/>
              <a:gdLst/>
              <a:ahLst/>
              <a:cxnLst/>
              <a:rect l="l" t="t" r="r" b="b"/>
              <a:pathLst>
                <a:path w="5142230" h="208280">
                  <a:moveTo>
                    <a:pt x="5141666" y="0"/>
                  </a:moveTo>
                  <a:lnTo>
                    <a:pt x="0" y="0"/>
                  </a:lnTo>
                  <a:lnTo>
                    <a:pt x="0" y="157478"/>
                  </a:lnTo>
                  <a:lnTo>
                    <a:pt x="4008" y="177203"/>
                  </a:lnTo>
                  <a:lnTo>
                    <a:pt x="14922" y="193356"/>
                  </a:lnTo>
                  <a:lnTo>
                    <a:pt x="31075" y="204270"/>
                  </a:lnTo>
                  <a:lnTo>
                    <a:pt x="50800" y="208279"/>
                  </a:lnTo>
                  <a:lnTo>
                    <a:pt x="5090865" y="208279"/>
                  </a:lnTo>
                  <a:lnTo>
                    <a:pt x="5110590" y="204270"/>
                  </a:lnTo>
                  <a:lnTo>
                    <a:pt x="5126743" y="193356"/>
                  </a:lnTo>
                  <a:lnTo>
                    <a:pt x="5137657" y="177203"/>
                  </a:lnTo>
                  <a:lnTo>
                    <a:pt x="5141666" y="157478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47294" y="2583077"/>
            <a:ext cx="12598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Mr.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Ram</a:t>
            </a:r>
            <a:r>
              <a:rPr sz="1100" spc="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Ji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Chauhan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35962" y="2583077"/>
            <a:ext cx="187833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b="1" spc="-25" dirty="0">
                <a:latin typeface="Arial"/>
                <a:cs typeface="Arial"/>
              </a:rPr>
              <a:t>Interactions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30" dirty="0">
                <a:latin typeface="Arial"/>
                <a:cs typeface="Arial"/>
              </a:rPr>
              <a:t>completed:</a:t>
            </a:r>
            <a:r>
              <a:rPr lang="en-US" sz="1100" b="1" spc="-30" dirty="0">
                <a:latin typeface="Arial"/>
                <a:cs typeface="Arial"/>
              </a:rPr>
              <a:t>8</a:t>
            </a:r>
            <a:r>
              <a:rPr sz="1100" b="1" spc="70" dirty="0">
                <a:latin typeface="Arial"/>
                <a:cs typeface="Arial"/>
              </a:rPr>
              <a:t> 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47294" y="2912946"/>
            <a:ext cx="31591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DisasterX: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114" dirty="0">
                <a:solidFill>
                  <a:srgbClr val="595959"/>
                </a:solidFill>
                <a:latin typeface="Arial"/>
                <a:cs typeface="Arial"/>
              </a:rPr>
              <a:t>C++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595959"/>
                </a:solidFill>
                <a:latin typeface="Arial"/>
                <a:cs typeface="Arial"/>
              </a:rPr>
              <a:t>rescue-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routing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"/>
                <a:cs typeface="Arial"/>
              </a:rPr>
              <a:t>system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with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Python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ML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risk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model.</a:t>
            </a:r>
            <a:endParaRPr sz="800">
              <a:latin typeface="Arial"/>
              <a:cs typeface="Arial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2</a:t>
            </a:fld>
            <a:r>
              <a:rPr spc="-20" dirty="0"/>
              <a:t>/15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92E1566-36D4-8795-E330-00C32D582B4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Phase-</a:t>
            </a:r>
            <a:r>
              <a:rPr dirty="0"/>
              <a:t>I</a:t>
            </a:r>
            <a:r>
              <a:rPr spc="75" dirty="0"/>
              <a:t> </a:t>
            </a:r>
            <a:r>
              <a:rPr spc="-10" dirty="0"/>
              <a:t>Recap</a:t>
            </a:r>
            <a:r>
              <a:rPr spc="80" dirty="0"/>
              <a:t> </a:t>
            </a:r>
            <a:r>
              <a:rPr spc="170" dirty="0"/>
              <a:t>&amp;</a:t>
            </a:r>
            <a:r>
              <a:rPr spc="80" dirty="0"/>
              <a:t> </a:t>
            </a:r>
            <a:r>
              <a:rPr spc="-30" dirty="0"/>
              <a:t>Feedback</a:t>
            </a:r>
            <a:r>
              <a:rPr spc="80" dirty="0"/>
              <a:t> </a:t>
            </a:r>
            <a:r>
              <a:rPr spc="-10" dirty="0"/>
              <a:t>Incorporated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09193" y="1018971"/>
            <a:ext cx="5142230" cy="705485"/>
            <a:chOff x="309193" y="1018971"/>
            <a:chExt cx="5142230" cy="705485"/>
          </a:xfrm>
        </p:grpSpPr>
        <p:sp>
          <p:nvSpPr>
            <p:cNvPr id="9" name="object 9"/>
            <p:cNvSpPr/>
            <p:nvPr/>
          </p:nvSpPr>
          <p:spPr>
            <a:xfrm>
              <a:off x="309193" y="1018971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94142"/>
              <a:ext cx="5141666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238426"/>
              <a:ext cx="5142230" cy="486409"/>
            </a:xfrm>
            <a:custGeom>
              <a:avLst/>
              <a:gdLst/>
              <a:ahLst/>
              <a:cxnLst/>
              <a:rect l="l" t="t" r="r" b="b"/>
              <a:pathLst>
                <a:path w="5142230" h="486410">
                  <a:moveTo>
                    <a:pt x="5141666" y="0"/>
                  </a:moveTo>
                  <a:lnTo>
                    <a:pt x="0" y="0"/>
                  </a:lnTo>
                  <a:lnTo>
                    <a:pt x="0" y="435065"/>
                  </a:lnTo>
                  <a:lnTo>
                    <a:pt x="4008" y="454790"/>
                  </a:lnTo>
                  <a:lnTo>
                    <a:pt x="14922" y="470943"/>
                  </a:lnTo>
                  <a:lnTo>
                    <a:pt x="31075" y="481857"/>
                  </a:lnTo>
                  <a:lnTo>
                    <a:pt x="50800" y="485865"/>
                  </a:lnTo>
                  <a:lnTo>
                    <a:pt x="5090865" y="485865"/>
                  </a:lnTo>
                  <a:lnTo>
                    <a:pt x="5110590" y="481857"/>
                  </a:lnTo>
                  <a:lnTo>
                    <a:pt x="5126743" y="470943"/>
                  </a:lnTo>
                  <a:lnTo>
                    <a:pt x="5137657" y="454790"/>
                  </a:lnTo>
                  <a:lnTo>
                    <a:pt x="5141666" y="43506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7294" y="959336"/>
            <a:ext cx="5035550" cy="73406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Phase-I</a:t>
            </a:r>
            <a:r>
              <a:rPr sz="1200" spc="15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Status</a:t>
            </a:r>
            <a:endParaRPr sz="1200">
              <a:latin typeface="Gill Sans MT"/>
              <a:cs typeface="Gill Sans MT"/>
            </a:endParaRPr>
          </a:p>
          <a:p>
            <a:pPr marL="12700" marR="5080">
              <a:lnSpc>
                <a:spcPct val="100000"/>
              </a:lnSpc>
              <a:spcBef>
                <a:spcPts val="245"/>
              </a:spcBef>
            </a:pPr>
            <a:r>
              <a:rPr sz="1000" b="1" spc="-40" dirty="0">
                <a:latin typeface="Arial"/>
                <a:cs typeface="Arial"/>
              </a:rPr>
              <a:t>Proposed:</a:t>
            </a:r>
            <a:r>
              <a:rPr sz="1000" b="1" spc="114" dirty="0">
                <a:latin typeface="Arial"/>
                <a:cs typeface="Arial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C++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decision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engine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that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models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disaster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region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as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dynamic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weighted</a:t>
            </a:r>
            <a:r>
              <a:rPr sz="1000" spc="-10" dirty="0">
                <a:latin typeface="Tahoma"/>
                <a:cs typeface="Tahoma"/>
              </a:rPr>
              <a:t> graph for </a:t>
            </a:r>
            <a:r>
              <a:rPr sz="1000" spc="-35" dirty="0">
                <a:latin typeface="Tahoma"/>
                <a:cs typeface="Tahoma"/>
              </a:rPr>
              <a:t>risk-</a:t>
            </a:r>
            <a:r>
              <a:rPr sz="1000" spc="-65" dirty="0">
                <a:latin typeface="Tahoma"/>
                <a:cs typeface="Tahoma"/>
              </a:rPr>
              <a:t>aware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routing,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emergency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prioritization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rescue-</a:t>
            </a:r>
            <a:r>
              <a:rPr sz="1000" spc="-55" dirty="0">
                <a:latin typeface="Tahoma"/>
                <a:cs typeface="Tahoma"/>
              </a:rPr>
              <a:t>resource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allocation.</a:t>
            </a:r>
            <a:r>
              <a:rPr sz="1000" spc="95" dirty="0">
                <a:latin typeface="Tahoma"/>
                <a:cs typeface="Tahoma"/>
              </a:rPr>
              <a:t> </a:t>
            </a:r>
            <a:r>
              <a:rPr sz="1000" b="1" spc="-10" dirty="0">
                <a:latin typeface="Arial"/>
                <a:cs typeface="Arial"/>
              </a:rPr>
              <a:t>Achieved: </a:t>
            </a:r>
            <a:r>
              <a:rPr sz="1000" spc="-20" dirty="0">
                <a:latin typeface="Tahoma"/>
                <a:cs typeface="Tahoma"/>
              </a:rPr>
              <a:t>literature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study,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requirements,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architecture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design,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initial C++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core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prepared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894" y="1789881"/>
            <a:ext cx="2003425" cy="91122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1000" b="1" spc="-35" dirty="0">
                <a:solidFill>
                  <a:srgbClr val="133768"/>
                </a:solidFill>
                <a:latin typeface="Arial"/>
                <a:cs typeface="Arial"/>
              </a:rPr>
              <a:t>Feedback</a:t>
            </a:r>
            <a:r>
              <a:rPr sz="1000" b="1" spc="1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Received</a:t>
            </a:r>
            <a:endParaRPr sz="1000" dirty="0">
              <a:latin typeface="Arial"/>
              <a:cs typeface="Arial"/>
            </a:endParaRPr>
          </a:p>
          <a:p>
            <a:pPr marL="313055" indent="-16573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lang="en-IN" sz="1000" spc="-30" dirty="0">
                <a:latin typeface="Tahoma"/>
                <a:cs typeface="Tahoma"/>
              </a:rPr>
              <a:t>Random</a:t>
            </a:r>
            <a:endParaRPr sz="1000" dirty="0">
              <a:latin typeface="Arial"/>
              <a:cs typeface="Arial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lang="en-IN" sz="1000" spc="-30" dirty="0">
                <a:latin typeface="Tahoma"/>
                <a:cs typeface="Tahoma"/>
              </a:rPr>
              <a:t>Random</a:t>
            </a:r>
            <a:endParaRPr sz="1000" dirty="0">
              <a:latin typeface="Arial"/>
              <a:cs typeface="Arial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lang="en-IN" sz="1000" spc="-30" dirty="0">
                <a:latin typeface="Tahoma"/>
                <a:cs typeface="Tahoma"/>
              </a:rPr>
              <a:t>Random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942717" y="1789881"/>
            <a:ext cx="2495550" cy="121475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1000" b="1" spc="-50" dirty="0">
                <a:solidFill>
                  <a:srgbClr val="133768"/>
                </a:solidFill>
                <a:latin typeface="Arial"/>
                <a:cs typeface="Arial"/>
              </a:rPr>
              <a:t>Changes</a:t>
            </a:r>
            <a:r>
              <a:rPr sz="1000" b="1" spc="1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Incorporated</a:t>
            </a:r>
            <a:endParaRPr sz="1000" dirty="0">
              <a:latin typeface="Arial"/>
              <a:cs typeface="Arial"/>
            </a:endParaRPr>
          </a:p>
          <a:p>
            <a:pPr marL="312420" marR="285115" indent="-16573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30" dirty="0">
                <a:latin typeface="Tahoma"/>
                <a:cs typeface="Tahoma"/>
              </a:rPr>
              <a:t>Random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Forest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risk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model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linked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to 	</a:t>
            </a:r>
            <a:r>
              <a:rPr sz="1000" dirty="0">
                <a:latin typeface="Tahoma"/>
                <a:cs typeface="Tahoma"/>
              </a:rPr>
              <a:t>C++</a:t>
            </a:r>
            <a:r>
              <a:rPr sz="1000" spc="1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routing</a:t>
            </a:r>
            <a:endParaRPr sz="1000" dirty="0">
              <a:latin typeface="Tahoma"/>
              <a:cs typeface="Tahoma"/>
            </a:endParaRPr>
          </a:p>
          <a:p>
            <a:pPr marL="312420" marR="45720" indent="-16573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10" dirty="0">
                <a:latin typeface="Tahoma"/>
                <a:cs typeface="Tahoma"/>
              </a:rPr>
              <a:t>Own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queue,</a:t>
            </a:r>
            <a:r>
              <a:rPr sz="1000" spc="-20" dirty="0">
                <a:latin typeface="Tahoma"/>
                <a:cs typeface="Tahoma"/>
              </a:rPr>
              <a:t> stack, </a:t>
            </a:r>
            <a:r>
              <a:rPr sz="1000" spc="-45" dirty="0">
                <a:latin typeface="Tahoma"/>
                <a:cs typeface="Tahoma"/>
              </a:rPr>
              <a:t>heap,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map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set </a:t>
            </a:r>
            <a:r>
              <a:rPr sz="1000" spc="-25" dirty="0">
                <a:latin typeface="Tahoma"/>
                <a:cs typeface="Tahoma"/>
              </a:rPr>
              <a:t>(no 	</a:t>
            </a:r>
            <a:r>
              <a:rPr sz="1000" dirty="0">
                <a:latin typeface="Tahoma"/>
                <a:cs typeface="Tahoma"/>
              </a:rPr>
              <a:t>STL</a:t>
            </a:r>
            <a:r>
              <a:rPr sz="1000" spc="1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containers)</a:t>
            </a:r>
            <a:endParaRPr sz="1000" dirty="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35" dirty="0">
                <a:latin typeface="Tahoma"/>
                <a:cs typeface="Tahoma"/>
              </a:rPr>
              <a:t>Database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map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deferred;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core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logic first</a:t>
            </a:r>
            <a:endParaRPr sz="1000" dirty="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3</a:t>
            </a:fld>
            <a:r>
              <a:rPr spc="-20" dirty="0"/>
              <a:t>/15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3A5220-EEDD-8659-10A3-2AF4FFB0C41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Problem</a:t>
            </a:r>
            <a:r>
              <a:rPr spc="70" dirty="0"/>
              <a:t> </a:t>
            </a:r>
            <a:r>
              <a:rPr dirty="0"/>
              <a:t>Statement</a:t>
            </a:r>
            <a:r>
              <a:rPr spc="75" dirty="0"/>
              <a:t> </a:t>
            </a:r>
            <a:r>
              <a:rPr spc="170" dirty="0"/>
              <a:t>&amp;</a:t>
            </a:r>
            <a:r>
              <a:rPr spc="70" dirty="0"/>
              <a:t> </a:t>
            </a:r>
            <a:r>
              <a:rPr spc="-10" dirty="0"/>
              <a:t>Finalized</a:t>
            </a:r>
            <a:r>
              <a:rPr spc="75" dirty="0"/>
              <a:t> </a:t>
            </a:r>
            <a:r>
              <a:rPr spc="-10" dirty="0"/>
              <a:t>Objectives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09193" y="978509"/>
            <a:ext cx="5142230" cy="705485"/>
            <a:chOff x="309193" y="978509"/>
            <a:chExt cx="5142230" cy="705485"/>
          </a:xfrm>
        </p:grpSpPr>
        <p:sp>
          <p:nvSpPr>
            <p:cNvPr id="9" name="object 9"/>
            <p:cNvSpPr/>
            <p:nvPr/>
          </p:nvSpPr>
          <p:spPr>
            <a:xfrm>
              <a:off x="309193" y="978509"/>
              <a:ext cx="5142230" cy="187960"/>
            </a:xfrm>
            <a:custGeom>
              <a:avLst/>
              <a:gdLst/>
              <a:ahLst/>
              <a:cxnLst/>
              <a:rect l="l" t="t" r="r" b="b"/>
              <a:pathLst>
                <a:path w="5142230" h="187959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87823"/>
                  </a:lnTo>
                  <a:lnTo>
                    <a:pt x="5141666" y="187823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153667"/>
              <a:ext cx="5141666" cy="5060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09193" y="1197951"/>
              <a:ext cx="5142230" cy="486409"/>
            </a:xfrm>
            <a:custGeom>
              <a:avLst/>
              <a:gdLst/>
              <a:ahLst/>
              <a:cxnLst/>
              <a:rect l="l" t="t" r="r" b="b"/>
              <a:pathLst>
                <a:path w="5142230" h="486410">
                  <a:moveTo>
                    <a:pt x="5141666" y="0"/>
                  </a:moveTo>
                  <a:lnTo>
                    <a:pt x="0" y="0"/>
                  </a:lnTo>
                  <a:lnTo>
                    <a:pt x="0" y="435065"/>
                  </a:lnTo>
                  <a:lnTo>
                    <a:pt x="4008" y="454790"/>
                  </a:lnTo>
                  <a:lnTo>
                    <a:pt x="14922" y="470943"/>
                  </a:lnTo>
                  <a:lnTo>
                    <a:pt x="31075" y="481857"/>
                  </a:lnTo>
                  <a:lnTo>
                    <a:pt x="50800" y="485865"/>
                  </a:lnTo>
                  <a:lnTo>
                    <a:pt x="5090865" y="485865"/>
                  </a:lnTo>
                  <a:lnTo>
                    <a:pt x="5110590" y="481857"/>
                  </a:lnTo>
                  <a:lnTo>
                    <a:pt x="5126743" y="470943"/>
                  </a:lnTo>
                  <a:lnTo>
                    <a:pt x="5137657" y="454790"/>
                  </a:lnTo>
                  <a:lnTo>
                    <a:pt x="5141666" y="435065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47294" y="918889"/>
            <a:ext cx="5044440" cy="2081530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400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Problem</a:t>
            </a:r>
            <a:r>
              <a:rPr sz="1200" spc="-3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Statement</a:t>
            </a:r>
            <a:endParaRPr sz="1200">
              <a:latin typeface="Gill Sans MT"/>
              <a:cs typeface="Gill Sans MT"/>
            </a:endParaRPr>
          </a:p>
          <a:p>
            <a:pPr marL="12700" marR="5080" algn="just">
              <a:lnSpc>
                <a:spcPct val="100000"/>
              </a:lnSpc>
              <a:spcBef>
                <a:spcPts val="245"/>
              </a:spcBef>
            </a:pPr>
            <a:r>
              <a:rPr sz="1000" spc="-55" dirty="0">
                <a:latin typeface="Tahoma"/>
                <a:cs typeface="Tahoma"/>
              </a:rPr>
              <a:t>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floods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landslides,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roads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become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blocked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unsafe,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normal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navigation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65" dirty="0">
                <a:latin typeface="Tahoma"/>
                <a:cs typeface="Tahoma"/>
              </a:rPr>
              <a:t>uses</a:t>
            </a:r>
            <a:r>
              <a:rPr sz="1000" spc="-10" dirty="0">
                <a:latin typeface="Tahoma"/>
                <a:cs typeface="Tahoma"/>
              </a:rPr>
              <a:t> distance only.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Rescue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teams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need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risk-</a:t>
            </a:r>
            <a:r>
              <a:rPr sz="1000" spc="-70" dirty="0">
                <a:latin typeface="Tahoma"/>
                <a:cs typeface="Tahoma"/>
              </a:rPr>
              <a:t>aware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routes,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emergency</a:t>
            </a:r>
            <a:r>
              <a:rPr sz="1000" spc="-20" dirty="0">
                <a:latin typeface="Tahoma"/>
                <a:cs typeface="Tahoma"/>
              </a:rPr>
              <a:t> prioritization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resource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dispatch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that </a:t>
            </a:r>
            <a:r>
              <a:rPr sz="1000" spc="-30" dirty="0">
                <a:latin typeface="Tahoma"/>
                <a:cs typeface="Tahoma"/>
              </a:rPr>
              <a:t>update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when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road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conditions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change.</a:t>
            </a:r>
            <a:endParaRPr sz="1000">
              <a:latin typeface="Tahoma"/>
              <a:cs typeface="Tahoma"/>
            </a:endParaRPr>
          </a:p>
          <a:p>
            <a:pPr marL="12700" algn="just">
              <a:lnSpc>
                <a:spcPct val="100000"/>
              </a:lnSpc>
              <a:spcBef>
                <a:spcPts val="920"/>
              </a:spcBef>
            </a:pPr>
            <a:r>
              <a:rPr sz="1000" b="1" spc="-25" dirty="0">
                <a:solidFill>
                  <a:srgbClr val="133768"/>
                </a:solidFill>
                <a:latin typeface="Arial"/>
                <a:cs typeface="Arial"/>
              </a:rPr>
              <a:t>Finalized</a:t>
            </a:r>
            <a:r>
              <a:rPr sz="1000" b="1" spc="1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Objectives</a:t>
            </a:r>
            <a:endParaRPr sz="1000">
              <a:latin typeface="Arial"/>
              <a:cs typeface="Arial"/>
            </a:endParaRPr>
          </a:p>
          <a:p>
            <a:pPr marL="288290" marR="481965" indent="-167005">
              <a:lnSpc>
                <a:spcPct val="100000"/>
              </a:lnSpc>
              <a:spcBef>
                <a:spcPts val="40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dirty="0">
                <a:latin typeface="Tahoma"/>
                <a:cs typeface="Tahoma"/>
              </a:rPr>
              <a:t>Model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35" dirty="0">
                <a:latin typeface="Tahoma"/>
                <a:cs typeface="Tahoma"/>
              </a:rPr>
              <a:t> region </a:t>
            </a:r>
            <a:r>
              <a:rPr sz="1000" spc="-20" dirty="0">
                <a:latin typeface="Tahoma"/>
                <a:cs typeface="Tahoma"/>
              </a:rPr>
              <a:t>as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weighted</a:t>
            </a:r>
            <a:r>
              <a:rPr sz="1000" spc="-35" dirty="0">
                <a:latin typeface="Tahoma"/>
                <a:cs typeface="Tahoma"/>
              </a:rPr>
              <a:t> graph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(500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locations,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2,500</a:t>
            </a:r>
            <a:r>
              <a:rPr sz="1000" spc="-30" dirty="0">
                <a:latin typeface="Tahoma"/>
                <a:cs typeface="Tahoma"/>
              </a:rPr>
              <a:t> roads)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risk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 	open/blocked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status.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2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20" dirty="0">
                <a:latin typeface="Tahoma"/>
                <a:cs typeface="Tahoma"/>
              </a:rPr>
              <a:t>Compute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risk-</a:t>
            </a:r>
            <a:r>
              <a:rPr sz="1000" spc="-70" dirty="0">
                <a:latin typeface="Tahoma"/>
                <a:cs typeface="Tahoma"/>
              </a:rPr>
              <a:t>aware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routes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Dijkstra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A*,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ML-</a:t>
            </a:r>
            <a:r>
              <a:rPr sz="1000" spc="-25" dirty="0">
                <a:latin typeface="Tahoma"/>
                <a:cs typeface="Tahoma"/>
              </a:rPr>
              <a:t>predicted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road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risk.</a:t>
            </a:r>
            <a:endParaRPr sz="1000">
              <a:latin typeface="Tahoma"/>
              <a:cs typeface="Tahoma"/>
            </a:endParaRPr>
          </a:p>
          <a:p>
            <a:pPr marL="288290" marR="144145" indent="-167005">
              <a:lnSpc>
                <a:spcPct val="100000"/>
              </a:lnSpc>
              <a:spcBef>
                <a:spcPts val="30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spc="-10" dirty="0">
                <a:latin typeface="Tahoma"/>
                <a:cs typeface="Tahoma"/>
              </a:rPr>
              <a:t>Prioritize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emergencies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pick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rescue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resources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using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custom</a:t>
            </a:r>
            <a:r>
              <a:rPr sz="1000" spc="-25" dirty="0">
                <a:latin typeface="Tahoma"/>
                <a:cs typeface="Tahoma"/>
              </a:rPr>
              <a:t> priority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queue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min 	</a:t>
            </a:r>
            <a:r>
              <a:rPr sz="1000" spc="-10" dirty="0">
                <a:latin typeface="Tahoma"/>
                <a:cs typeface="Tahoma"/>
              </a:rPr>
              <a:t>heap.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2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30" dirty="0">
                <a:latin typeface="Tahoma"/>
                <a:cs typeface="Tahoma"/>
              </a:rPr>
              <a:t>Reroute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when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roads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are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blocked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or </a:t>
            </a:r>
            <a:r>
              <a:rPr sz="1000" spc="-60" dirty="0">
                <a:latin typeface="Tahoma"/>
                <a:cs typeface="Tahoma"/>
              </a:rPr>
              <a:t>reopened;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measure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correctness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runtime.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4</a:t>
            </a:fld>
            <a:r>
              <a:rPr spc="-20" dirty="0"/>
              <a:t>/15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FA87C52-3091-14D0-BE99-7AE5536E46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Updated</a:t>
            </a:r>
            <a:r>
              <a:rPr spc="65" dirty="0"/>
              <a:t> </a:t>
            </a:r>
            <a:r>
              <a:rPr spc="-20" dirty="0"/>
              <a:t>System</a:t>
            </a:r>
            <a:r>
              <a:rPr spc="70" dirty="0"/>
              <a:t> </a:t>
            </a:r>
            <a:r>
              <a:rPr dirty="0"/>
              <a:t>Architecture</a:t>
            </a:r>
            <a:r>
              <a:rPr spc="65" dirty="0"/>
              <a:t> </a:t>
            </a:r>
            <a:r>
              <a:rPr spc="395" dirty="0"/>
              <a:t>/</a:t>
            </a:r>
            <a:r>
              <a:rPr spc="70" dirty="0"/>
              <a:t> </a:t>
            </a:r>
            <a:r>
              <a:rPr spc="-10" dirty="0"/>
              <a:t>Workflow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384768" y="1150765"/>
            <a:ext cx="761365" cy="329565"/>
            <a:chOff x="384768" y="1150765"/>
            <a:chExt cx="761365" cy="329565"/>
          </a:xfrm>
        </p:grpSpPr>
        <p:sp>
          <p:nvSpPr>
            <p:cNvPr id="9" name="object 9"/>
            <p:cNvSpPr/>
            <p:nvPr/>
          </p:nvSpPr>
          <p:spPr>
            <a:xfrm>
              <a:off x="387308" y="1153305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429"/>
                  </a:lnTo>
                  <a:lnTo>
                    <a:pt x="3977" y="293129"/>
                  </a:lnTo>
                  <a:lnTo>
                    <a:pt x="14823" y="309217"/>
                  </a:lnTo>
                  <a:lnTo>
                    <a:pt x="30910" y="320063"/>
                  </a:lnTo>
                  <a:lnTo>
                    <a:pt x="50610" y="324040"/>
                  </a:lnTo>
                  <a:lnTo>
                    <a:pt x="705400" y="324040"/>
                  </a:lnTo>
                  <a:lnTo>
                    <a:pt x="725100" y="320063"/>
                  </a:lnTo>
                  <a:lnTo>
                    <a:pt x="741188" y="309217"/>
                  </a:lnTo>
                  <a:lnTo>
                    <a:pt x="752034" y="293129"/>
                  </a:lnTo>
                  <a:lnTo>
                    <a:pt x="756011" y="273429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87308" y="1153305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429"/>
                  </a:lnTo>
                  <a:lnTo>
                    <a:pt x="3977" y="293129"/>
                  </a:lnTo>
                  <a:lnTo>
                    <a:pt x="14823" y="309217"/>
                  </a:lnTo>
                  <a:lnTo>
                    <a:pt x="30910" y="320063"/>
                  </a:lnTo>
                  <a:lnTo>
                    <a:pt x="50610" y="324040"/>
                  </a:lnTo>
                  <a:lnTo>
                    <a:pt x="705400" y="324040"/>
                  </a:lnTo>
                  <a:lnTo>
                    <a:pt x="725100" y="320063"/>
                  </a:lnTo>
                  <a:lnTo>
                    <a:pt x="741188" y="309217"/>
                  </a:lnTo>
                  <a:lnTo>
                    <a:pt x="752034" y="293129"/>
                  </a:lnTo>
                  <a:lnTo>
                    <a:pt x="756011" y="273429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0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84454" y="1144122"/>
            <a:ext cx="56197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9539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latin typeface="Tahoma"/>
                <a:cs typeface="Tahoma"/>
              </a:rPr>
              <a:t>Input </a:t>
            </a:r>
            <a:r>
              <a:rPr sz="1000" dirty="0">
                <a:latin typeface="Tahoma"/>
                <a:cs typeface="Tahoma"/>
              </a:rPr>
              <a:t>CSV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397844" y="1134950"/>
            <a:ext cx="938530" cy="361315"/>
            <a:chOff x="1397844" y="1134950"/>
            <a:chExt cx="938530" cy="361315"/>
          </a:xfrm>
        </p:grpSpPr>
        <p:sp>
          <p:nvSpPr>
            <p:cNvPr id="13" name="object 13"/>
            <p:cNvSpPr/>
            <p:nvPr/>
          </p:nvSpPr>
          <p:spPr>
            <a:xfrm>
              <a:off x="1400384" y="1137490"/>
              <a:ext cx="933450" cy="356235"/>
            </a:xfrm>
            <a:custGeom>
              <a:avLst/>
              <a:gdLst/>
              <a:ahLst/>
              <a:cxnLst/>
              <a:rect l="l" t="t" r="r" b="b"/>
              <a:pathLst>
                <a:path w="933450" h="356234">
                  <a:moveTo>
                    <a:pt x="88251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5061"/>
                  </a:lnTo>
                  <a:lnTo>
                    <a:pt x="3977" y="324761"/>
                  </a:lnTo>
                  <a:lnTo>
                    <a:pt x="14823" y="340848"/>
                  </a:lnTo>
                  <a:lnTo>
                    <a:pt x="30910" y="351695"/>
                  </a:lnTo>
                  <a:lnTo>
                    <a:pt x="50610" y="355672"/>
                  </a:lnTo>
                  <a:lnTo>
                    <a:pt x="882519" y="355672"/>
                  </a:lnTo>
                  <a:lnTo>
                    <a:pt x="902219" y="351695"/>
                  </a:lnTo>
                  <a:lnTo>
                    <a:pt x="918306" y="340848"/>
                  </a:lnTo>
                  <a:lnTo>
                    <a:pt x="929153" y="324761"/>
                  </a:lnTo>
                  <a:lnTo>
                    <a:pt x="933130" y="305061"/>
                  </a:lnTo>
                  <a:lnTo>
                    <a:pt x="933130" y="50610"/>
                  </a:lnTo>
                  <a:lnTo>
                    <a:pt x="929153" y="30910"/>
                  </a:lnTo>
                  <a:lnTo>
                    <a:pt x="918306" y="14823"/>
                  </a:lnTo>
                  <a:lnTo>
                    <a:pt x="902219" y="3977"/>
                  </a:lnTo>
                  <a:lnTo>
                    <a:pt x="882519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400384" y="1137490"/>
              <a:ext cx="933450" cy="356235"/>
            </a:xfrm>
            <a:custGeom>
              <a:avLst/>
              <a:gdLst/>
              <a:ahLst/>
              <a:cxnLst/>
              <a:rect l="l" t="t" r="r" b="b"/>
              <a:pathLst>
                <a:path w="933450" h="356234">
                  <a:moveTo>
                    <a:pt x="882519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305061"/>
                  </a:lnTo>
                  <a:lnTo>
                    <a:pt x="3977" y="324761"/>
                  </a:lnTo>
                  <a:lnTo>
                    <a:pt x="14823" y="340848"/>
                  </a:lnTo>
                  <a:lnTo>
                    <a:pt x="30910" y="351695"/>
                  </a:lnTo>
                  <a:lnTo>
                    <a:pt x="50610" y="355672"/>
                  </a:lnTo>
                  <a:lnTo>
                    <a:pt x="882519" y="355672"/>
                  </a:lnTo>
                  <a:lnTo>
                    <a:pt x="902219" y="351695"/>
                  </a:lnTo>
                  <a:lnTo>
                    <a:pt x="918306" y="340848"/>
                  </a:lnTo>
                  <a:lnTo>
                    <a:pt x="929153" y="324761"/>
                  </a:lnTo>
                  <a:lnTo>
                    <a:pt x="933130" y="305061"/>
                  </a:lnTo>
                  <a:lnTo>
                    <a:pt x="933130" y="50610"/>
                  </a:lnTo>
                  <a:lnTo>
                    <a:pt x="929153" y="30910"/>
                  </a:lnTo>
                  <a:lnTo>
                    <a:pt x="918306" y="14823"/>
                  </a:lnTo>
                  <a:lnTo>
                    <a:pt x="902219" y="3977"/>
                  </a:lnTo>
                  <a:lnTo>
                    <a:pt x="882519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1429854" y="1128311"/>
            <a:ext cx="87503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01930">
              <a:lnSpc>
                <a:spcPct val="100000"/>
              </a:lnSpc>
              <a:spcBef>
                <a:spcPts val="95"/>
              </a:spcBef>
            </a:pPr>
            <a:r>
              <a:rPr sz="1000" spc="60" dirty="0">
                <a:latin typeface="Tahoma"/>
                <a:cs typeface="Tahoma"/>
              </a:rPr>
              <a:t>ML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Risk </a:t>
            </a:r>
            <a:r>
              <a:rPr sz="1000" dirty="0">
                <a:latin typeface="Tahoma"/>
                <a:cs typeface="Tahoma"/>
              </a:rPr>
              <a:t>Model</a:t>
            </a:r>
            <a:r>
              <a:rPr sz="1000" spc="-20" dirty="0">
                <a:latin typeface="Tahoma"/>
                <a:cs typeface="Tahoma"/>
              </a:rPr>
              <a:t> (Python)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588038" y="1150765"/>
            <a:ext cx="761365" cy="329565"/>
            <a:chOff x="2588038" y="1150765"/>
            <a:chExt cx="761365" cy="329565"/>
          </a:xfrm>
        </p:grpSpPr>
        <p:sp>
          <p:nvSpPr>
            <p:cNvPr id="17" name="object 17"/>
            <p:cNvSpPr/>
            <p:nvPr/>
          </p:nvSpPr>
          <p:spPr>
            <a:xfrm>
              <a:off x="2590578" y="1153305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429"/>
                  </a:lnTo>
                  <a:lnTo>
                    <a:pt x="3977" y="293129"/>
                  </a:lnTo>
                  <a:lnTo>
                    <a:pt x="14823" y="309217"/>
                  </a:lnTo>
                  <a:lnTo>
                    <a:pt x="30910" y="320063"/>
                  </a:lnTo>
                  <a:lnTo>
                    <a:pt x="50610" y="324040"/>
                  </a:lnTo>
                  <a:lnTo>
                    <a:pt x="705400" y="324040"/>
                  </a:lnTo>
                  <a:lnTo>
                    <a:pt x="725101" y="320063"/>
                  </a:lnTo>
                  <a:lnTo>
                    <a:pt x="741188" y="309217"/>
                  </a:lnTo>
                  <a:lnTo>
                    <a:pt x="752034" y="293129"/>
                  </a:lnTo>
                  <a:lnTo>
                    <a:pt x="756011" y="273429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90578" y="1153305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429"/>
                  </a:lnTo>
                  <a:lnTo>
                    <a:pt x="3977" y="293129"/>
                  </a:lnTo>
                  <a:lnTo>
                    <a:pt x="14823" y="309217"/>
                  </a:lnTo>
                  <a:lnTo>
                    <a:pt x="30910" y="320063"/>
                  </a:lnTo>
                  <a:lnTo>
                    <a:pt x="50610" y="324040"/>
                  </a:lnTo>
                  <a:lnTo>
                    <a:pt x="705400" y="324040"/>
                  </a:lnTo>
                  <a:lnTo>
                    <a:pt x="725101" y="320063"/>
                  </a:lnTo>
                  <a:lnTo>
                    <a:pt x="741188" y="309217"/>
                  </a:lnTo>
                  <a:lnTo>
                    <a:pt x="752034" y="293129"/>
                  </a:lnTo>
                  <a:lnTo>
                    <a:pt x="756011" y="273429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2838119" y="1144122"/>
            <a:ext cx="26162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635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latin typeface="Tahoma"/>
                <a:cs typeface="Tahoma"/>
              </a:rPr>
              <a:t>Risk </a:t>
            </a:r>
            <a:r>
              <a:rPr sz="1000" spc="-25" dirty="0">
                <a:latin typeface="Tahoma"/>
                <a:cs typeface="Tahoma"/>
              </a:rPr>
              <a:t>CSV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601115" y="1138464"/>
            <a:ext cx="761365" cy="354330"/>
            <a:chOff x="3601115" y="1138464"/>
            <a:chExt cx="761365" cy="354330"/>
          </a:xfrm>
        </p:grpSpPr>
        <p:sp>
          <p:nvSpPr>
            <p:cNvPr id="21" name="object 21"/>
            <p:cNvSpPr/>
            <p:nvPr/>
          </p:nvSpPr>
          <p:spPr>
            <a:xfrm>
              <a:off x="3603655" y="1141004"/>
              <a:ext cx="756285" cy="349250"/>
            </a:xfrm>
            <a:custGeom>
              <a:avLst/>
              <a:gdLst/>
              <a:ahLst/>
              <a:cxnLst/>
              <a:rect l="l" t="t" r="r" b="b"/>
              <a:pathLst>
                <a:path w="756285" h="349250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98032"/>
                  </a:lnTo>
                  <a:lnTo>
                    <a:pt x="3977" y="317732"/>
                  </a:lnTo>
                  <a:lnTo>
                    <a:pt x="14823" y="333820"/>
                  </a:lnTo>
                  <a:lnTo>
                    <a:pt x="30910" y="344666"/>
                  </a:lnTo>
                  <a:lnTo>
                    <a:pt x="50610" y="348643"/>
                  </a:lnTo>
                  <a:lnTo>
                    <a:pt x="705400" y="348643"/>
                  </a:lnTo>
                  <a:lnTo>
                    <a:pt x="725101" y="344666"/>
                  </a:lnTo>
                  <a:lnTo>
                    <a:pt x="741188" y="333820"/>
                  </a:lnTo>
                  <a:lnTo>
                    <a:pt x="752034" y="317732"/>
                  </a:lnTo>
                  <a:lnTo>
                    <a:pt x="756011" y="29803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603655" y="1141004"/>
              <a:ext cx="756285" cy="349250"/>
            </a:xfrm>
            <a:custGeom>
              <a:avLst/>
              <a:gdLst/>
              <a:ahLst/>
              <a:cxnLst/>
              <a:rect l="l" t="t" r="r" b="b"/>
              <a:pathLst>
                <a:path w="756285" h="349250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98032"/>
                  </a:lnTo>
                  <a:lnTo>
                    <a:pt x="3977" y="317732"/>
                  </a:lnTo>
                  <a:lnTo>
                    <a:pt x="14823" y="333820"/>
                  </a:lnTo>
                  <a:lnTo>
                    <a:pt x="30910" y="344666"/>
                  </a:lnTo>
                  <a:lnTo>
                    <a:pt x="50610" y="348643"/>
                  </a:lnTo>
                  <a:lnTo>
                    <a:pt x="705400" y="348643"/>
                  </a:lnTo>
                  <a:lnTo>
                    <a:pt x="725101" y="344666"/>
                  </a:lnTo>
                  <a:lnTo>
                    <a:pt x="741188" y="333820"/>
                  </a:lnTo>
                  <a:lnTo>
                    <a:pt x="752034" y="317732"/>
                  </a:lnTo>
                  <a:lnTo>
                    <a:pt x="756011" y="298032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688981" y="1131828"/>
            <a:ext cx="585470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14300" marR="5080" indent="-102235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Tahoma"/>
                <a:cs typeface="Tahoma"/>
              </a:rPr>
              <a:t>C++</a:t>
            </a:r>
            <a:r>
              <a:rPr sz="1000" spc="14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Core </a:t>
            </a:r>
            <a:r>
              <a:rPr sz="1000" spc="-10" dirty="0">
                <a:latin typeface="Tahoma"/>
                <a:cs typeface="Tahoma"/>
              </a:rPr>
              <a:t>Engine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45850" y="1292076"/>
            <a:ext cx="3453129" cy="46990"/>
            <a:chOff x="1145850" y="1292076"/>
            <a:chExt cx="3453129" cy="46990"/>
          </a:xfrm>
        </p:grpSpPr>
        <p:sp>
          <p:nvSpPr>
            <p:cNvPr id="29" name="object 29"/>
            <p:cNvSpPr/>
            <p:nvPr/>
          </p:nvSpPr>
          <p:spPr>
            <a:xfrm>
              <a:off x="1145850" y="1315326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330914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1330914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36045" y="1315326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19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21108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521108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5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349121" y="1315326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534184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534184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362197" y="1315326"/>
              <a:ext cx="185420" cy="0"/>
            </a:xfrm>
            <a:custGeom>
              <a:avLst/>
              <a:gdLst/>
              <a:ahLst/>
              <a:cxnLst/>
              <a:rect l="l" t="t" r="r" b="b"/>
              <a:pathLst>
                <a:path w="185420">
                  <a:moveTo>
                    <a:pt x="0" y="0"/>
                  </a:moveTo>
                  <a:lnTo>
                    <a:pt x="185063" y="0"/>
                  </a:lnTo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547260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0" y="0"/>
                  </a:move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337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547260" y="1297137"/>
              <a:ext cx="46355" cy="36830"/>
            </a:xfrm>
            <a:custGeom>
              <a:avLst/>
              <a:gdLst/>
              <a:ahLst/>
              <a:cxnLst/>
              <a:rect l="l" t="t" r="r" b="b"/>
              <a:pathLst>
                <a:path w="46354" h="36830">
                  <a:moveTo>
                    <a:pt x="46072" y="18188"/>
                  </a:moveTo>
                  <a:lnTo>
                    <a:pt x="38672" y="15977"/>
                  </a:lnTo>
                  <a:lnTo>
                    <a:pt x="26743" y="11840"/>
                  </a:lnTo>
                  <a:lnTo>
                    <a:pt x="12960" y="6329"/>
                  </a:lnTo>
                  <a:lnTo>
                    <a:pt x="0" y="0"/>
                  </a:lnTo>
                  <a:lnTo>
                    <a:pt x="0" y="36377"/>
                  </a:lnTo>
                  <a:lnTo>
                    <a:pt x="12960" y="30047"/>
                  </a:lnTo>
                  <a:lnTo>
                    <a:pt x="26743" y="24536"/>
                  </a:lnTo>
                  <a:lnTo>
                    <a:pt x="38672" y="20399"/>
                  </a:lnTo>
                  <a:lnTo>
                    <a:pt x="46072" y="18188"/>
                  </a:lnTo>
                  <a:close/>
                </a:path>
              </a:pathLst>
            </a:custGeom>
            <a:ln w="10122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4" name="object 24"/>
          <p:cNvGrpSpPr/>
          <p:nvPr/>
        </p:nvGrpSpPr>
        <p:grpSpPr>
          <a:xfrm>
            <a:off x="4614190" y="1150765"/>
            <a:ext cx="761365" cy="329565"/>
            <a:chOff x="4614190" y="1150765"/>
            <a:chExt cx="761365" cy="329565"/>
          </a:xfrm>
        </p:grpSpPr>
        <p:sp>
          <p:nvSpPr>
            <p:cNvPr id="25" name="object 25"/>
            <p:cNvSpPr/>
            <p:nvPr/>
          </p:nvSpPr>
          <p:spPr>
            <a:xfrm>
              <a:off x="4616730" y="1153305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429"/>
                  </a:lnTo>
                  <a:lnTo>
                    <a:pt x="3977" y="293129"/>
                  </a:lnTo>
                  <a:lnTo>
                    <a:pt x="14823" y="309217"/>
                  </a:lnTo>
                  <a:lnTo>
                    <a:pt x="30910" y="320063"/>
                  </a:lnTo>
                  <a:lnTo>
                    <a:pt x="50610" y="324040"/>
                  </a:lnTo>
                  <a:lnTo>
                    <a:pt x="705400" y="324040"/>
                  </a:lnTo>
                  <a:lnTo>
                    <a:pt x="725101" y="320063"/>
                  </a:lnTo>
                  <a:lnTo>
                    <a:pt x="741188" y="309217"/>
                  </a:lnTo>
                  <a:lnTo>
                    <a:pt x="752034" y="293129"/>
                  </a:lnTo>
                  <a:lnTo>
                    <a:pt x="756011" y="273429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16730" y="1153305"/>
              <a:ext cx="756285" cy="324485"/>
            </a:xfrm>
            <a:custGeom>
              <a:avLst/>
              <a:gdLst/>
              <a:ahLst/>
              <a:cxnLst/>
              <a:rect l="l" t="t" r="r" b="b"/>
              <a:pathLst>
                <a:path w="756285" h="324484">
                  <a:moveTo>
                    <a:pt x="705400" y="0"/>
                  </a:moveTo>
                  <a:lnTo>
                    <a:pt x="50610" y="0"/>
                  </a:lnTo>
                  <a:lnTo>
                    <a:pt x="30910" y="3977"/>
                  </a:lnTo>
                  <a:lnTo>
                    <a:pt x="14823" y="14823"/>
                  </a:lnTo>
                  <a:lnTo>
                    <a:pt x="3977" y="30910"/>
                  </a:lnTo>
                  <a:lnTo>
                    <a:pt x="0" y="50610"/>
                  </a:lnTo>
                  <a:lnTo>
                    <a:pt x="0" y="273429"/>
                  </a:lnTo>
                  <a:lnTo>
                    <a:pt x="3977" y="293129"/>
                  </a:lnTo>
                  <a:lnTo>
                    <a:pt x="14823" y="309217"/>
                  </a:lnTo>
                  <a:lnTo>
                    <a:pt x="30910" y="320063"/>
                  </a:lnTo>
                  <a:lnTo>
                    <a:pt x="50610" y="324040"/>
                  </a:lnTo>
                  <a:lnTo>
                    <a:pt x="705400" y="324040"/>
                  </a:lnTo>
                  <a:lnTo>
                    <a:pt x="725101" y="320063"/>
                  </a:lnTo>
                  <a:lnTo>
                    <a:pt x="741188" y="309217"/>
                  </a:lnTo>
                  <a:lnTo>
                    <a:pt x="752034" y="293129"/>
                  </a:lnTo>
                  <a:lnTo>
                    <a:pt x="756011" y="273429"/>
                  </a:lnTo>
                  <a:lnTo>
                    <a:pt x="756011" y="50610"/>
                  </a:lnTo>
                  <a:lnTo>
                    <a:pt x="752034" y="30910"/>
                  </a:lnTo>
                  <a:lnTo>
                    <a:pt x="741188" y="14823"/>
                  </a:lnTo>
                  <a:lnTo>
                    <a:pt x="725101" y="3977"/>
                  </a:lnTo>
                  <a:lnTo>
                    <a:pt x="705400" y="0"/>
                  </a:lnTo>
                  <a:close/>
                </a:path>
              </a:pathLst>
            </a:custGeom>
            <a:ln w="5060">
              <a:solidFill>
                <a:srgbClr val="13376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833137" y="1144122"/>
            <a:ext cx="323215" cy="3295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9215">
              <a:lnSpc>
                <a:spcPts val="1200"/>
              </a:lnSpc>
              <a:spcBef>
                <a:spcPts val="95"/>
              </a:spcBef>
            </a:pPr>
            <a:r>
              <a:rPr sz="1000" spc="-25" dirty="0">
                <a:latin typeface="Tahoma"/>
                <a:cs typeface="Tahoma"/>
              </a:rPr>
              <a:t>CLI</a:t>
            </a:r>
            <a:endParaRPr sz="1000">
              <a:latin typeface="Tahoma"/>
              <a:cs typeface="Tahoma"/>
            </a:endParaRPr>
          </a:p>
          <a:p>
            <a:pPr marL="12700">
              <a:lnSpc>
                <a:spcPts val="1200"/>
              </a:lnSpc>
            </a:pPr>
            <a:r>
              <a:rPr sz="1000" spc="-20" dirty="0">
                <a:latin typeface="Tahoma"/>
                <a:cs typeface="Tahoma"/>
              </a:rPr>
              <a:t>Menu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21894" y="1721885"/>
            <a:ext cx="2077085" cy="10629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1000" b="1" dirty="0">
                <a:solidFill>
                  <a:srgbClr val="133768"/>
                </a:solidFill>
                <a:latin typeface="Arial"/>
                <a:cs typeface="Arial"/>
              </a:rPr>
              <a:t>Major</a:t>
            </a:r>
            <a:r>
              <a:rPr sz="1000" b="1" spc="7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Components</a:t>
            </a:r>
            <a:endParaRPr sz="1000">
              <a:latin typeface="Arial"/>
              <a:cs typeface="Arial"/>
            </a:endParaRPr>
          </a:p>
          <a:p>
            <a:pPr marL="313055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35" dirty="0">
                <a:latin typeface="Tahoma"/>
                <a:cs typeface="Tahoma"/>
              </a:rPr>
              <a:t>Adjacency-</a:t>
            </a:r>
            <a:r>
              <a:rPr sz="1000" dirty="0">
                <a:latin typeface="Tahoma"/>
                <a:cs typeface="Tahoma"/>
              </a:rPr>
              <a:t>list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graph</a:t>
            </a:r>
            <a:r>
              <a:rPr sz="1000" spc="-20" dirty="0">
                <a:latin typeface="Tahoma"/>
                <a:cs typeface="Tahoma"/>
              </a:rPr>
              <a:t> from </a:t>
            </a:r>
            <a:r>
              <a:rPr sz="1000" spc="-25" dirty="0">
                <a:latin typeface="Tahoma"/>
                <a:cs typeface="Tahoma"/>
              </a:rPr>
              <a:t>CSV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dirty="0">
                <a:latin typeface="Tahoma"/>
                <a:cs typeface="Tahoma"/>
              </a:rPr>
              <a:t>Python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Random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Forest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road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risk</a:t>
            </a:r>
            <a:endParaRPr sz="1000">
              <a:latin typeface="Tahoma"/>
              <a:cs typeface="Tahoma"/>
            </a:endParaRPr>
          </a:p>
          <a:p>
            <a:pPr marL="312420" marR="176530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dirty="0">
                <a:latin typeface="Tahoma"/>
                <a:cs typeface="Tahoma"/>
              </a:rPr>
              <a:t>C++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engine:</a:t>
            </a:r>
            <a:r>
              <a:rPr sz="1000" spc="10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structures, 	</a:t>
            </a:r>
            <a:r>
              <a:rPr sz="1000" spc="-30" dirty="0">
                <a:latin typeface="Tahoma"/>
                <a:cs typeface="Tahoma"/>
              </a:rPr>
              <a:t>algorithms,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emergency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logic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942717" y="1721885"/>
            <a:ext cx="2313305" cy="9112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1000" b="1" spc="-50" dirty="0">
                <a:solidFill>
                  <a:srgbClr val="133768"/>
                </a:solidFill>
                <a:latin typeface="Arial"/>
                <a:cs typeface="Arial"/>
              </a:rPr>
              <a:t>Changes</a:t>
            </a:r>
            <a:r>
              <a:rPr sz="1000" b="1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133768"/>
                </a:solidFill>
                <a:latin typeface="Arial"/>
                <a:cs typeface="Arial"/>
              </a:rPr>
              <a:t>Since</a:t>
            </a:r>
            <a:r>
              <a:rPr sz="1000" b="1" spc="3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30" dirty="0">
                <a:solidFill>
                  <a:srgbClr val="133768"/>
                </a:solidFill>
                <a:latin typeface="Arial"/>
                <a:cs typeface="Arial"/>
              </a:rPr>
              <a:t>Phase-</a:t>
            </a:r>
            <a:r>
              <a:rPr sz="1000" b="1" spc="-50" dirty="0">
                <a:solidFill>
                  <a:srgbClr val="133768"/>
                </a:solidFill>
                <a:latin typeface="Arial"/>
                <a:cs typeface="Arial"/>
              </a:rPr>
              <a:t>I</a:t>
            </a:r>
            <a:endParaRPr sz="1000">
              <a:latin typeface="Arial"/>
              <a:cs typeface="Arial"/>
            </a:endParaRPr>
          </a:p>
          <a:p>
            <a:pPr marL="313055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dirty="0">
                <a:latin typeface="Tahoma"/>
                <a:cs typeface="Tahoma"/>
              </a:rPr>
              <a:t>ML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dirty="0">
                <a:latin typeface="Tahoma"/>
                <a:cs typeface="Tahoma"/>
              </a:rPr>
              <a:t>C++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link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via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risk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CSV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30" dirty="0">
                <a:latin typeface="Tahoma"/>
                <a:cs typeface="Tahoma"/>
              </a:rPr>
              <a:t>Database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postponed;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CLI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interface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35" dirty="0">
                <a:latin typeface="Tahoma"/>
                <a:cs typeface="Tahoma"/>
              </a:rPr>
              <a:t>Auto-</a:t>
            </a:r>
            <a:r>
              <a:rPr sz="1000" spc="-20" dirty="0">
                <a:latin typeface="Tahoma"/>
                <a:cs typeface="Tahoma"/>
              </a:rPr>
              <a:t>reroute after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every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road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change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5</a:t>
            </a:fld>
            <a:r>
              <a:rPr spc="-20" dirty="0"/>
              <a:t>/15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C9BB17F0-292A-79EF-5630-CC038302A65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Module</a:t>
            </a:r>
            <a:r>
              <a:rPr spc="55" dirty="0"/>
              <a:t> </a:t>
            </a:r>
            <a:r>
              <a:rPr spc="-10" dirty="0"/>
              <a:t>Design</a:t>
            </a:r>
            <a:r>
              <a:rPr spc="60" dirty="0"/>
              <a:t> </a:t>
            </a:r>
            <a:r>
              <a:rPr spc="170" dirty="0"/>
              <a:t>&amp;</a:t>
            </a:r>
            <a:r>
              <a:rPr spc="55" dirty="0"/>
              <a:t> </a:t>
            </a:r>
            <a:r>
              <a:rPr spc="-10" dirty="0"/>
              <a:t>Functional</a:t>
            </a:r>
            <a:r>
              <a:rPr spc="60" dirty="0"/>
              <a:t> </a:t>
            </a:r>
            <a:r>
              <a:rPr spc="-25" dirty="0"/>
              <a:t>Requirements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47294" y="926877"/>
            <a:ext cx="1852930" cy="134175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b="1" dirty="0">
                <a:solidFill>
                  <a:srgbClr val="133768"/>
                </a:solidFill>
                <a:latin typeface="Arial"/>
                <a:cs typeface="Arial"/>
              </a:rPr>
              <a:t>Major</a:t>
            </a:r>
            <a:r>
              <a:rPr sz="1000" b="1" spc="7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Modules</a:t>
            </a:r>
            <a:endParaRPr sz="1000">
              <a:latin typeface="Arial"/>
              <a:cs typeface="Arial"/>
            </a:endParaRPr>
          </a:p>
          <a:p>
            <a:pPr marL="288925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20" dirty="0">
                <a:latin typeface="Tahoma"/>
                <a:cs typeface="Tahoma"/>
              </a:rPr>
              <a:t>Graph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Dataset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Loader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20" dirty="0">
                <a:latin typeface="Tahoma"/>
                <a:cs typeface="Tahoma"/>
              </a:rPr>
              <a:t>Custom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Data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Structures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20" dirty="0">
                <a:latin typeface="Tahoma"/>
                <a:cs typeface="Tahoma"/>
              </a:rPr>
              <a:t>Graph</a:t>
            </a:r>
            <a:r>
              <a:rPr sz="1000" spc="-5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Algorithms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20" dirty="0">
                <a:latin typeface="Tahoma"/>
                <a:cs typeface="Tahoma"/>
              </a:rPr>
              <a:t>Disaster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Management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Engine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60" dirty="0">
                <a:latin typeface="Tahoma"/>
                <a:cs typeface="Tahoma"/>
              </a:rPr>
              <a:t>ML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Risk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Module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CLI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42717" y="926877"/>
            <a:ext cx="2336165" cy="112649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1000" b="1" spc="-30" dirty="0">
                <a:solidFill>
                  <a:srgbClr val="133768"/>
                </a:solidFill>
                <a:latin typeface="Arial"/>
                <a:cs typeface="Arial"/>
              </a:rPr>
              <a:t>Functional</a:t>
            </a:r>
            <a:r>
              <a:rPr sz="1000" b="1" spc="1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Requirements</a:t>
            </a:r>
            <a:endParaRPr sz="1000">
              <a:latin typeface="Arial"/>
              <a:cs typeface="Arial"/>
            </a:endParaRPr>
          </a:p>
          <a:p>
            <a:pPr marL="313055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dirty="0">
                <a:latin typeface="Tahoma"/>
                <a:cs typeface="Tahoma"/>
              </a:rPr>
              <a:t>Load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validate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CSV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20" dirty="0">
                <a:latin typeface="Tahoma"/>
                <a:cs typeface="Tahoma"/>
              </a:rPr>
              <a:t>Route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by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distance,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time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risk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10" dirty="0">
                <a:latin typeface="Tahoma"/>
                <a:cs typeface="Tahoma"/>
              </a:rPr>
              <a:t>Rank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emergencies;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dispatch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resources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dirty="0">
                <a:latin typeface="Tahoma"/>
                <a:cs typeface="Tahoma"/>
              </a:rPr>
              <a:t>Block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reopen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roads;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reroute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93" y="2388247"/>
            <a:ext cx="5142230" cy="539750"/>
            <a:chOff x="309193" y="2388247"/>
            <a:chExt cx="5142230" cy="539750"/>
          </a:xfrm>
        </p:grpSpPr>
        <p:sp>
          <p:nvSpPr>
            <p:cNvPr id="11" name="object 11"/>
            <p:cNvSpPr/>
            <p:nvPr/>
          </p:nvSpPr>
          <p:spPr>
            <a:xfrm>
              <a:off x="309193" y="2388247"/>
              <a:ext cx="5142230" cy="198755"/>
            </a:xfrm>
            <a:custGeom>
              <a:avLst/>
              <a:gdLst/>
              <a:ahLst/>
              <a:cxnLst/>
              <a:rect l="l" t="t" r="r" b="b"/>
              <a:pathLst>
                <a:path w="5142230" h="198755">
                  <a:moveTo>
                    <a:pt x="5090865" y="0"/>
                  </a:moveTo>
                  <a:lnTo>
                    <a:pt x="50800" y="0"/>
                  </a:lnTo>
                  <a:lnTo>
                    <a:pt x="31075" y="4008"/>
                  </a:lnTo>
                  <a:lnTo>
                    <a:pt x="14922" y="14922"/>
                  </a:lnTo>
                  <a:lnTo>
                    <a:pt x="4008" y="31075"/>
                  </a:lnTo>
                  <a:lnTo>
                    <a:pt x="0" y="50800"/>
                  </a:lnTo>
                  <a:lnTo>
                    <a:pt x="0" y="198367"/>
                  </a:lnTo>
                  <a:lnTo>
                    <a:pt x="5141666" y="198367"/>
                  </a:lnTo>
                  <a:lnTo>
                    <a:pt x="5141666" y="50800"/>
                  </a:lnTo>
                  <a:lnTo>
                    <a:pt x="5137657" y="31075"/>
                  </a:lnTo>
                  <a:lnTo>
                    <a:pt x="5126743" y="14922"/>
                  </a:lnTo>
                  <a:lnTo>
                    <a:pt x="5110590" y="4008"/>
                  </a:lnTo>
                  <a:lnTo>
                    <a:pt x="5090865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2573959"/>
              <a:ext cx="5141666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09193" y="2618237"/>
              <a:ext cx="5142230" cy="309880"/>
            </a:xfrm>
            <a:custGeom>
              <a:avLst/>
              <a:gdLst/>
              <a:ahLst/>
              <a:cxnLst/>
              <a:rect l="l" t="t" r="r" b="b"/>
              <a:pathLst>
                <a:path w="5142230" h="309880">
                  <a:moveTo>
                    <a:pt x="5141666" y="0"/>
                  </a:moveTo>
                  <a:lnTo>
                    <a:pt x="0" y="0"/>
                  </a:lnTo>
                  <a:lnTo>
                    <a:pt x="0" y="258630"/>
                  </a:lnTo>
                  <a:lnTo>
                    <a:pt x="4008" y="278355"/>
                  </a:lnTo>
                  <a:lnTo>
                    <a:pt x="14922" y="294508"/>
                  </a:lnTo>
                  <a:lnTo>
                    <a:pt x="31075" y="305422"/>
                  </a:lnTo>
                  <a:lnTo>
                    <a:pt x="50800" y="309430"/>
                  </a:lnTo>
                  <a:lnTo>
                    <a:pt x="5090865" y="309430"/>
                  </a:lnTo>
                  <a:lnTo>
                    <a:pt x="5110590" y="305422"/>
                  </a:lnTo>
                  <a:lnTo>
                    <a:pt x="5126743" y="294508"/>
                  </a:lnTo>
                  <a:lnTo>
                    <a:pt x="5137657" y="278355"/>
                  </a:lnTo>
                  <a:lnTo>
                    <a:pt x="5141666" y="258630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47294" y="2315963"/>
            <a:ext cx="5065395" cy="60579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Module</a:t>
            </a:r>
            <a:r>
              <a:rPr sz="1200" spc="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Dependency</a:t>
            </a:r>
            <a:endParaRPr sz="1200">
              <a:latin typeface="Gill Sans MT"/>
              <a:cs typeface="Gill Sans MT"/>
            </a:endParaRPr>
          </a:p>
          <a:p>
            <a:pPr marL="12700" marR="5080">
              <a:lnSpc>
                <a:spcPct val="100000"/>
              </a:lnSpc>
              <a:spcBef>
                <a:spcPts val="330"/>
              </a:spcBef>
            </a:pPr>
            <a:r>
              <a:rPr sz="1000" spc="-25" dirty="0">
                <a:latin typeface="Tahoma"/>
                <a:cs typeface="Tahoma"/>
              </a:rPr>
              <a:t>Loader</a:t>
            </a:r>
            <a:r>
              <a:rPr sz="1000" spc="-20" dirty="0">
                <a:latin typeface="Tahoma"/>
                <a:cs typeface="Tahoma"/>
              </a:rPr>
              <a:t> builds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graph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15" dirty="0">
                <a:latin typeface="Arial"/>
                <a:cs typeface="Arial"/>
              </a:rPr>
              <a:t> </a:t>
            </a:r>
            <a:r>
              <a:rPr sz="1000" spc="-30" dirty="0">
                <a:latin typeface="Tahoma"/>
                <a:cs typeface="Tahoma"/>
              </a:rPr>
              <a:t>algorithms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use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data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structures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ML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risk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55" dirty="0">
                <a:latin typeface="Tahoma"/>
                <a:cs typeface="Tahoma"/>
              </a:rPr>
              <a:t>engine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uses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them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→</a:t>
            </a:r>
            <a:r>
              <a:rPr sz="1000" i="1" spc="20" dirty="0">
                <a:latin typeface="Arial"/>
                <a:cs typeface="Arial"/>
              </a:rPr>
              <a:t> </a:t>
            </a:r>
            <a:r>
              <a:rPr sz="1000" spc="-25" dirty="0">
                <a:latin typeface="Tahoma"/>
                <a:cs typeface="Tahoma"/>
              </a:rPr>
              <a:t>CLI </a:t>
            </a:r>
            <a:r>
              <a:rPr sz="1000" spc="-35" dirty="0">
                <a:latin typeface="Tahoma"/>
                <a:cs typeface="Tahoma"/>
              </a:rPr>
              <a:t>drives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all.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6</a:t>
            </a:fld>
            <a:r>
              <a:rPr spc="-20" dirty="0"/>
              <a:t>/15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A8C61C4-FC39-BAE8-8359-C929E5CECFA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0" dirty="0"/>
              <a:t>Technology</a:t>
            </a:r>
            <a:r>
              <a:rPr spc="40" dirty="0"/>
              <a:t> </a:t>
            </a:r>
            <a:r>
              <a:rPr dirty="0"/>
              <a:t>Stack</a:t>
            </a:r>
            <a:r>
              <a:rPr spc="45" dirty="0"/>
              <a:t> </a:t>
            </a:r>
            <a:r>
              <a:rPr spc="170" dirty="0"/>
              <a:t>&amp;</a:t>
            </a:r>
            <a:r>
              <a:rPr spc="40" dirty="0"/>
              <a:t> </a:t>
            </a:r>
            <a:r>
              <a:rPr dirty="0"/>
              <a:t>Development</a:t>
            </a:r>
            <a:r>
              <a:rPr spc="45" dirty="0"/>
              <a:t> </a:t>
            </a:r>
            <a:r>
              <a:rPr spc="-10" dirty="0"/>
              <a:t>Methodology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3" y="1238986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47294" y="1217990"/>
            <a:ext cx="112077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Technology</a:t>
            </a:r>
            <a:r>
              <a:rPr sz="1200" spc="-3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Stack</a:t>
            </a:r>
            <a:endParaRPr sz="1200">
              <a:latin typeface="Gill Sans MT"/>
              <a:cs typeface="Gill Sans MT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930016" y="1238986"/>
            <a:ext cx="2520950" cy="198755"/>
          </a:xfrm>
          <a:custGeom>
            <a:avLst/>
            <a:gdLst/>
            <a:ahLst/>
            <a:cxnLst/>
            <a:rect l="l" t="t" r="r" b="b"/>
            <a:pathLst>
              <a:path w="2520950" h="198755">
                <a:moveTo>
                  <a:pt x="2470010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98367"/>
                </a:lnTo>
                <a:lnTo>
                  <a:pt x="2520810" y="198367"/>
                </a:lnTo>
                <a:lnTo>
                  <a:pt x="2520810" y="50800"/>
                </a:lnTo>
                <a:lnTo>
                  <a:pt x="2516802" y="31075"/>
                </a:lnTo>
                <a:lnTo>
                  <a:pt x="2505888" y="14922"/>
                </a:lnTo>
                <a:lnTo>
                  <a:pt x="2489735" y="4008"/>
                </a:lnTo>
                <a:lnTo>
                  <a:pt x="2470010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2968117" y="1217990"/>
            <a:ext cx="1687830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20" dirty="0">
                <a:solidFill>
                  <a:srgbClr val="133768"/>
                </a:solidFill>
                <a:latin typeface="Gill Sans MT"/>
                <a:cs typeface="Gill Sans MT"/>
              </a:rPr>
              <a:t>Development</a:t>
            </a:r>
            <a:r>
              <a:rPr sz="1200" spc="1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Methodology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309193" y="1424698"/>
            <a:ext cx="2520950" cy="1101090"/>
            <a:chOff x="309193" y="1424698"/>
            <a:chExt cx="2520950" cy="110109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1424698"/>
              <a:ext cx="2520810" cy="50609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09193" y="1468967"/>
              <a:ext cx="2520950" cy="1056640"/>
            </a:xfrm>
            <a:custGeom>
              <a:avLst/>
              <a:gdLst/>
              <a:ahLst/>
              <a:cxnLst/>
              <a:rect l="l" t="t" r="r" b="b"/>
              <a:pathLst>
                <a:path w="2520950" h="1056639">
                  <a:moveTo>
                    <a:pt x="2520810" y="0"/>
                  </a:moveTo>
                  <a:lnTo>
                    <a:pt x="0" y="0"/>
                  </a:lnTo>
                  <a:lnTo>
                    <a:pt x="0" y="1005843"/>
                  </a:lnTo>
                  <a:lnTo>
                    <a:pt x="4008" y="1025568"/>
                  </a:lnTo>
                  <a:lnTo>
                    <a:pt x="14922" y="1041721"/>
                  </a:lnTo>
                  <a:lnTo>
                    <a:pt x="31075" y="1052635"/>
                  </a:lnTo>
                  <a:lnTo>
                    <a:pt x="50800" y="1056644"/>
                  </a:lnTo>
                  <a:lnTo>
                    <a:pt x="2470010" y="1056644"/>
                  </a:lnTo>
                  <a:lnTo>
                    <a:pt x="2489735" y="1052635"/>
                  </a:lnTo>
                  <a:lnTo>
                    <a:pt x="2505888" y="1041721"/>
                  </a:lnTo>
                  <a:lnTo>
                    <a:pt x="2516802" y="1025568"/>
                  </a:lnTo>
                  <a:lnTo>
                    <a:pt x="2520810" y="1005843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304" y="1386681"/>
            <a:ext cx="2105660" cy="110109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203835" indent="-16573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sz="1000" dirty="0">
                <a:latin typeface="Tahoma"/>
                <a:cs typeface="Tahoma"/>
              </a:rPr>
              <a:t>C++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(core),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Python</a:t>
            </a:r>
            <a:r>
              <a:rPr sz="1000" spc="2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(ML)</a:t>
            </a:r>
            <a:endParaRPr sz="1000">
              <a:latin typeface="Tahoma"/>
              <a:cs typeface="Tahoma"/>
            </a:endParaRPr>
          </a:p>
          <a:p>
            <a:pPr marL="203835" indent="-16573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sz="1000" dirty="0">
                <a:latin typeface="Tahoma"/>
                <a:cs typeface="Tahoma"/>
              </a:rPr>
              <a:t>Data:</a:t>
            </a:r>
            <a:r>
              <a:rPr sz="1000" spc="14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CSV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60" dirty="0">
                <a:latin typeface="Tahoma"/>
                <a:cs typeface="Tahoma"/>
              </a:rPr>
              <a:t>now;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MySQL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planned</a:t>
            </a:r>
            <a:endParaRPr sz="1000">
              <a:latin typeface="Tahoma"/>
              <a:cs typeface="Tahoma"/>
            </a:endParaRPr>
          </a:p>
          <a:p>
            <a:pPr marL="20383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sz="1000" dirty="0">
                <a:latin typeface="Tahoma"/>
                <a:cs typeface="Tahoma"/>
              </a:rPr>
              <a:t>ML: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scikit-</a:t>
            </a:r>
            <a:r>
              <a:rPr sz="1000" spc="-25" dirty="0">
                <a:latin typeface="Tahoma"/>
                <a:cs typeface="Tahoma"/>
              </a:rPr>
              <a:t>learn,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NumPy,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Pandas</a:t>
            </a:r>
            <a:endParaRPr sz="1000">
              <a:latin typeface="Tahoma"/>
              <a:cs typeface="Tahoma"/>
            </a:endParaRPr>
          </a:p>
          <a:p>
            <a:pPr marL="20383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sz="1000" spc="-35" dirty="0">
                <a:latin typeface="Tahoma"/>
                <a:cs typeface="Tahoma"/>
              </a:rPr>
              <a:t>Development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Tool:</a:t>
            </a:r>
            <a:r>
              <a:rPr sz="1000" spc="7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VS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Code,</a:t>
            </a:r>
            <a:r>
              <a:rPr sz="1000" spc="-25" dirty="0">
                <a:latin typeface="Tahoma"/>
                <a:cs typeface="Tahoma"/>
              </a:rPr>
              <a:t> g++</a:t>
            </a:r>
            <a:endParaRPr sz="1000">
              <a:latin typeface="Tahoma"/>
              <a:cs typeface="Tahoma"/>
            </a:endParaRPr>
          </a:p>
          <a:p>
            <a:pPr marL="20383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203835" algn="l"/>
              </a:tabLst>
            </a:pPr>
            <a:r>
              <a:rPr sz="1000" spc="-25" dirty="0">
                <a:latin typeface="Tahoma"/>
                <a:cs typeface="Tahoma"/>
              </a:rPr>
              <a:t>Version</a:t>
            </a:r>
            <a:r>
              <a:rPr sz="1000" spc="-10" dirty="0">
                <a:latin typeface="Tahoma"/>
                <a:cs typeface="Tahoma"/>
              </a:rPr>
              <a:t> Control:</a:t>
            </a:r>
            <a:r>
              <a:rPr sz="1000" spc="9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Git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-10" dirty="0">
                <a:latin typeface="Tahoma"/>
                <a:cs typeface="Tahoma"/>
              </a:rPr>
              <a:t> GitHub</a:t>
            </a:r>
            <a:endParaRPr sz="1000">
              <a:latin typeface="Tahoma"/>
              <a:cs typeface="Tahom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2930016" y="1424698"/>
            <a:ext cx="2520950" cy="1087120"/>
            <a:chOff x="2930016" y="1424698"/>
            <a:chExt cx="2520950" cy="108712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30016" y="1424698"/>
              <a:ext cx="2520810" cy="506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2930016" y="1468967"/>
              <a:ext cx="2520950" cy="1042669"/>
            </a:xfrm>
            <a:custGeom>
              <a:avLst/>
              <a:gdLst/>
              <a:ahLst/>
              <a:cxnLst/>
              <a:rect l="l" t="t" r="r" b="b"/>
              <a:pathLst>
                <a:path w="2520950" h="1042669">
                  <a:moveTo>
                    <a:pt x="2520810" y="0"/>
                  </a:moveTo>
                  <a:lnTo>
                    <a:pt x="0" y="0"/>
                  </a:lnTo>
                  <a:lnTo>
                    <a:pt x="0" y="991784"/>
                  </a:lnTo>
                  <a:lnTo>
                    <a:pt x="4008" y="1011509"/>
                  </a:lnTo>
                  <a:lnTo>
                    <a:pt x="14922" y="1027662"/>
                  </a:lnTo>
                  <a:lnTo>
                    <a:pt x="31075" y="1038576"/>
                  </a:lnTo>
                  <a:lnTo>
                    <a:pt x="50800" y="1042585"/>
                  </a:lnTo>
                  <a:lnTo>
                    <a:pt x="2470010" y="1042585"/>
                  </a:lnTo>
                  <a:lnTo>
                    <a:pt x="2489735" y="1038576"/>
                  </a:lnTo>
                  <a:lnTo>
                    <a:pt x="2505888" y="1027662"/>
                  </a:lnTo>
                  <a:lnTo>
                    <a:pt x="2516802" y="1011509"/>
                  </a:lnTo>
                  <a:lnTo>
                    <a:pt x="2520810" y="991784"/>
                  </a:lnTo>
                  <a:lnTo>
                    <a:pt x="2520810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077527" y="1379671"/>
            <a:ext cx="1327785" cy="1101090"/>
          </a:xfrm>
          <a:prstGeom prst="rect">
            <a:avLst/>
          </a:prstGeom>
        </p:spPr>
        <p:txBody>
          <a:bodyPr vert="horz" wrap="square" lIns="0" tIns="75565" rIns="0" bIns="0" rtlCol="0">
            <a:spAutoFit/>
          </a:bodyPr>
          <a:lstStyle/>
          <a:p>
            <a:pPr marL="179705" indent="-16700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sz="1000" spc="-35" dirty="0">
                <a:latin typeface="Tahoma"/>
                <a:cs typeface="Tahoma"/>
              </a:rPr>
              <a:t>Requirement</a:t>
            </a:r>
            <a:r>
              <a:rPr sz="1000" spc="-20" dirty="0">
                <a:latin typeface="Tahoma"/>
                <a:cs typeface="Tahoma"/>
              </a:rPr>
              <a:t> Analysis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sz="1000" spc="-35" dirty="0">
                <a:latin typeface="Tahoma"/>
                <a:cs typeface="Tahoma"/>
              </a:rPr>
              <a:t>System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Design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sz="1000" dirty="0">
                <a:latin typeface="Tahoma"/>
                <a:cs typeface="Tahoma"/>
              </a:rPr>
              <a:t>Module</a:t>
            </a:r>
            <a:r>
              <a:rPr sz="1000" spc="-7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Development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sz="1000" spc="-10" dirty="0">
                <a:latin typeface="Tahoma"/>
                <a:cs typeface="Tahoma"/>
              </a:rPr>
              <a:t>Integration</a:t>
            </a:r>
            <a:endParaRPr sz="1000">
              <a:latin typeface="Tahoma"/>
              <a:cs typeface="Tahoma"/>
            </a:endParaRPr>
          </a:p>
          <a:p>
            <a:pPr marL="179705" indent="-16700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AutoNum type="arabicPeriod"/>
              <a:tabLst>
                <a:tab pos="179705" algn="l"/>
              </a:tabLst>
            </a:pPr>
            <a:r>
              <a:rPr sz="1000" spc="-25" dirty="0">
                <a:latin typeface="Tahoma"/>
                <a:cs typeface="Tahoma"/>
              </a:rPr>
              <a:t>Testing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70" dirty="0">
                <a:latin typeface="Tahoma"/>
                <a:cs typeface="Tahoma"/>
              </a:rPr>
              <a:t>&amp;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Validation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7294" y="2669399"/>
            <a:ext cx="212026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30" dirty="0">
                <a:solidFill>
                  <a:srgbClr val="595959"/>
                </a:solidFill>
                <a:latin typeface="Arial"/>
                <a:cs typeface="Arial"/>
              </a:rPr>
              <a:t>Stages</a:t>
            </a:r>
            <a:r>
              <a:rPr sz="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35" dirty="0">
                <a:solidFill>
                  <a:srgbClr val="595959"/>
                </a:solidFill>
                <a:latin typeface="Arial"/>
                <a:cs typeface="Arial"/>
              </a:rPr>
              <a:t>1–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4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done;</a:t>
            </a:r>
            <a:r>
              <a:rPr sz="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"/>
                <a:cs typeface="Arial"/>
              </a:rPr>
              <a:t>stage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5</a:t>
            </a:r>
            <a:r>
              <a:rPr sz="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(testing)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in</a:t>
            </a:r>
            <a:r>
              <a:rPr sz="800" spc="4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5" dirty="0">
                <a:solidFill>
                  <a:srgbClr val="595959"/>
                </a:solidFill>
                <a:latin typeface="Arial"/>
                <a:cs typeface="Arial"/>
              </a:rPr>
              <a:t>progress.</a:t>
            </a:r>
            <a:endParaRPr sz="8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03505">
              <a:lnSpc>
                <a:spcPts val="675"/>
              </a:lnSpc>
            </a:pPr>
            <a:fld id="{81D60167-4931-47E6-BA6A-407CBD079E47}" type="slidenum">
              <a:rPr spc="-20" dirty="0"/>
              <a:t>7</a:t>
            </a:fld>
            <a:r>
              <a:rPr spc="-20" dirty="0"/>
              <a:t>/15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E93D79D-2850-E73C-DD91-A1794FE219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Implementation</a:t>
            </a:r>
            <a:r>
              <a:rPr spc="80" dirty="0"/>
              <a:t> </a:t>
            </a:r>
            <a:r>
              <a:rPr dirty="0"/>
              <a:t>of</a:t>
            </a:r>
            <a:r>
              <a:rPr spc="80" dirty="0"/>
              <a:t> </a:t>
            </a:r>
            <a:r>
              <a:rPr dirty="0"/>
              <a:t>PBL</a:t>
            </a:r>
            <a:r>
              <a:rPr spc="80" dirty="0"/>
              <a:t> </a:t>
            </a:r>
            <a:r>
              <a:rPr spc="-40" dirty="0"/>
              <a:t>Course</a:t>
            </a:r>
            <a:r>
              <a:rPr spc="80" dirty="0"/>
              <a:t> </a:t>
            </a:r>
            <a:r>
              <a:rPr spc="-25" dirty="0"/>
              <a:t>Concepts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0781" y="1159738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8081" y="1200770"/>
            <a:ext cx="34163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spc="-45" dirty="0">
                <a:latin typeface="Arial"/>
                <a:cs typeface="Arial"/>
              </a:rPr>
              <a:t>Course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35855" y="1200770"/>
            <a:ext cx="14484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"/>
                <a:cs typeface="Arial"/>
              </a:rPr>
              <a:t>Concepts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Actually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Implemented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170699" y="1200770"/>
            <a:ext cx="7188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Project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60781" y="1389659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48081" y="1428609"/>
            <a:ext cx="96202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b="1" dirty="0">
                <a:latin typeface="Arial"/>
                <a:cs typeface="Arial"/>
              </a:rPr>
              <a:t>Data</a:t>
            </a:r>
            <a:r>
              <a:rPr sz="800" b="1" spc="305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Structures</a:t>
            </a:r>
            <a:r>
              <a:rPr sz="800" b="1" spc="305" dirty="0">
                <a:latin typeface="Arial"/>
                <a:cs typeface="Arial"/>
              </a:rPr>
              <a:t> </a:t>
            </a:r>
            <a:r>
              <a:rPr sz="800" b="1" spc="-50" dirty="0">
                <a:latin typeface="Arial"/>
                <a:cs typeface="Arial"/>
              </a:rPr>
              <a:t>in</a:t>
            </a:r>
            <a:r>
              <a:rPr sz="800" b="1" spc="114" dirty="0">
                <a:latin typeface="Arial"/>
                <a:cs typeface="Arial"/>
              </a:rPr>
              <a:t> C++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5912" y="1428609"/>
            <a:ext cx="2490457" cy="809837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6350" algn="just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Adjacency-</a:t>
            </a:r>
            <a:r>
              <a:rPr sz="800" dirty="0">
                <a:latin typeface="Arial"/>
                <a:cs typeface="Arial"/>
              </a:rPr>
              <a:t>list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graph;</a:t>
            </a:r>
            <a:r>
              <a:rPr sz="800" spc="7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own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queue,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stack,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priority</a:t>
            </a:r>
            <a:r>
              <a:rPr sz="800" spc="55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queue,</a:t>
            </a:r>
            <a:r>
              <a:rPr sz="800" dirty="0">
                <a:latin typeface="Arial"/>
                <a:cs typeface="Arial"/>
              </a:rPr>
              <a:t> min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heap,</a:t>
            </a:r>
            <a:r>
              <a:rPr sz="800" spc="7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hash</a:t>
            </a:r>
            <a:r>
              <a:rPr sz="800" spc="7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map</a:t>
            </a:r>
            <a:r>
              <a:rPr sz="800" spc="7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7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set;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Dijkstra,</a:t>
            </a:r>
            <a:r>
              <a:rPr sz="800" spc="7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A*,</a:t>
            </a:r>
            <a:r>
              <a:rPr sz="800" spc="7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BFS,</a:t>
            </a:r>
            <a:r>
              <a:rPr sz="800" spc="6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DFS, </a:t>
            </a:r>
            <a:r>
              <a:rPr sz="800" dirty="0">
                <a:latin typeface="Arial"/>
                <a:cs typeface="Arial"/>
              </a:rPr>
              <a:t>articulation</a:t>
            </a:r>
            <a:r>
              <a:rPr sz="800" spc="10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points</a:t>
            </a:r>
            <a:endParaRPr sz="800" dirty="0">
              <a:latin typeface="Arial"/>
              <a:cs typeface="Arial"/>
            </a:endParaRPr>
          </a:p>
          <a:p>
            <a:pPr marL="12700" marR="5080" algn="just">
              <a:lnSpc>
                <a:spcPct val="100000"/>
              </a:lnSpc>
              <a:spcBef>
                <a:spcPts val="275"/>
              </a:spcBef>
            </a:pPr>
            <a:r>
              <a:rPr lang="en-IN" sz="800" dirty="0"/>
              <a:t>Classes &amp; Objects, Encapsulation of Graph and Disaster Operations, Constructors, Pointers, Object Composition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70514" y="1428609"/>
            <a:ext cx="114109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Graph</a:t>
            </a:r>
            <a:r>
              <a:rPr sz="800" spc="240" dirty="0">
                <a:latin typeface="Arial"/>
                <a:cs typeface="Arial"/>
              </a:rPr>
              <a:t>  </a:t>
            </a:r>
            <a:r>
              <a:rPr sz="800" spc="100" dirty="0">
                <a:latin typeface="Arial"/>
                <a:cs typeface="Arial"/>
              </a:rPr>
              <a:t>&amp;</a:t>
            </a:r>
            <a:r>
              <a:rPr sz="800" spc="240" dirty="0">
                <a:latin typeface="Arial"/>
                <a:cs typeface="Arial"/>
              </a:rPr>
              <a:t>  </a:t>
            </a:r>
            <a:r>
              <a:rPr sz="800" spc="-10" dirty="0">
                <a:latin typeface="Arial"/>
                <a:cs typeface="Arial"/>
              </a:rPr>
              <a:t>Algorithms; Disaster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Engine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48081" y="1825268"/>
            <a:ext cx="8178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b="1" dirty="0">
                <a:latin typeface="Arial"/>
                <a:cs typeface="Arial"/>
              </a:rPr>
              <a:t>OOPs with</a:t>
            </a:r>
            <a:r>
              <a:rPr sz="800" b="1" spc="-5" dirty="0">
                <a:latin typeface="Arial"/>
                <a:cs typeface="Arial"/>
              </a:rPr>
              <a:t> </a:t>
            </a:r>
            <a:r>
              <a:rPr sz="800" b="1" spc="114" dirty="0">
                <a:latin typeface="Arial"/>
                <a:cs typeface="Arial"/>
              </a:rPr>
              <a:t>C++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0514" y="1825268"/>
            <a:ext cx="9480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Disaster</a:t>
            </a:r>
            <a:r>
              <a:rPr sz="800" spc="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Engine;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60781" y="2256637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21894" y="2344382"/>
            <a:ext cx="4697730" cy="474980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385"/>
              </a:spcBef>
            </a:pPr>
            <a:r>
              <a:rPr sz="800" b="1" dirty="0">
                <a:solidFill>
                  <a:srgbClr val="133768"/>
                </a:solidFill>
                <a:latin typeface="Arial"/>
                <a:cs typeface="Arial"/>
              </a:rPr>
              <a:t>Where</a:t>
            </a:r>
            <a:r>
              <a:rPr sz="800" b="1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800" b="1" dirty="0">
                <a:solidFill>
                  <a:srgbClr val="133768"/>
                </a:solidFill>
                <a:latin typeface="Arial"/>
                <a:cs typeface="Arial"/>
              </a:rPr>
              <a:t>it</a:t>
            </a:r>
            <a:r>
              <a:rPr sz="800" b="1" spc="2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800" b="1" spc="-25" dirty="0">
                <a:solidFill>
                  <a:srgbClr val="133768"/>
                </a:solidFill>
                <a:latin typeface="Arial"/>
                <a:cs typeface="Arial"/>
              </a:rPr>
              <a:t>is</a:t>
            </a:r>
            <a:r>
              <a:rPr sz="800" b="1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800" b="1" spc="-20" dirty="0">
                <a:solidFill>
                  <a:srgbClr val="133768"/>
                </a:solidFill>
                <a:latin typeface="Arial"/>
                <a:cs typeface="Arial"/>
              </a:rPr>
              <a:t>used</a:t>
            </a:r>
            <a:endParaRPr sz="800">
              <a:latin typeface="Arial"/>
              <a:cs typeface="Arial"/>
            </a:endParaRPr>
          </a:p>
          <a:p>
            <a:pPr marL="313055" indent="-146050">
              <a:lnSpc>
                <a:spcPct val="100000"/>
              </a:lnSpc>
              <a:spcBef>
                <a:spcPts val="28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800" dirty="0">
                <a:latin typeface="Arial"/>
                <a:cs typeface="Arial"/>
              </a:rPr>
              <a:t>Min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heap:</a:t>
            </a:r>
            <a:r>
              <a:rPr sz="800" spc="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Dijkstra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65" dirty="0">
                <a:latin typeface="Arial"/>
                <a:cs typeface="Arial"/>
              </a:rPr>
              <a:t>A*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frontier,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resource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selection.</a:t>
            </a:r>
            <a:r>
              <a:rPr sz="800" spc="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Priority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queue:</a:t>
            </a:r>
            <a:r>
              <a:rPr sz="800" spc="155" dirty="0">
                <a:latin typeface="Arial"/>
                <a:cs typeface="Arial"/>
              </a:rPr>
              <a:t> </a:t>
            </a:r>
            <a:r>
              <a:rPr sz="800" spc="-35" dirty="0">
                <a:latin typeface="Arial"/>
                <a:cs typeface="Arial"/>
              </a:rPr>
              <a:t>emergencies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by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severity</a:t>
            </a:r>
            <a:endParaRPr sz="800">
              <a:latin typeface="Arial"/>
              <a:cs typeface="Arial"/>
            </a:endParaRPr>
          </a:p>
          <a:p>
            <a:pPr marL="313055" indent="-146050">
              <a:lnSpc>
                <a:spcPct val="100000"/>
              </a:lnSpc>
              <a:spcBef>
                <a:spcPts val="85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800" spc="-10" dirty="0">
                <a:latin typeface="Arial"/>
                <a:cs typeface="Arial"/>
              </a:rPr>
              <a:t>Hash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map: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location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lookup.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Set: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blocked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roads,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visited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nodes.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Queue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stack: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BFS,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DFS,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paths</a:t>
            </a:r>
            <a:endParaRPr sz="800">
              <a:latin typeface="Arial"/>
              <a:cs typeface="Arial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675"/>
              </a:lnSpc>
            </a:pPr>
            <a:fld id="{81D60167-4931-47E6-BA6A-407CBD079E47}" type="slidenum">
              <a:rPr spc="-10" dirty="0"/>
              <a:t>8</a:t>
            </a:fld>
            <a:r>
              <a:rPr spc="-10" dirty="0"/>
              <a:t>/15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5EA60F18-6AA1-A7E7-9E10-7ED3E800C65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47294" y="302841"/>
            <a:ext cx="349186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b="1" dirty="0">
                <a:solidFill>
                  <a:srgbClr val="133768"/>
                </a:solidFill>
                <a:latin typeface="Arial"/>
                <a:cs typeface="Arial"/>
              </a:rPr>
              <a:t>Development</a:t>
            </a:r>
            <a:r>
              <a:rPr sz="1400" b="1" spc="4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400" b="1" spc="170" dirty="0">
                <a:solidFill>
                  <a:srgbClr val="133768"/>
                </a:solidFill>
                <a:latin typeface="Arial"/>
                <a:cs typeface="Arial"/>
              </a:rPr>
              <a:t>&amp;</a:t>
            </a:r>
            <a:r>
              <a:rPr sz="1400" b="1" spc="4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33768"/>
                </a:solidFill>
                <a:latin typeface="Arial"/>
                <a:cs typeface="Arial"/>
              </a:rPr>
              <a:t>Implementation</a:t>
            </a:r>
            <a:r>
              <a:rPr sz="1400" b="1" spc="4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400" b="1" spc="-40" dirty="0">
                <a:solidFill>
                  <a:srgbClr val="133768"/>
                </a:solidFill>
                <a:latin typeface="Arial"/>
                <a:cs typeface="Arial"/>
              </a:rPr>
              <a:t>Progress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460781" y="970533"/>
          <a:ext cx="4847589" cy="18040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8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7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8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780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Module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00" b="1" spc="-10" dirty="0">
                          <a:latin typeface="Arial"/>
                          <a:cs typeface="Arial"/>
                        </a:rPr>
                        <a:t>Status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985" marR="3175">
                        <a:lnSpc>
                          <a:spcPct val="100000"/>
                        </a:lnSpc>
                        <a:spcBef>
                          <a:spcPts val="350"/>
                        </a:spcBef>
                      </a:pPr>
                      <a:r>
                        <a:rPr sz="800" b="1" dirty="0">
                          <a:latin typeface="Arial"/>
                          <a:cs typeface="Arial"/>
                        </a:rPr>
                        <a:t>Work</a:t>
                      </a:r>
                      <a:r>
                        <a:rPr sz="800" b="1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b="1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4450" marB="0">
                    <a:lnT w="1270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51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Graph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dataset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loader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254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950"/>
                        </a:lnSpc>
                        <a:spcBef>
                          <a:spcPts val="375"/>
                        </a:spcBef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Adjacency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list;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CSV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with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500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places,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2,500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roads;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ID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validation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47625" marB="0">
                    <a:lnT w="952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Custom data</a:t>
                      </a:r>
                      <a:r>
                        <a:rPr sz="8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structures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 marR="3175">
                        <a:lnSpc>
                          <a:spcPts val="930"/>
                        </a:lnSpc>
                      </a:pPr>
                      <a:r>
                        <a:rPr sz="800" spc="-30" dirty="0">
                          <a:latin typeface="Arial"/>
                          <a:cs typeface="Arial"/>
                        </a:rPr>
                        <a:t>Queue,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stack, priority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queue,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min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heap,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45" dirty="0">
                          <a:latin typeface="Arial"/>
                          <a:cs typeface="Arial"/>
                        </a:rPr>
                        <a:t>hash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map,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set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Graph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algorithms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 marR="3175"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Dijkstra,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A*,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BFS,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DFS,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articulation</a:t>
                      </a:r>
                      <a:r>
                        <a:rPr sz="800" spc="1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points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Disaster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management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engine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5255"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>
                        <a:lnSpc>
                          <a:spcPts val="950"/>
                        </a:lnSpc>
                        <a:spcBef>
                          <a:spcPts val="10"/>
                        </a:spcBef>
                      </a:pPr>
                      <a:r>
                        <a:rPr sz="800" spc="-30" dirty="0">
                          <a:latin typeface="Arial"/>
                          <a:cs typeface="Arial"/>
                        </a:rPr>
                        <a:t>Emergency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priority, </a:t>
                      </a:r>
                      <a:r>
                        <a:rPr sz="800" spc="-35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dispatch,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block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95" dirty="0">
                          <a:latin typeface="Arial"/>
                          <a:cs typeface="Arial"/>
                        </a:rPr>
                        <a:t>/</a:t>
                      </a:r>
                      <a:r>
                        <a:rPr sz="8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reopen, rerouting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4160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ML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risk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module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90" dirty="0">
                          <a:latin typeface="Arial"/>
                          <a:cs typeface="Arial"/>
                        </a:rPr>
                        <a:t>+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14" dirty="0">
                          <a:latin typeface="Arial"/>
                          <a:cs typeface="Arial"/>
                        </a:rPr>
                        <a:t>C++</a:t>
                      </a:r>
                      <a:r>
                        <a:rPr sz="800" spc="6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link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Completed*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 marR="3175" indent="-635">
                        <a:lnSpc>
                          <a:spcPts val="950"/>
                        </a:lnSpc>
                        <a:spcBef>
                          <a:spcPts val="10"/>
                        </a:spcBef>
                        <a:tabLst>
                          <a:tab pos="2026285" algn="l"/>
                        </a:tabLst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Random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Forest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risk CSV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read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by </a:t>
                      </a:r>
                      <a:r>
                        <a:rPr sz="800" spc="90" dirty="0">
                          <a:latin typeface="Arial"/>
                          <a:cs typeface="Arial"/>
                        </a:rPr>
                        <a:t>C++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	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*retraining pending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127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CLI</a:t>
                      </a:r>
                      <a:r>
                        <a:rPr sz="800" spc="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8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integration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Completed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985" marR="3175"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Menu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data,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emergencies,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30" dirty="0">
                          <a:latin typeface="Arial"/>
                          <a:cs typeface="Arial"/>
                        </a:rPr>
                        <a:t>resources,</a:t>
                      </a:r>
                      <a:r>
                        <a:rPr sz="800" spc="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routes,</a:t>
                      </a:r>
                      <a:r>
                        <a:rPr sz="800" spc="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roads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4145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r>
                        <a:rPr sz="800" spc="-45" dirty="0">
                          <a:latin typeface="Arial"/>
                          <a:cs typeface="Arial"/>
                        </a:rPr>
                        <a:t>Edge-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case</a:t>
                      </a:r>
                      <a:r>
                        <a:rPr sz="8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&amp;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performance</a:t>
                      </a:r>
                      <a:r>
                        <a:rPr sz="800" spc="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tests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In</a:t>
                      </a:r>
                      <a:r>
                        <a:rPr sz="8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Progress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33350" marR="3175"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Bad-input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tests;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timing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of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Dijkstra,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A*,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BFS,</a:t>
                      </a:r>
                      <a:r>
                        <a:rPr sz="800" spc="1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DFS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Database,</a:t>
                      </a:r>
                      <a:r>
                        <a:rPr sz="8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0" dirty="0">
                          <a:latin typeface="Arial"/>
                          <a:cs typeface="Arial"/>
                        </a:rPr>
                        <a:t>backend,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25" dirty="0">
                          <a:latin typeface="Arial"/>
                          <a:cs typeface="Arial"/>
                        </a:rPr>
                        <a:t>map</a:t>
                      </a:r>
                      <a:endParaRPr sz="8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4620">
                        <a:lnSpc>
                          <a:spcPts val="930"/>
                        </a:lnSpc>
                      </a:pPr>
                      <a:r>
                        <a:rPr sz="800" spc="-10" dirty="0">
                          <a:latin typeface="Arial"/>
                          <a:cs typeface="Arial"/>
                        </a:rPr>
                        <a:t>Pending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3350" marR="3175">
                        <a:lnSpc>
                          <a:spcPts val="930"/>
                        </a:lnSpc>
                      </a:pPr>
                      <a:r>
                        <a:rPr sz="800" dirty="0">
                          <a:latin typeface="Arial"/>
                          <a:cs typeface="Arial"/>
                        </a:rPr>
                        <a:t>Optional;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only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if</a:t>
                      </a:r>
                      <a:r>
                        <a:rPr sz="800" spc="8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dirty="0">
                          <a:latin typeface="Arial"/>
                          <a:cs typeface="Arial"/>
                        </a:rPr>
                        <a:t>time</a:t>
                      </a:r>
                      <a:r>
                        <a:rPr sz="8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800" spc="-10" dirty="0">
                          <a:latin typeface="Arial"/>
                          <a:cs typeface="Arial"/>
                        </a:rPr>
                        <a:t>allows</a:t>
                      </a:r>
                      <a:endParaRPr sz="800" dirty="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186129" y="2968002"/>
            <a:ext cx="3388360" cy="135293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12065" rIns="0" bIns="0" rtlCol="0">
            <a:spAutoFit/>
          </a:bodyPr>
          <a:lstStyle/>
          <a:p>
            <a:pPr marL="879475">
              <a:lnSpc>
                <a:spcPct val="100000"/>
              </a:lnSpc>
              <a:spcBef>
                <a:spcPts val="95"/>
              </a:spcBef>
            </a:pPr>
            <a:r>
              <a:rPr sz="800" b="1" spc="-20" dirty="0">
                <a:latin typeface="Arial"/>
                <a:cs typeface="Arial"/>
              </a:rPr>
              <a:t>Overall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10" dirty="0">
                <a:latin typeface="Arial"/>
                <a:cs typeface="Arial"/>
              </a:rPr>
              <a:t>Project</a:t>
            </a:r>
            <a:r>
              <a:rPr sz="800" b="1" spc="20" dirty="0">
                <a:latin typeface="Arial"/>
                <a:cs typeface="Arial"/>
              </a:rPr>
              <a:t> </a:t>
            </a:r>
            <a:r>
              <a:rPr sz="800" b="1" spc="-20" dirty="0">
                <a:latin typeface="Arial"/>
                <a:cs typeface="Arial"/>
              </a:rPr>
              <a:t>Completion:</a:t>
            </a:r>
            <a:r>
              <a:rPr sz="800" b="1" spc="95" dirty="0">
                <a:latin typeface="Arial"/>
                <a:cs typeface="Arial"/>
              </a:rPr>
              <a:t> </a:t>
            </a:r>
            <a:r>
              <a:rPr lang="en-IN" sz="800" spc="-10" dirty="0">
                <a:latin typeface="Arial"/>
                <a:cs typeface="Arial"/>
              </a:rPr>
              <a:t>90%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675"/>
              </a:lnSpc>
            </a:pPr>
            <a:fld id="{81D60167-4931-47E6-BA6A-407CBD079E47}" type="slidenum">
              <a:rPr spc="-10" dirty="0"/>
              <a:t>9</a:t>
            </a:fld>
            <a:r>
              <a:rPr spc="-10" dirty="0"/>
              <a:t>/15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B6D7543-8658-DA59-70B0-D04291A85C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Working</a:t>
            </a:r>
            <a:r>
              <a:rPr spc="75" dirty="0"/>
              <a:t> </a:t>
            </a:r>
            <a:r>
              <a:rPr dirty="0"/>
              <a:t>Prototype</a:t>
            </a:r>
            <a:r>
              <a:rPr spc="80" dirty="0"/>
              <a:t> </a:t>
            </a:r>
            <a:r>
              <a:rPr spc="395" dirty="0"/>
              <a:t>/</a:t>
            </a:r>
            <a:r>
              <a:rPr spc="80" dirty="0"/>
              <a:t> </a:t>
            </a:r>
            <a:r>
              <a:rPr spc="-10" dirty="0"/>
              <a:t>Demonstration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1894" y="990521"/>
            <a:ext cx="2292350" cy="17640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5" dirty="0">
                <a:solidFill>
                  <a:srgbClr val="133768"/>
                </a:solidFill>
                <a:latin typeface="Arial"/>
                <a:cs typeface="Arial"/>
              </a:rPr>
              <a:t>Implemented</a:t>
            </a:r>
            <a:r>
              <a:rPr sz="1100" b="1" spc="2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Features</a:t>
            </a:r>
            <a:endParaRPr sz="1100">
              <a:latin typeface="Arial"/>
              <a:cs typeface="Arial"/>
            </a:endParaRPr>
          </a:p>
          <a:p>
            <a:pPr marL="314960" marR="257175" indent="-177165">
              <a:lnSpc>
                <a:spcPct val="102699"/>
              </a:lnSpc>
              <a:spcBef>
                <a:spcPts val="2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Load</a:t>
            </a:r>
            <a:r>
              <a:rPr sz="1100" spc="-40" dirty="0">
                <a:latin typeface="Tahoma"/>
                <a:cs typeface="Tahoma"/>
              </a:rPr>
              <a:t> 500 </a:t>
            </a:r>
            <a:r>
              <a:rPr sz="1100" spc="-25" dirty="0">
                <a:latin typeface="Tahoma"/>
                <a:cs typeface="Tahoma"/>
              </a:rPr>
              <a:t>locations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2,500 </a:t>
            </a:r>
            <a:r>
              <a:rPr sz="1100" spc="-50" dirty="0">
                <a:latin typeface="Tahoma"/>
                <a:cs typeface="Tahoma"/>
              </a:rPr>
              <a:t>roads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CSV</a:t>
            </a:r>
            <a:endParaRPr sz="1100">
              <a:latin typeface="Tahoma"/>
              <a:cs typeface="Tahoma"/>
            </a:endParaRPr>
          </a:p>
          <a:p>
            <a:pPr marL="314960" marR="15557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70" dirty="0">
                <a:latin typeface="Tahoma"/>
                <a:cs typeface="Tahoma"/>
              </a:rPr>
              <a:t>ML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road-</a:t>
            </a:r>
            <a:r>
              <a:rPr sz="1100" spc="-10" dirty="0">
                <a:latin typeface="Tahoma"/>
                <a:cs typeface="Tahoma"/>
              </a:rPr>
              <a:t>risk </a:t>
            </a:r>
            <a:r>
              <a:rPr sz="1100" spc="-30" dirty="0">
                <a:latin typeface="Tahoma"/>
                <a:cs typeface="Tahoma"/>
              </a:rPr>
              <a:t>prediction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10" dirty="0">
                <a:latin typeface="Tahoma"/>
                <a:cs typeface="Tahoma"/>
              </a:rPr>
              <a:t>routing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45" dirty="0">
                <a:latin typeface="Tahoma"/>
                <a:cs typeface="Tahoma"/>
              </a:rPr>
              <a:t>Emergency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handling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resource </a:t>
            </a:r>
            <a:r>
              <a:rPr sz="1100" spc="-10" dirty="0">
                <a:latin typeface="Tahoma"/>
                <a:cs typeface="Tahoma"/>
              </a:rPr>
              <a:t>dispatch</a:t>
            </a:r>
            <a:endParaRPr sz="1100">
              <a:latin typeface="Tahoma"/>
              <a:cs typeface="Tahoma"/>
            </a:endParaRPr>
          </a:p>
          <a:p>
            <a:pPr marL="314960" marR="44259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Block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114" dirty="0">
                <a:latin typeface="Tahoma"/>
                <a:cs typeface="Tahoma"/>
              </a:rPr>
              <a:t>/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reopen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roads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20" dirty="0">
                <a:latin typeface="Tahoma"/>
                <a:cs typeface="Tahoma"/>
              </a:rPr>
              <a:t>automatic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reroute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778822" y="1177949"/>
            <a:ext cx="2672080" cy="215265"/>
          </a:xfrm>
          <a:custGeom>
            <a:avLst/>
            <a:gdLst/>
            <a:ahLst/>
            <a:cxnLst/>
            <a:rect l="l" t="t" r="r" b="b"/>
            <a:pathLst>
              <a:path w="2672079" h="215265">
                <a:moveTo>
                  <a:pt x="262120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2672006" y="215238"/>
                </a:lnTo>
                <a:lnTo>
                  <a:pt x="2672006" y="50800"/>
                </a:lnTo>
                <a:lnTo>
                  <a:pt x="2667998" y="31075"/>
                </a:lnTo>
                <a:lnTo>
                  <a:pt x="2657083" y="14922"/>
                </a:lnTo>
                <a:lnTo>
                  <a:pt x="2640930" y="4008"/>
                </a:lnTo>
                <a:lnTo>
                  <a:pt x="262120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2816923" y="1165400"/>
            <a:ext cx="125666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Prototype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245" dirty="0">
                <a:solidFill>
                  <a:srgbClr val="133768"/>
                </a:solidFill>
                <a:latin typeface="Gill Sans MT"/>
                <a:cs typeface="Gill Sans MT"/>
              </a:rPr>
              <a:t>/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 Output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78822" y="1380540"/>
            <a:ext cx="2672080" cy="1027430"/>
            <a:chOff x="2778822" y="1380540"/>
            <a:chExt cx="2672080" cy="10274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8822" y="1380540"/>
              <a:ext cx="2672006" cy="506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78822" y="1424811"/>
              <a:ext cx="2672080" cy="983615"/>
            </a:xfrm>
            <a:custGeom>
              <a:avLst/>
              <a:gdLst/>
              <a:ahLst/>
              <a:cxnLst/>
              <a:rect l="l" t="t" r="r" b="b"/>
              <a:pathLst>
                <a:path w="2672079" h="983614">
                  <a:moveTo>
                    <a:pt x="2672006" y="0"/>
                  </a:moveTo>
                  <a:lnTo>
                    <a:pt x="0" y="0"/>
                  </a:lnTo>
                  <a:lnTo>
                    <a:pt x="0" y="932231"/>
                  </a:lnTo>
                  <a:lnTo>
                    <a:pt x="4008" y="951956"/>
                  </a:lnTo>
                  <a:lnTo>
                    <a:pt x="14922" y="968109"/>
                  </a:lnTo>
                  <a:lnTo>
                    <a:pt x="31075" y="979023"/>
                  </a:lnTo>
                  <a:lnTo>
                    <a:pt x="50800" y="983032"/>
                  </a:lnTo>
                  <a:lnTo>
                    <a:pt x="2621205" y="983032"/>
                  </a:lnTo>
                  <a:lnTo>
                    <a:pt x="2640930" y="979023"/>
                  </a:lnTo>
                  <a:lnTo>
                    <a:pt x="2657083" y="968109"/>
                  </a:lnTo>
                  <a:lnTo>
                    <a:pt x="2667998" y="951956"/>
                  </a:lnTo>
                  <a:lnTo>
                    <a:pt x="2672006" y="932231"/>
                  </a:lnTo>
                  <a:lnTo>
                    <a:pt x="267200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027248" y="1690787"/>
            <a:ext cx="2174240" cy="3924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90"/>
              </a:spcBef>
            </a:pPr>
            <a:endParaRPr sz="11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620"/>
              </a:spcBef>
            </a:pPr>
            <a:r>
              <a:rPr sz="800" dirty="0">
                <a:latin typeface="Arial"/>
                <a:cs typeface="Arial"/>
              </a:rPr>
              <a:t>(menu,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route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output,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blocked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road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reroute)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587002" y="2900298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59595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2788918"/>
            <a:ext cx="4327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Live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demo:</a:t>
            </a:r>
            <a:r>
              <a:rPr sz="800" spc="11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load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data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8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plan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route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L001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to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LOC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0010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8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block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a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road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i="1" dirty="0">
                <a:solidFill>
                  <a:srgbClr val="595959"/>
                </a:solidFill>
                <a:latin typeface="Arial"/>
                <a:cs typeface="Arial"/>
              </a:rPr>
              <a:t>→</a:t>
            </a:r>
            <a:r>
              <a:rPr sz="800" i="1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"/>
                <a:cs typeface="Arial"/>
              </a:rPr>
              <a:t>show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800" spc="3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new</a:t>
            </a:r>
            <a:r>
              <a:rPr sz="800" spc="2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route.</a:t>
            </a:r>
            <a:endParaRPr sz="800">
              <a:latin typeface="Arial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675"/>
              </a:lnSpc>
            </a:pPr>
            <a:fld id="{81D60167-4931-47E6-BA6A-407CBD079E47}" type="slidenum">
              <a:rPr spc="-10" dirty="0"/>
              <a:t>10</a:t>
            </a:fld>
            <a:r>
              <a:rPr spc="-10" dirty="0"/>
              <a:t>/15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251BF13-54E8-8750-DFF9-C2598F9393A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Testing,</a:t>
            </a:r>
            <a:r>
              <a:rPr spc="30" dirty="0"/>
              <a:t> </a:t>
            </a:r>
            <a:r>
              <a:rPr spc="-30" dirty="0"/>
              <a:t>Results</a:t>
            </a:r>
            <a:r>
              <a:rPr spc="45" dirty="0"/>
              <a:t> </a:t>
            </a:r>
            <a:r>
              <a:rPr spc="170" dirty="0"/>
              <a:t>&amp;</a:t>
            </a:r>
            <a:r>
              <a:rPr spc="45" dirty="0"/>
              <a:t> </a:t>
            </a:r>
            <a:r>
              <a:rPr spc="-10" dirty="0"/>
              <a:t>Validation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0781" y="1064018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8081" y="1088223"/>
            <a:ext cx="6788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Test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Module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71828" y="1088223"/>
            <a:ext cx="75057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Expected</a:t>
            </a:r>
            <a:r>
              <a:rPr sz="800" spc="-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13419" y="1088223"/>
            <a:ext cx="754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5" dirty="0">
                <a:latin typeface="Arial"/>
                <a:cs typeface="Arial"/>
              </a:rPr>
              <a:t>Observed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Result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855009" y="1088223"/>
            <a:ext cx="3111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Status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0781" y="1269898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8081" y="1281265"/>
            <a:ext cx="997585" cy="9391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>
              <a:lnSpc>
                <a:spcPct val="106800"/>
              </a:lnSpc>
              <a:spcBef>
                <a:spcPts val="114"/>
              </a:spcBef>
            </a:pPr>
            <a:r>
              <a:rPr sz="800" dirty="0">
                <a:latin typeface="Arial"/>
                <a:cs typeface="Arial"/>
              </a:rPr>
              <a:t>Dataset </a:t>
            </a:r>
            <a:r>
              <a:rPr sz="800" spc="-10" dirty="0">
                <a:latin typeface="Arial"/>
                <a:cs typeface="Arial"/>
              </a:rPr>
              <a:t>loading </a:t>
            </a:r>
            <a:r>
              <a:rPr sz="800" dirty="0">
                <a:latin typeface="Arial"/>
                <a:cs typeface="Arial"/>
              </a:rPr>
              <a:t>Location</a:t>
            </a:r>
            <a:r>
              <a:rPr sz="800" spc="7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ID</a:t>
            </a:r>
            <a:r>
              <a:rPr sz="800" spc="7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check </a:t>
            </a:r>
            <a:r>
              <a:rPr sz="800" spc="-25" dirty="0">
                <a:latin typeface="Arial"/>
                <a:cs typeface="Arial"/>
              </a:rPr>
              <a:t>Emergency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priority </a:t>
            </a:r>
            <a:r>
              <a:rPr sz="800" dirty="0">
                <a:latin typeface="Arial"/>
                <a:cs typeface="Arial"/>
              </a:rPr>
              <a:t>Route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planning </a:t>
            </a:r>
            <a:r>
              <a:rPr sz="800" dirty="0">
                <a:latin typeface="Arial"/>
                <a:cs typeface="Arial"/>
              </a:rPr>
              <a:t>Dynamic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rerouting </a:t>
            </a:r>
            <a:r>
              <a:rPr sz="800" spc="-45" dirty="0">
                <a:latin typeface="Arial"/>
                <a:cs typeface="Arial"/>
              </a:rPr>
              <a:t>Edge-</a:t>
            </a:r>
            <a:r>
              <a:rPr sz="800" dirty="0">
                <a:latin typeface="Arial"/>
                <a:cs typeface="Arial"/>
              </a:rPr>
              <a:t>case</a:t>
            </a:r>
            <a:r>
              <a:rPr sz="800" spc="335" dirty="0">
                <a:latin typeface="Arial"/>
                <a:cs typeface="Arial"/>
              </a:rPr>
              <a:t> </a:t>
            </a:r>
            <a:r>
              <a:rPr sz="800" spc="195" dirty="0">
                <a:latin typeface="Arial"/>
                <a:cs typeface="Arial"/>
              </a:rPr>
              <a:t>/</a:t>
            </a:r>
            <a:r>
              <a:rPr sz="800" spc="3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perfor-mance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71434" y="1281265"/>
            <a:ext cx="148145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08279">
              <a:lnSpc>
                <a:spcPct val="1084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All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locations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roads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load </a:t>
            </a:r>
            <a:r>
              <a:rPr sz="800" dirty="0">
                <a:latin typeface="Arial"/>
                <a:cs typeface="Arial"/>
              </a:rPr>
              <a:t>Valid,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consistent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IDs</a:t>
            </a:r>
            <a:r>
              <a:rPr sz="800" spc="-20" dirty="0">
                <a:latin typeface="Arial"/>
                <a:cs typeface="Arial"/>
              </a:rPr>
              <a:t> Severity-</a:t>
            </a:r>
            <a:r>
              <a:rPr sz="800" dirty="0">
                <a:latin typeface="Arial"/>
                <a:cs typeface="Arial"/>
              </a:rPr>
              <a:t>first</a:t>
            </a:r>
            <a:r>
              <a:rPr sz="800" spc="19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order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8400"/>
              </a:lnSpc>
            </a:pPr>
            <a:r>
              <a:rPr sz="800" dirty="0">
                <a:latin typeface="Arial"/>
                <a:cs typeface="Arial"/>
              </a:rPr>
              <a:t>Route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found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between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two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40" dirty="0">
                <a:latin typeface="Arial"/>
                <a:cs typeface="Arial"/>
              </a:rPr>
              <a:t>places</a:t>
            </a:r>
            <a:r>
              <a:rPr sz="800" dirty="0">
                <a:latin typeface="Arial"/>
                <a:cs typeface="Arial"/>
              </a:rPr>
              <a:t> Alternate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route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on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block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"/>
              </a:spcBef>
            </a:pPr>
            <a:r>
              <a:rPr sz="800" dirty="0">
                <a:latin typeface="Arial"/>
                <a:cs typeface="Arial"/>
              </a:rPr>
              <a:t>Bad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input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handled;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timings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53633" y="1281265"/>
            <a:ext cx="386080" cy="8136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8400"/>
              </a:lnSpc>
              <a:spcBef>
                <a:spcPts val="100"/>
              </a:spcBef>
            </a:pPr>
            <a:r>
              <a:rPr sz="800" spc="-20" dirty="0">
                <a:latin typeface="Arial"/>
                <a:cs typeface="Arial"/>
              </a:rPr>
              <a:t>Pass Pass Pass Pass </a:t>
            </a:r>
            <a:r>
              <a:rPr sz="800" spc="-20" dirty="0" err="1">
                <a:latin typeface="Arial"/>
                <a:cs typeface="Arial"/>
              </a:rPr>
              <a:t>Pass</a:t>
            </a:r>
            <a:r>
              <a:rPr sz="800" spc="-20" dirty="0">
                <a:latin typeface="Arial"/>
                <a:cs typeface="Arial"/>
              </a:rPr>
              <a:t> </a:t>
            </a:r>
            <a:endParaRPr lang="en-US" sz="800" spc="-30" dirty="0">
              <a:latin typeface="Arial"/>
              <a:cs typeface="Arial"/>
            </a:endParaRPr>
          </a:p>
          <a:p>
            <a:pPr marL="12700" marR="5080">
              <a:lnSpc>
                <a:spcPct val="108400"/>
              </a:lnSpc>
              <a:spcBef>
                <a:spcPts val="100"/>
              </a:spcBef>
            </a:pPr>
            <a:r>
              <a:rPr lang="en-IN" sz="800" spc="-30" dirty="0">
                <a:latin typeface="Arial"/>
                <a:cs typeface="Arial"/>
              </a:rPr>
              <a:t>Pass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124566" y="1800072"/>
            <a:ext cx="32384" cy="0"/>
          </a:xfrm>
          <a:custGeom>
            <a:avLst/>
            <a:gdLst/>
            <a:ahLst/>
            <a:cxnLst/>
            <a:rect l="l" t="t" r="r" b="b"/>
            <a:pathLst>
              <a:path w="32385">
                <a:moveTo>
                  <a:pt x="0" y="0"/>
                </a:moveTo>
                <a:lnTo>
                  <a:pt x="32270" y="0"/>
                </a:lnTo>
              </a:path>
            </a:pathLst>
          </a:custGeom>
          <a:ln w="50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212396" y="1281265"/>
            <a:ext cx="1515745" cy="819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335" marR="5080">
              <a:lnSpc>
                <a:spcPct val="108400"/>
              </a:lnSpc>
              <a:spcBef>
                <a:spcPts val="100"/>
              </a:spcBef>
            </a:pPr>
            <a:r>
              <a:rPr sz="800" dirty="0">
                <a:latin typeface="Arial"/>
                <a:cs typeface="Arial"/>
              </a:rPr>
              <a:t>500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locations,</a:t>
            </a:r>
            <a:r>
              <a:rPr sz="800" spc="-3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2,500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roads</a:t>
            </a:r>
            <a:r>
              <a:rPr sz="800" spc="-35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loaded</a:t>
            </a:r>
            <a:r>
              <a:rPr sz="800" dirty="0">
                <a:latin typeface="Arial"/>
                <a:cs typeface="Arial"/>
              </a:rPr>
              <a:t> IDs </a:t>
            </a:r>
            <a:r>
              <a:rPr sz="800" spc="-10" dirty="0">
                <a:latin typeface="Arial"/>
                <a:cs typeface="Arial"/>
              </a:rPr>
              <a:t>normalized</a:t>
            </a:r>
            <a:r>
              <a:rPr sz="800" dirty="0">
                <a:latin typeface="Arial"/>
                <a:cs typeface="Arial"/>
              </a:rPr>
              <a:t> and </a:t>
            </a:r>
            <a:r>
              <a:rPr sz="800" spc="-10" dirty="0">
                <a:latin typeface="Arial"/>
                <a:cs typeface="Arial"/>
              </a:rPr>
              <a:t>verified </a:t>
            </a:r>
            <a:r>
              <a:rPr sz="800" dirty="0">
                <a:latin typeface="Arial"/>
                <a:cs typeface="Arial"/>
              </a:rPr>
              <a:t>Higher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severity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served</a:t>
            </a:r>
            <a:r>
              <a:rPr sz="80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first</a:t>
            </a:r>
            <a:endParaRPr sz="800">
              <a:latin typeface="Arial"/>
              <a:cs typeface="Arial"/>
            </a:endParaRPr>
          </a:p>
          <a:p>
            <a:pPr marL="12700" marR="41275" algn="just">
              <a:lnSpc>
                <a:spcPct val="108400"/>
              </a:lnSpc>
            </a:pPr>
            <a:r>
              <a:rPr sz="800" dirty="0">
                <a:latin typeface="Arial"/>
                <a:cs typeface="Arial"/>
              </a:rPr>
              <a:t>Route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L001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LOC</a:t>
            </a:r>
            <a:r>
              <a:rPr sz="800" spc="3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0010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found </a:t>
            </a:r>
            <a:r>
              <a:rPr sz="800" dirty="0">
                <a:latin typeface="Arial"/>
                <a:cs typeface="Arial"/>
              </a:rPr>
              <a:t>Road</a:t>
            </a:r>
            <a:r>
              <a:rPr sz="800" spc="-10" dirty="0">
                <a:latin typeface="Arial"/>
                <a:cs typeface="Arial"/>
              </a:rPr>
              <a:t> blocked;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new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route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45" dirty="0">
                <a:latin typeface="Arial"/>
                <a:cs typeface="Arial"/>
              </a:rPr>
              <a:t>chosen</a:t>
            </a:r>
            <a:r>
              <a:rPr sz="800" dirty="0">
                <a:latin typeface="Arial"/>
                <a:cs typeface="Arial"/>
              </a:rPr>
              <a:t> Not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completed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yet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60781" y="2257081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09193" y="2549765"/>
            <a:ext cx="5142230" cy="215265"/>
          </a:xfrm>
          <a:custGeom>
            <a:avLst/>
            <a:gdLst/>
            <a:ahLst/>
            <a:cxnLst/>
            <a:rect l="l" t="t" r="r" b="b"/>
            <a:pathLst>
              <a:path w="5142230" h="215264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15238"/>
                </a:lnTo>
                <a:lnTo>
                  <a:pt x="5141666" y="215238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347294" y="2537203"/>
            <a:ext cx="126174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Results</a:t>
            </a:r>
            <a:r>
              <a:rPr sz="1200" spc="35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245" dirty="0">
                <a:solidFill>
                  <a:srgbClr val="133768"/>
                </a:solidFill>
                <a:latin typeface="Gill Sans MT"/>
                <a:cs typeface="Gill Sans MT"/>
              </a:rPr>
              <a:t>/</a:t>
            </a:r>
            <a:r>
              <a:rPr sz="1200" spc="4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Validation</a:t>
            </a:r>
            <a:endParaRPr sz="1200" dirty="0">
              <a:latin typeface="Gill Sans MT"/>
              <a:cs typeface="Gill Sans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09193" y="2752344"/>
            <a:ext cx="5142230" cy="215265"/>
            <a:chOff x="309193" y="2752344"/>
            <a:chExt cx="5142230" cy="21526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2752344"/>
              <a:ext cx="5141666" cy="5060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09193" y="2796630"/>
              <a:ext cx="5142230" cy="171450"/>
            </a:xfrm>
            <a:custGeom>
              <a:avLst/>
              <a:gdLst/>
              <a:ahLst/>
              <a:cxnLst/>
              <a:rect l="l" t="t" r="r" b="b"/>
              <a:pathLst>
                <a:path w="5142230" h="171450">
                  <a:moveTo>
                    <a:pt x="5141666" y="0"/>
                  </a:moveTo>
                  <a:lnTo>
                    <a:pt x="0" y="0"/>
                  </a:lnTo>
                  <a:lnTo>
                    <a:pt x="0" y="120153"/>
                  </a:lnTo>
                  <a:lnTo>
                    <a:pt x="4008" y="139878"/>
                  </a:lnTo>
                  <a:lnTo>
                    <a:pt x="14922" y="156031"/>
                  </a:lnTo>
                  <a:lnTo>
                    <a:pt x="31075" y="166945"/>
                  </a:lnTo>
                  <a:lnTo>
                    <a:pt x="50800" y="170953"/>
                  </a:lnTo>
                  <a:lnTo>
                    <a:pt x="5090865" y="170953"/>
                  </a:lnTo>
                  <a:lnTo>
                    <a:pt x="5110590" y="166945"/>
                  </a:lnTo>
                  <a:lnTo>
                    <a:pt x="5126743" y="156031"/>
                  </a:lnTo>
                  <a:lnTo>
                    <a:pt x="5137657" y="139878"/>
                  </a:lnTo>
                  <a:lnTo>
                    <a:pt x="5141666" y="120153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47294" y="2787255"/>
            <a:ext cx="5066296" cy="12311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IN" sz="800" dirty="0"/>
              <a:t>Core functional tests passed. ML accuracy: 97.6%. Dijkstra vs A* runtime: Not benchmarked 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675"/>
              </a:lnSpc>
            </a:pPr>
            <a:fld id="{81D60167-4931-47E6-BA6A-407CBD079E47}" type="slidenum">
              <a:rPr spc="-10" dirty="0"/>
              <a:t>11</a:t>
            </a:fld>
            <a:r>
              <a:rPr spc="-10" dirty="0"/>
              <a:t>/15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0963607B-A23B-A749-A491-959B3454207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GitHub</a:t>
            </a:r>
            <a:r>
              <a:rPr spc="90" dirty="0"/>
              <a:t> </a:t>
            </a:r>
            <a:r>
              <a:rPr spc="-30" dirty="0"/>
              <a:t>Repository</a:t>
            </a:r>
            <a:r>
              <a:rPr spc="95" dirty="0"/>
              <a:t> </a:t>
            </a:r>
            <a:r>
              <a:rPr spc="170" dirty="0"/>
              <a:t>&amp;</a:t>
            </a:r>
            <a:r>
              <a:rPr spc="90" dirty="0"/>
              <a:t> </a:t>
            </a:r>
            <a:r>
              <a:rPr dirty="0"/>
              <a:t>Development</a:t>
            </a:r>
            <a:r>
              <a:rPr spc="95" dirty="0"/>
              <a:t> </a:t>
            </a:r>
            <a:r>
              <a:rPr spc="-10" dirty="0"/>
              <a:t>Activity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7381" y="816298"/>
            <a:ext cx="2558415" cy="17500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45" dirty="0">
                <a:solidFill>
                  <a:srgbClr val="133768"/>
                </a:solidFill>
                <a:latin typeface="Arial"/>
                <a:cs typeface="Arial"/>
              </a:rPr>
              <a:t>Repository</a:t>
            </a:r>
            <a:r>
              <a:rPr sz="1100" b="1" spc="1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Information</a:t>
            </a:r>
            <a:endParaRPr sz="1100" dirty="0">
              <a:latin typeface="Arial"/>
              <a:cs typeface="Arial"/>
            </a:endParaRPr>
          </a:p>
          <a:p>
            <a:pPr marL="314960" marR="30480" indent="-177165">
              <a:lnSpc>
                <a:spcPts val="1350"/>
              </a:lnSpc>
              <a:spcBef>
                <a:spcPts val="35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GitHub: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800" spc="60" dirty="0">
                <a:latin typeface="Calibri"/>
                <a:cs typeface="Calibri"/>
              </a:rPr>
              <a:t>github.com/harsh-</a:t>
            </a:r>
            <a:r>
              <a:rPr sz="800" spc="50" dirty="0">
                <a:latin typeface="Calibri"/>
                <a:cs typeface="Calibri"/>
              </a:rPr>
              <a:t>raunchela/ </a:t>
            </a:r>
            <a:r>
              <a:rPr sz="800" spc="65" dirty="0">
                <a:latin typeface="Calibri"/>
                <a:cs typeface="Calibri"/>
              </a:rPr>
              <a:t>dynamic-</a:t>
            </a:r>
            <a:r>
              <a:rPr sz="800" spc="80" dirty="0">
                <a:latin typeface="Calibri"/>
                <a:cs typeface="Calibri"/>
              </a:rPr>
              <a:t>disaster-risk-</a:t>
            </a:r>
            <a:r>
              <a:rPr sz="800" spc="100" dirty="0">
                <a:latin typeface="Calibri"/>
                <a:cs typeface="Calibri"/>
              </a:rPr>
              <a:t>rescue-</a:t>
            </a:r>
            <a:r>
              <a:rPr sz="800" spc="85" dirty="0">
                <a:latin typeface="Calibri"/>
                <a:cs typeface="Calibri"/>
              </a:rPr>
              <a:t>optimization</a:t>
            </a:r>
            <a:endParaRPr sz="800" dirty="0">
              <a:latin typeface="Calibri"/>
              <a:cs typeface="Calibri"/>
            </a:endParaRPr>
          </a:p>
          <a:p>
            <a:pPr marL="314960" indent="-177165">
              <a:spcBef>
                <a:spcPts val="28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README.md:</a:t>
            </a:r>
            <a:r>
              <a:rPr lang="en-IN" sz="1100" spc="135" dirty="0">
                <a:latin typeface="Tahoma"/>
                <a:cs typeface="Tahoma"/>
              </a:rPr>
              <a:t> </a:t>
            </a:r>
            <a:r>
              <a:rPr lang="en-IN" sz="800" dirty="0"/>
              <a:t>Project Overview, Setup &amp; Usage Instructions</a:t>
            </a:r>
            <a:endParaRPr sz="800" dirty="0">
              <a:latin typeface="Arial"/>
              <a:cs typeface="Arial"/>
            </a:endParaRPr>
          </a:p>
          <a:p>
            <a:pPr marL="314960" marR="57340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Contributors:</a:t>
            </a:r>
            <a:r>
              <a:rPr sz="1100" spc="40" dirty="0">
                <a:latin typeface="Tahoma"/>
                <a:cs typeface="Tahoma"/>
              </a:rPr>
              <a:t> </a:t>
            </a:r>
            <a:r>
              <a:rPr lang="en-IN" sz="1000" spc="-10" dirty="0">
                <a:latin typeface="Arial"/>
                <a:cs typeface="Arial"/>
              </a:rPr>
              <a:t>Harsh Raunchela, Kashish Rajput, Piyush Maurya, Parv Gautam</a:t>
            </a:r>
            <a:endParaRPr sz="1000" dirty="0">
              <a:latin typeface="Arial"/>
              <a:cs typeface="Arial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Branch: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main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835897" y="852799"/>
            <a:ext cx="2596515" cy="16300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b="1" spc="-25" dirty="0">
                <a:solidFill>
                  <a:srgbClr val="133768"/>
                </a:solidFill>
                <a:latin typeface="Arial"/>
                <a:cs typeface="Arial"/>
              </a:rPr>
              <a:t>Development</a:t>
            </a:r>
            <a:r>
              <a:rPr sz="1100" b="1" spc="2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100" b="1" spc="-10" dirty="0">
                <a:solidFill>
                  <a:srgbClr val="133768"/>
                </a:solidFill>
                <a:latin typeface="Arial"/>
                <a:cs typeface="Arial"/>
              </a:rPr>
              <a:t>Activity</a:t>
            </a:r>
            <a:endParaRPr sz="1100" dirty="0">
              <a:latin typeface="Arial"/>
              <a:cs typeface="Arial"/>
            </a:endParaRPr>
          </a:p>
          <a:p>
            <a:pPr marL="314960" marR="371475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Project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setup,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graph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dataset </a:t>
            </a:r>
            <a:r>
              <a:rPr sz="1100" spc="-10" dirty="0">
                <a:latin typeface="Tahoma"/>
                <a:cs typeface="Tahoma"/>
              </a:rPr>
              <a:t>loading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25" dirty="0">
                <a:latin typeface="Tahoma"/>
                <a:cs typeface="Tahoma"/>
              </a:rPr>
              <a:t>Custom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structures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algorithms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Dijkstra,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A*,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articulation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points</a:t>
            </a:r>
            <a:endParaRPr sz="1100" dirty="0">
              <a:latin typeface="Tahoma"/>
              <a:cs typeface="Tahoma"/>
            </a:endParaRPr>
          </a:p>
          <a:p>
            <a:pPr marL="314960" marR="311150" indent="-177165">
              <a:lnSpc>
                <a:spcPct val="102600"/>
              </a:lnSpc>
              <a:spcBef>
                <a:spcPts val="30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55" dirty="0">
                <a:latin typeface="Tahoma"/>
                <a:cs typeface="Tahoma"/>
              </a:rPr>
              <a:t>Emergency,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dispatch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dynamic </a:t>
            </a:r>
            <a:r>
              <a:rPr sz="1100" spc="-10" dirty="0">
                <a:latin typeface="Tahoma"/>
                <a:cs typeface="Tahoma"/>
              </a:rPr>
              <a:t>rerouting</a:t>
            </a:r>
            <a:endParaRPr sz="1100" dirty="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70" dirty="0">
                <a:latin typeface="Tahoma"/>
                <a:cs typeface="Tahoma"/>
              </a:rPr>
              <a:t>ML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risk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link,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CLI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simulation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01344" y="2583332"/>
            <a:ext cx="4557395" cy="371475"/>
          </a:xfrm>
          <a:prstGeom prst="rect">
            <a:avLst/>
          </a:prstGeom>
          <a:solidFill>
            <a:srgbClr val="EDF3FA"/>
          </a:solidFill>
        </p:spPr>
        <p:txBody>
          <a:bodyPr vert="horz" wrap="square" lIns="0" tIns="0" rIns="0" bIns="0" rtlCol="0">
            <a:spAutoFit/>
          </a:bodyPr>
          <a:lstStyle/>
          <a:p>
            <a:pPr marL="45085" algn="ctr">
              <a:lnSpc>
                <a:spcPts val="1275"/>
              </a:lnSpc>
            </a:pPr>
            <a:r>
              <a:rPr sz="1100" b="1" spc="-30" dirty="0">
                <a:latin typeface="Arial"/>
                <a:cs typeface="Arial"/>
              </a:rPr>
              <a:t>Requirement:</a:t>
            </a:r>
            <a:r>
              <a:rPr sz="1100" b="1" spc="114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team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members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must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contributors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must </a:t>
            </a:r>
            <a:r>
              <a:rPr sz="1100" b="1" spc="-10" dirty="0">
                <a:latin typeface="Arial"/>
                <a:cs typeface="Arial"/>
              </a:rPr>
              <a:t>commit</a:t>
            </a:r>
            <a:endParaRPr sz="1100">
              <a:latin typeface="Arial"/>
              <a:cs typeface="Arial"/>
            </a:endParaRPr>
          </a:p>
          <a:p>
            <a:pPr marL="45720" algn="ctr">
              <a:lnSpc>
                <a:spcPct val="100000"/>
              </a:lnSpc>
              <a:spcBef>
                <a:spcPts val="35"/>
              </a:spcBef>
            </a:pPr>
            <a:r>
              <a:rPr sz="1100" b="1" spc="-40" dirty="0">
                <a:latin typeface="Arial"/>
                <a:cs typeface="Arial"/>
              </a:rPr>
              <a:t>individually</a:t>
            </a:r>
            <a:r>
              <a:rPr sz="1100" b="1" dirty="0">
                <a:latin typeface="Arial"/>
                <a:cs typeface="Arial"/>
              </a:rPr>
              <a:t> </a:t>
            </a:r>
            <a:r>
              <a:rPr sz="1100" b="1" spc="-60" dirty="0">
                <a:latin typeface="Arial"/>
                <a:cs typeface="Arial"/>
              </a:rPr>
              <a:t>using</a:t>
            </a:r>
            <a:r>
              <a:rPr sz="1100" b="1" dirty="0">
                <a:latin typeface="Arial"/>
                <a:cs typeface="Arial"/>
              </a:rPr>
              <a:t> their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spc="-35" dirty="0">
                <a:latin typeface="Arial"/>
                <a:cs typeface="Arial"/>
              </a:rPr>
              <a:t>own</a:t>
            </a:r>
            <a:r>
              <a:rPr sz="1100" b="1" spc="5" dirty="0">
                <a:latin typeface="Arial"/>
                <a:cs typeface="Arial"/>
              </a:rPr>
              <a:t> </a:t>
            </a:r>
            <a:r>
              <a:rPr sz="1100" b="1" dirty="0">
                <a:latin typeface="Arial"/>
                <a:cs typeface="Arial"/>
              </a:rPr>
              <a:t>GitHub </a:t>
            </a:r>
            <a:r>
              <a:rPr sz="1100" b="1" spc="-10" dirty="0">
                <a:latin typeface="Arial"/>
                <a:cs typeface="Arial"/>
              </a:rPr>
              <a:t>accounts</a:t>
            </a:r>
            <a:r>
              <a:rPr sz="1100" spc="-1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347294" y="3002913"/>
            <a:ext cx="43789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Repository,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README,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contributor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list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and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commit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history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will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be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595959"/>
                </a:solidFill>
                <a:latin typeface="Arial"/>
                <a:cs typeface="Arial"/>
              </a:rPr>
              <a:t>shown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during</a:t>
            </a:r>
            <a:r>
              <a:rPr sz="800" spc="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595959"/>
                </a:solidFill>
                <a:latin typeface="Arial"/>
                <a:cs typeface="Arial"/>
              </a:rPr>
              <a:t>the</a:t>
            </a:r>
            <a:r>
              <a:rPr sz="800" spc="5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595959"/>
                </a:solidFill>
                <a:latin typeface="Arial"/>
                <a:cs typeface="Arial"/>
              </a:rPr>
              <a:t>presentation.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437802" y="3133522"/>
            <a:ext cx="227329" cy="102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sz="600" spc="-10" dirty="0">
                <a:solidFill>
                  <a:srgbClr val="0E294E"/>
                </a:solidFill>
                <a:latin typeface="Arial"/>
                <a:cs typeface="Arial"/>
              </a:rPr>
              <a:t>12/15</a:t>
            </a:r>
            <a:endParaRPr sz="600">
              <a:latin typeface="Arial"/>
              <a:cs typeface="Arial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4B1104B-63EF-5036-0F32-E1C4B95C43B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Individual</a:t>
            </a:r>
            <a:r>
              <a:rPr spc="-35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60781" y="97053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48081" y="998942"/>
            <a:ext cx="3962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Member</a:t>
            </a:r>
            <a:endParaRPr sz="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20013" y="998942"/>
            <a:ext cx="2222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20" dirty="0">
                <a:latin typeface="Arial"/>
                <a:cs typeface="Arial"/>
              </a:rPr>
              <a:t>Role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35839" y="998942"/>
            <a:ext cx="10477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Technical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Contribution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782515" y="998942"/>
            <a:ext cx="424815" cy="2673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GitHub Commits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60781" y="1302613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69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448081" y="1328939"/>
            <a:ext cx="61722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Parv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Gautam</a:t>
            </a:r>
            <a:endParaRPr sz="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19911" y="1328939"/>
            <a:ext cx="890269" cy="92265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Team</a:t>
            </a:r>
            <a:r>
              <a:rPr sz="800" spc="4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Lead;</a:t>
            </a:r>
            <a:r>
              <a:rPr sz="800" spc="85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Graph</a:t>
            </a:r>
            <a:r>
              <a:rPr sz="800" spc="100" dirty="0">
                <a:latin typeface="Arial"/>
                <a:cs typeface="Arial"/>
              </a:rPr>
              <a:t> &amp;</a:t>
            </a:r>
            <a:r>
              <a:rPr sz="800" spc="6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Data</a:t>
            </a:r>
            <a:endParaRPr sz="800">
              <a:latin typeface="Arial"/>
              <a:cs typeface="Arial"/>
            </a:endParaRPr>
          </a:p>
          <a:p>
            <a:pPr marL="12700" marR="5080">
              <a:lnSpc>
                <a:spcPct val="103499"/>
              </a:lnSpc>
              <a:spcBef>
                <a:spcPts val="60"/>
              </a:spcBef>
            </a:pPr>
            <a:r>
              <a:rPr sz="800" dirty="0">
                <a:latin typeface="Arial"/>
                <a:cs typeface="Arial"/>
              </a:rPr>
              <a:t>Data</a:t>
            </a:r>
            <a:r>
              <a:rPr sz="800" spc="15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Structures</a:t>
            </a:r>
            <a:r>
              <a:rPr sz="800" spc="155" dirty="0">
                <a:latin typeface="Arial"/>
                <a:cs typeface="Arial"/>
              </a:rPr>
              <a:t> </a:t>
            </a:r>
            <a:r>
              <a:rPr sz="800" spc="50" dirty="0">
                <a:latin typeface="Arial"/>
                <a:cs typeface="Arial"/>
              </a:rPr>
              <a:t>&amp; </a:t>
            </a:r>
            <a:r>
              <a:rPr sz="800" spc="-10" dirty="0">
                <a:latin typeface="Arial"/>
                <a:cs typeface="Arial"/>
              </a:rPr>
              <a:t>Algorithms</a:t>
            </a:r>
            <a:r>
              <a:rPr sz="800" spc="50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Disaster</a:t>
            </a:r>
            <a:r>
              <a:rPr sz="800" spc="1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Engine</a:t>
            </a:r>
            <a:r>
              <a:rPr sz="800" spc="110" dirty="0">
                <a:latin typeface="Arial"/>
                <a:cs typeface="Arial"/>
              </a:rPr>
              <a:t> </a:t>
            </a:r>
            <a:r>
              <a:rPr sz="800" spc="50" dirty="0">
                <a:latin typeface="Arial"/>
                <a:cs typeface="Arial"/>
              </a:rPr>
              <a:t>&amp; </a:t>
            </a:r>
            <a:r>
              <a:rPr sz="800" spc="-25" dirty="0">
                <a:latin typeface="Arial"/>
                <a:cs typeface="Arial"/>
              </a:rPr>
              <a:t>CLI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latin typeface="Arial"/>
                <a:cs typeface="Arial"/>
              </a:rPr>
              <a:t>ML</a:t>
            </a:r>
            <a:r>
              <a:rPr sz="800" spc="1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Integration</a:t>
            </a:r>
            <a:endParaRPr sz="80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35745" y="1328939"/>
            <a:ext cx="2320925" cy="104266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10" dirty="0">
                <a:latin typeface="Arial"/>
                <a:cs typeface="Arial"/>
              </a:rPr>
              <a:t>Adjacency-</a:t>
            </a:r>
            <a:r>
              <a:rPr sz="800" dirty="0">
                <a:latin typeface="Arial"/>
                <a:cs typeface="Arial"/>
              </a:rPr>
              <a:t>list graph, CSV </a:t>
            </a:r>
            <a:r>
              <a:rPr sz="800" spc="-10" dirty="0">
                <a:latin typeface="Arial"/>
                <a:cs typeface="Arial"/>
              </a:rPr>
              <a:t>dataset </a:t>
            </a:r>
            <a:r>
              <a:rPr sz="800" dirty="0">
                <a:latin typeface="Arial"/>
                <a:cs typeface="Arial"/>
              </a:rPr>
              <a:t>loading, ID </a:t>
            </a:r>
            <a:r>
              <a:rPr sz="800" spc="-10" dirty="0">
                <a:latin typeface="Arial"/>
                <a:cs typeface="Arial"/>
              </a:rPr>
              <a:t>vali-dation</a:t>
            </a:r>
            <a:endParaRPr sz="800" dirty="0">
              <a:latin typeface="Arial"/>
              <a:cs typeface="Arial"/>
            </a:endParaRPr>
          </a:p>
          <a:p>
            <a:pPr marL="12700" marR="5715">
              <a:lnSpc>
                <a:spcPts val="950"/>
              </a:lnSpc>
              <a:spcBef>
                <a:spcPts val="135"/>
              </a:spcBef>
            </a:pPr>
            <a:r>
              <a:rPr sz="800" spc="-20" dirty="0">
                <a:latin typeface="Arial"/>
                <a:cs typeface="Arial"/>
              </a:rPr>
              <a:t>Custom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spc="-30" dirty="0">
                <a:latin typeface="Arial"/>
                <a:cs typeface="Arial"/>
              </a:rPr>
              <a:t>queue,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stack,</a:t>
            </a:r>
            <a:r>
              <a:rPr sz="800" spc="-25" dirty="0">
                <a:latin typeface="Arial"/>
                <a:cs typeface="Arial"/>
              </a:rPr>
              <a:t> heap,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40" dirty="0">
                <a:latin typeface="Arial"/>
                <a:cs typeface="Arial"/>
              </a:rPr>
              <a:t>hash</a:t>
            </a:r>
            <a:r>
              <a:rPr sz="800" spc="-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map,</a:t>
            </a:r>
            <a:r>
              <a:rPr sz="800" spc="-2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set;</a:t>
            </a:r>
            <a:r>
              <a:rPr sz="800" spc="-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Dijkstra, </a:t>
            </a:r>
            <a:r>
              <a:rPr sz="800" dirty="0">
                <a:latin typeface="Arial"/>
                <a:cs typeface="Arial"/>
              </a:rPr>
              <a:t>A*,</a:t>
            </a:r>
            <a:r>
              <a:rPr sz="800" spc="9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BFS,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DFS,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articulation</a:t>
            </a:r>
            <a:r>
              <a:rPr sz="800" spc="9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points</a:t>
            </a:r>
            <a:endParaRPr sz="800" dirty="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spc="-25" dirty="0">
                <a:latin typeface="Arial"/>
                <a:cs typeface="Arial"/>
              </a:rPr>
              <a:t>Emergency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priority,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resource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dispatch,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road</a:t>
            </a:r>
            <a:r>
              <a:rPr sz="800" spc="1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block</a:t>
            </a:r>
            <a:r>
              <a:rPr sz="800" spc="10" dirty="0">
                <a:latin typeface="Arial"/>
                <a:cs typeface="Arial"/>
              </a:rPr>
              <a:t> </a:t>
            </a:r>
            <a:r>
              <a:rPr sz="800" spc="145" dirty="0">
                <a:latin typeface="Arial"/>
                <a:cs typeface="Arial"/>
              </a:rPr>
              <a:t>/ </a:t>
            </a:r>
            <a:r>
              <a:rPr sz="800" spc="-10" dirty="0">
                <a:latin typeface="Arial"/>
                <a:cs typeface="Arial"/>
              </a:rPr>
              <a:t>reopen,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rerouting;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CLI</a:t>
            </a:r>
            <a:r>
              <a:rPr sz="800" spc="20" dirty="0">
                <a:latin typeface="Arial"/>
                <a:cs typeface="Arial"/>
              </a:rPr>
              <a:t> </a:t>
            </a:r>
            <a:r>
              <a:rPr sz="800" spc="-20" dirty="0">
                <a:latin typeface="Arial"/>
                <a:cs typeface="Arial"/>
              </a:rPr>
              <a:t>menu</a:t>
            </a:r>
            <a:endParaRPr sz="800" dirty="0">
              <a:latin typeface="Arial"/>
              <a:cs typeface="Arial"/>
            </a:endParaRPr>
          </a:p>
          <a:p>
            <a:pPr marL="12700" marR="5080">
              <a:lnSpc>
                <a:spcPts val="950"/>
              </a:lnSpc>
              <a:spcBef>
                <a:spcPts val="135"/>
              </a:spcBef>
            </a:pPr>
            <a:r>
              <a:rPr sz="800" dirty="0">
                <a:latin typeface="Arial"/>
                <a:cs typeface="Arial"/>
              </a:rPr>
              <a:t>Python</a:t>
            </a:r>
            <a:r>
              <a:rPr sz="800" spc="1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Random</a:t>
            </a:r>
            <a:r>
              <a:rPr sz="800" spc="1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Forest</a:t>
            </a:r>
            <a:r>
              <a:rPr sz="800" spc="1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risk</a:t>
            </a:r>
            <a:r>
              <a:rPr sz="800" spc="1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model;</a:t>
            </a:r>
            <a:r>
              <a:rPr sz="800" spc="26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CSV</a:t>
            </a:r>
            <a:r>
              <a:rPr sz="800" spc="18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link</a:t>
            </a:r>
            <a:r>
              <a:rPr sz="800" spc="18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to</a:t>
            </a:r>
            <a:r>
              <a:rPr sz="800" spc="114" dirty="0">
                <a:latin typeface="Arial"/>
                <a:cs typeface="Arial"/>
              </a:rPr>
              <a:t> C++</a:t>
            </a:r>
            <a:r>
              <a:rPr sz="800" spc="5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graph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782515" y="1328939"/>
            <a:ext cx="24384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800" dirty="0">
                <a:latin typeface="Arial"/>
                <a:cs typeface="Arial"/>
              </a:rPr>
              <a:t>15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448081" y="1587371"/>
            <a:ext cx="706755" cy="405765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>
              <a:lnSpc>
                <a:spcPct val="106000"/>
              </a:lnSpc>
              <a:spcBef>
                <a:spcPts val="40"/>
              </a:spcBef>
            </a:pPr>
            <a:r>
              <a:rPr sz="800" spc="-10" dirty="0">
                <a:latin typeface="Arial"/>
                <a:cs typeface="Arial"/>
              </a:rPr>
              <a:t>Harsh Raunchela </a:t>
            </a:r>
            <a:r>
              <a:rPr sz="800" spc="-20" dirty="0">
                <a:latin typeface="Arial"/>
                <a:cs typeface="Arial"/>
              </a:rPr>
              <a:t>Kashish</a:t>
            </a:r>
            <a:r>
              <a:rPr sz="800" spc="2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Rajput</a:t>
            </a:r>
            <a:endParaRPr sz="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82515" y="1587371"/>
            <a:ext cx="24384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800" dirty="0">
                <a:latin typeface="Arial"/>
                <a:cs typeface="Arial"/>
              </a:rPr>
              <a:t>2</a:t>
            </a:r>
            <a:r>
              <a:rPr lang="en-IN" sz="800" dirty="0">
                <a:latin typeface="Arial"/>
                <a:cs typeface="Arial"/>
              </a:rPr>
              <a:t>3</a:t>
            </a:r>
            <a:endParaRPr sz="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2515" y="1845804"/>
            <a:ext cx="24384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800" dirty="0">
                <a:latin typeface="Arial"/>
                <a:cs typeface="Arial"/>
              </a:rPr>
              <a:t>15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48081" y="2104223"/>
            <a:ext cx="6940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latin typeface="Arial"/>
                <a:cs typeface="Arial"/>
              </a:rPr>
              <a:t>Piyush</a:t>
            </a:r>
            <a:r>
              <a:rPr sz="800" spc="-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Maurya</a:t>
            </a:r>
            <a:endParaRPr sz="8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82515" y="2104223"/>
            <a:ext cx="243840" cy="13529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spcBef>
                <a:spcPts val="95"/>
              </a:spcBef>
            </a:pPr>
            <a:r>
              <a:rPr lang="en-US" sz="800" dirty="0">
                <a:latin typeface="Arial"/>
                <a:cs typeface="Arial"/>
              </a:rPr>
              <a:t>20</a:t>
            </a:r>
          </a:p>
        </p:txBody>
      </p:sp>
      <p:sp>
        <p:nvSpPr>
          <p:cNvPr id="23" name="object 23"/>
          <p:cNvSpPr/>
          <p:nvPr/>
        </p:nvSpPr>
        <p:spPr>
          <a:xfrm>
            <a:off x="460781" y="2409990"/>
            <a:ext cx="4838700" cy="0"/>
          </a:xfrm>
          <a:custGeom>
            <a:avLst/>
            <a:gdLst/>
            <a:ahLst/>
            <a:cxnLst/>
            <a:rect l="l" t="t" r="r" b="b"/>
            <a:pathLst>
              <a:path w="4838700">
                <a:moveTo>
                  <a:pt x="0" y="0"/>
                </a:moveTo>
                <a:lnTo>
                  <a:pt x="4838433" y="0"/>
                </a:lnTo>
              </a:path>
            </a:pathLst>
          </a:custGeom>
          <a:ln w="1108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309193" y="2650095"/>
            <a:ext cx="5142230" cy="187960"/>
          </a:xfrm>
          <a:custGeom>
            <a:avLst/>
            <a:gdLst/>
            <a:ahLst/>
            <a:cxnLst/>
            <a:rect l="l" t="t" r="r" b="b"/>
            <a:pathLst>
              <a:path w="5142230" h="187960">
                <a:moveTo>
                  <a:pt x="5090865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7823"/>
                </a:lnTo>
                <a:lnTo>
                  <a:pt x="5141666" y="187823"/>
                </a:lnTo>
                <a:lnTo>
                  <a:pt x="5141666" y="50800"/>
                </a:lnTo>
                <a:lnTo>
                  <a:pt x="5137657" y="31075"/>
                </a:lnTo>
                <a:lnTo>
                  <a:pt x="5126743" y="14922"/>
                </a:lnTo>
                <a:lnTo>
                  <a:pt x="5110590" y="4008"/>
                </a:lnTo>
                <a:lnTo>
                  <a:pt x="5090865" y="0"/>
                </a:lnTo>
                <a:close/>
              </a:path>
            </a:pathLst>
          </a:custGeom>
          <a:solidFill>
            <a:srgbClr val="EDF3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47294" y="2629113"/>
            <a:ext cx="1313815" cy="2076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dirty="0">
                <a:solidFill>
                  <a:srgbClr val="133768"/>
                </a:solidFill>
                <a:latin typeface="Gill Sans MT"/>
                <a:cs typeface="Gill Sans MT"/>
              </a:rPr>
              <a:t>Individual</a:t>
            </a:r>
            <a:r>
              <a:rPr sz="1200" spc="100" dirty="0">
                <a:solidFill>
                  <a:srgbClr val="133768"/>
                </a:solidFill>
                <a:latin typeface="Gill Sans MT"/>
                <a:cs typeface="Gill Sans MT"/>
              </a:rPr>
              <a:t> </a:t>
            </a:r>
            <a:r>
              <a:rPr sz="1200" spc="-10" dirty="0">
                <a:solidFill>
                  <a:srgbClr val="133768"/>
                </a:solidFill>
                <a:latin typeface="Gill Sans MT"/>
                <a:cs typeface="Gill Sans MT"/>
              </a:rPr>
              <a:t>Evaluation</a:t>
            </a:r>
            <a:endParaRPr sz="1200">
              <a:latin typeface="Gill Sans MT"/>
              <a:cs typeface="Gill Sans MT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309193" y="2825267"/>
            <a:ext cx="5142230" cy="204470"/>
            <a:chOff x="309193" y="2825267"/>
            <a:chExt cx="5142230" cy="204470"/>
          </a:xfrm>
        </p:grpSpPr>
        <p:pic>
          <p:nvPicPr>
            <p:cNvPr id="27" name="object 2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193" y="2825267"/>
              <a:ext cx="5141666" cy="5060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309193" y="2869548"/>
              <a:ext cx="5142230" cy="160020"/>
            </a:xfrm>
            <a:custGeom>
              <a:avLst/>
              <a:gdLst/>
              <a:ahLst/>
              <a:cxnLst/>
              <a:rect l="l" t="t" r="r" b="b"/>
              <a:pathLst>
                <a:path w="5142230" h="160019">
                  <a:moveTo>
                    <a:pt x="5141666" y="0"/>
                  </a:moveTo>
                  <a:lnTo>
                    <a:pt x="0" y="0"/>
                  </a:lnTo>
                  <a:lnTo>
                    <a:pt x="0" y="108906"/>
                  </a:lnTo>
                  <a:lnTo>
                    <a:pt x="4008" y="128631"/>
                  </a:lnTo>
                  <a:lnTo>
                    <a:pt x="14922" y="144784"/>
                  </a:lnTo>
                  <a:lnTo>
                    <a:pt x="31075" y="155698"/>
                  </a:lnTo>
                  <a:lnTo>
                    <a:pt x="50800" y="159706"/>
                  </a:lnTo>
                  <a:lnTo>
                    <a:pt x="5090865" y="159706"/>
                  </a:lnTo>
                  <a:lnTo>
                    <a:pt x="5110590" y="155698"/>
                  </a:lnTo>
                  <a:lnTo>
                    <a:pt x="5126743" y="144784"/>
                  </a:lnTo>
                  <a:lnTo>
                    <a:pt x="5137657" y="128631"/>
                  </a:lnTo>
                  <a:lnTo>
                    <a:pt x="5141666" y="108906"/>
                  </a:lnTo>
                  <a:lnTo>
                    <a:pt x="5141666" y="0"/>
                  </a:lnTo>
                  <a:close/>
                </a:path>
              </a:pathLst>
            </a:custGeom>
            <a:solidFill>
              <a:srgbClr val="EDF3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47294" y="2851224"/>
            <a:ext cx="496252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latin typeface="Arial"/>
                <a:cs typeface="Arial"/>
              </a:rPr>
              <a:t>Every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member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should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be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25" dirty="0">
                <a:latin typeface="Arial"/>
                <a:cs typeface="Arial"/>
              </a:rPr>
              <a:t>prepared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explain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and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demonstrate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their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own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technical</a:t>
            </a:r>
            <a:r>
              <a:rPr sz="800" spc="40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contribution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to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dirty="0">
                <a:latin typeface="Arial"/>
                <a:cs typeface="Arial"/>
              </a:rPr>
              <a:t>the</a:t>
            </a:r>
            <a:r>
              <a:rPr sz="800" spc="35" dirty="0">
                <a:latin typeface="Arial"/>
                <a:cs typeface="Arial"/>
              </a:rPr>
              <a:t> </a:t>
            </a:r>
            <a:r>
              <a:rPr sz="800" spc="-10" dirty="0">
                <a:latin typeface="Arial"/>
                <a:cs typeface="Arial"/>
              </a:rPr>
              <a:t>project.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675"/>
              </a:lnSpc>
            </a:pPr>
            <a:fld id="{81D60167-4931-47E6-BA6A-407CBD079E47}" type="slidenum">
              <a:rPr spc="-10" dirty="0"/>
              <a:t>13</a:t>
            </a:fld>
            <a:r>
              <a:rPr spc="-10" dirty="0"/>
              <a:t>/15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E1963970-E315-4938-CBD9-56BBCA94A3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35" dirty="0"/>
              <a:t>Challenges,</a:t>
            </a:r>
            <a:r>
              <a:rPr spc="100" dirty="0"/>
              <a:t> </a:t>
            </a:r>
            <a:r>
              <a:rPr spc="-25" dirty="0"/>
              <a:t>Remaining</a:t>
            </a:r>
            <a:r>
              <a:rPr spc="105" dirty="0"/>
              <a:t> </a:t>
            </a:r>
            <a:r>
              <a:rPr dirty="0"/>
              <a:t>Work</a:t>
            </a:r>
            <a:r>
              <a:rPr spc="100" dirty="0"/>
              <a:t> </a:t>
            </a:r>
            <a:r>
              <a:rPr spc="170" dirty="0"/>
              <a:t>&amp;</a:t>
            </a:r>
            <a:r>
              <a:rPr spc="105" dirty="0"/>
              <a:t> </a:t>
            </a:r>
            <a:r>
              <a:rPr spc="-25" dirty="0"/>
              <a:t>Phase-</a:t>
            </a:r>
            <a:r>
              <a:rPr spc="80" dirty="0"/>
              <a:t>III</a:t>
            </a:r>
            <a:r>
              <a:rPr spc="105" dirty="0"/>
              <a:t> </a:t>
            </a:r>
            <a:r>
              <a:rPr spc="-10" dirty="0"/>
              <a:t>Roadmap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pc="-45" dirty="0"/>
              <a:t>Challenges</a:t>
            </a:r>
            <a:r>
              <a:rPr spc="55" dirty="0"/>
              <a:t> </a:t>
            </a:r>
            <a:r>
              <a:rPr spc="-10" dirty="0"/>
              <a:t>Faced</a:t>
            </a:r>
          </a:p>
          <a:p>
            <a:pPr marL="312420" marR="30480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b="0" spc="-10" dirty="0">
                <a:solidFill>
                  <a:srgbClr val="000000"/>
                </a:solidFill>
                <a:latin typeface="Tahoma"/>
                <a:cs typeface="Tahoma"/>
              </a:rPr>
              <a:t>Road</a:t>
            </a:r>
            <a:r>
              <a:rPr sz="1000"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25" dirty="0">
                <a:solidFill>
                  <a:srgbClr val="000000"/>
                </a:solidFill>
                <a:latin typeface="Tahoma"/>
                <a:cs typeface="Tahoma"/>
              </a:rPr>
              <a:t>IDs</a:t>
            </a:r>
            <a:r>
              <a:rPr sz="1000" b="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20" dirty="0">
                <a:solidFill>
                  <a:srgbClr val="000000"/>
                </a:solidFill>
                <a:latin typeface="Tahoma"/>
                <a:cs typeface="Tahoma"/>
              </a:rPr>
              <a:t>written</a:t>
            </a:r>
            <a:r>
              <a:rPr sz="1000"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dirty="0">
                <a:solidFill>
                  <a:srgbClr val="000000"/>
                </a:solidFill>
                <a:latin typeface="Tahoma"/>
                <a:cs typeface="Tahoma"/>
              </a:rPr>
              <a:t>in</a:t>
            </a:r>
            <a:r>
              <a:rPr sz="1000" b="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30" dirty="0">
                <a:solidFill>
                  <a:srgbClr val="000000"/>
                </a:solidFill>
                <a:latin typeface="Tahoma"/>
                <a:cs typeface="Tahoma"/>
              </a:rPr>
              <a:t>different</a:t>
            </a:r>
            <a:r>
              <a:rPr sz="1000" b="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30" dirty="0">
                <a:solidFill>
                  <a:srgbClr val="000000"/>
                </a:solidFill>
                <a:latin typeface="Tahoma"/>
                <a:cs typeface="Tahoma"/>
              </a:rPr>
              <a:t>formats,</a:t>
            </a:r>
            <a:r>
              <a:rPr sz="1000"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25" dirty="0">
                <a:solidFill>
                  <a:srgbClr val="000000"/>
                </a:solidFill>
                <a:latin typeface="Tahoma"/>
                <a:cs typeface="Tahoma"/>
              </a:rPr>
              <a:t>so 	</a:t>
            </a:r>
            <a:r>
              <a:rPr sz="1000" b="0" spc="-35" dirty="0">
                <a:solidFill>
                  <a:srgbClr val="000000"/>
                </a:solidFill>
                <a:latin typeface="Tahoma"/>
                <a:cs typeface="Tahoma"/>
              </a:rPr>
              <a:t>roads</a:t>
            </a:r>
            <a:r>
              <a:rPr sz="1000" b="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dirty="0">
                <a:solidFill>
                  <a:srgbClr val="000000"/>
                </a:solidFill>
                <a:latin typeface="Tahoma"/>
                <a:cs typeface="Tahoma"/>
              </a:rPr>
              <a:t>did</a:t>
            </a:r>
            <a:r>
              <a:rPr sz="1000" b="0" spc="-4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dirty="0">
                <a:solidFill>
                  <a:srgbClr val="000000"/>
                </a:solidFill>
                <a:latin typeface="Tahoma"/>
                <a:cs typeface="Tahoma"/>
              </a:rPr>
              <a:t>not</a:t>
            </a:r>
            <a:r>
              <a:rPr sz="1000" b="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ahoma"/>
                <a:cs typeface="Tahoma"/>
              </a:rPr>
              <a:t>connect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b="0" dirty="0">
                <a:solidFill>
                  <a:srgbClr val="000000"/>
                </a:solidFill>
                <a:latin typeface="Tahoma"/>
                <a:cs typeface="Tahoma"/>
              </a:rPr>
              <a:t>Data</a:t>
            </a:r>
            <a:r>
              <a:rPr sz="1000" b="0" spc="-3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60" dirty="0">
                <a:solidFill>
                  <a:srgbClr val="000000"/>
                </a:solidFill>
                <a:latin typeface="Tahoma"/>
                <a:cs typeface="Tahoma"/>
              </a:rPr>
              <a:t>was</a:t>
            </a:r>
            <a:r>
              <a:rPr sz="1000" b="0" spc="-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30" dirty="0">
                <a:solidFill>
                  <a:srgbClr val="000000"/>
                </a:solidFill>
                <a:latin typeface="Tahoma"/>
                <a:cs typeface="Tahoma"/>
              </a:rPr>
              <a:t>loaded</a:t>
            </a:r>
            <a:r>
              <a:rPr sz="1000" b="0" spc="-2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20" dirty="0">
                <a:solidFill>
                  <a:srgbClr val="000000"/>
                </a:solidFill>
                <a:latin typeface="Tahoma"/>
                <a:cs typeface="Tahoma"/>
              </a:rPr>
              <a:t>twice</a:t>
            </a:r>
            <a:endParaRPr sz="1000">
              <a:latin typeface="Tahoma"/>
              <a:cs typeface="Tahoma"/>
            </a:endParaRPr>
          </a:p>
          <a:p>
            <a:pPr marL="312420" marR="220345" indent="-165735">
              <a:lnSpc>
                <a:spcPct val="100000"/>
              </a:lnSpc>
              <a:spcBef>
                <a:spcPts val="4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b="0" spc="-10" dirty="0">
                <a:solidFill>
                  <a:srgbClr val="000000"/>
                </a:solidFill>
                <a:latin typeface="Tahoma"/>
                <a:cs typeface="Tahoma"/>
              </a:rPr>
              <a:t>Python-to-</a:t>
            </a:r>
            <a:r>
              <a:rPr sz="1000" b="0" dirty="0">
                <a:solidFill>
                  <a:srgbClr val="000000"/>
                </a:solidFill>
                <a:latin typeface="Tahoma"/>
                <a:cs typeface="Tahoma"/>
              </a:rPr>
              <a:t>C++</a:t>
            </a:r>
            <a:r>
              <a:rPr sz="1000"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10" dirty="0">
                <a:solidFill>
                  <a:srgbClr val="000000"/>
                </a:solidFill>
                <a:latin typeface="Tahoma"/>
                <a:cs typeface="Tahoma"/>
              </a:rPr>
              <a:t>risk</a:t>
            </a:r>
            <a:r>
              <a:rPr sz="1000"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dirty="0">
                <a:solidFill>
                  <a:srgbClr val="000000"/>
                </a:solidFill>
                <a:latin typeface="Tahoma"/>
                <a:cs typeface="Tahoma"/>
              </a:rPr>
              <a:t>CSV</a:t>
            </a:r>
            <a:r>
              <a:rPr sz="1000"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25" dirty="0">
                <a:solidFill>
                  <a:srgbClr val="000000"/>
                </a:solidFill>
                <a:latin typeface="Tahoma"/>
                <a:cs typeface="Tahoma"/>
              </a:rPr>
              <a:t>had</a:t>
            </a:r>
            <a:r>
              <a:rPr sz="1000" b="0" spc="15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000" b="0" spc="-35" dirty="0">
                <a:solidFill>
                  <a:srgbClr val="000000"/>
                </a:solidFill>
                <a:latin typeface="Tahoma"/>
                <a:cs typeface="Tahoma"/>
              </a:rPr>
              <a:t>wrong 	</a:t>
            </a:r>
            <a:r>
              <a:rPr sz="1000" b="0" spc="-10" dirty="0">
                <a:solidFill>
                  <a:srgbClr val="000000"/>
                </a:solidFill>
                <a:latin typeface="Tahoma"/>
                <a:cs typeface="Tahoma"/>
              </a:rPr>
              <a:t>names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68117" y="870045"/>
            <a:ext cx="2330450" cy="169608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sz="1000" b="1" spc="-30" dirty="0">
                <a:solidFill>
                  <a:srgbClr val="133768"/>
                </a:solidFill>
                <a:latin typeface="Arial"/>
                <a:cs typeface="Arial"/>
              </a:rPr>
              <a:t>Phase-</a:t>
            </a:r>
            <a:r>
              <a:rPr sz="1000" b="1" spc="50" dirty="0">
                <a:solidFill>
                  <a:srgbClr val="133768"/>
                </a:solidFill>
                <a:latin typeface="Arial"/>
                <a:cs typeface="Arial"/>
              </a:rPr>
              <a:t>III</a:t>
            </a:r>
            <a:r>
              <a:rPr sz="1000" b="1" spc="13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Roadmap</a:t>
            </a:r>
            <a:endParaRPr sz="1000">
              <a:latin typeface="Arial"/>
              <a:cs typeface="Arial"/>
            </a:endParaRPr>
          </a:p>
          <a:p>
            <a:pPr marL="288925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55" dirty="0">
                <a:latin typeface="Tahoma"/>
                <a:cs typeface="Tahoma"/>
              </a:rPr>
              <a:t>Edge-</a:t>
            </a:r>
            <a:r>
              <a:rPr sz="1000" spc="-30" dirty="0">
                <a:latin typeface="Tahoma"/>
                <a:cs typeface="Tahoma"/>
              </a:rPr>
              <a:t>case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bad-</a:t>
            </a:r>
            <a:r>
              <a:rPr sz="1000" spc="-20" dirty="0">
                <a:latin typeface="Tahoma"/>
                <a:cs typeface="Tahoma"/>
              </a:rPr>
              <a:t>input </a:t>
            </a:r>
            <a:r>
              <a:rPr sz="1000" spc="-10" dirty="0">
                <a:latin typeface="Tahoma"/>
                <a:cs typeface="Tahoma"/>
              </a:rPr>
              <a:t>testing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dirty="0">
                <a:latin typeface="Tahoma"/>
                <a:cs typeface="Tahoma"/>
              </a:rPr>
              <a:t>Time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space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analysis</a:t>
            </a:r>
            <a:r>
              <a:rPr sz="1000" spc="-25" dirty="0">
                <a:latin typeface="Tahoma"/>
                <a:cs typeface="Tahoma"/>
              </a:rPr>
              <a:t> and </a:t>
            </a:r>
            <a:r>
              <a:rPr sz="1000" spc="-10" dirty="0">
                <a:latin typeface="Tahoma"/>
                <a:cs typeface="Tahoma"/>
              </a:rPr>
              <a:t>timing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runs</a:t>
            </a:r>
            <a:endParaRPr sz="1000">
              <a:latin typeface="Tahoma"/>
              <a:cs typeface="Tahoma"/>
            </a:endParaRPr>
          </a:p>
          <a:p>
            <a:pPr marL="288290" marR="24130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spc="-10" dirty="0">
                <a:latin typeface="Tahoma"/>
                <a:cs typeface="Tahoma"/>
              </a:rPr>
              <a:t>Retrain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ML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on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realistic</a:t>
            </a:r>
            <a:r>
              <a:rPr sz="1000" spc="-25" dirty="0">
                <a:latin typeface="Tahoma"/>
                <a:cs typeface="Tahoma"/>
              </a:rPr>
              <a:t> data; </a:t>
            </a:r>
            <a:r>
              <a:rPr sz="1000" spc="-45" dirty="0">
                <a:latin typeface="Tahoma"/>
                <a:cs typeface="Tahoma"/>
              </a:rPr>
              <a:t>re-check 	</a:t>
            </a:r>
            <a:r>
              <a:rPr sz="1000" dirty="0">
                <a:latin typeface="Tahoma"/>
                <a:cs typeface="Tahoma"/>
              </a:rPr>
              <a:t>C++</a:t>
            </a:r>
            <a:r>
              <a:rPr sz="1000" spc="1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loading</a:t>
            </a:r>
            <a:endParaRPr sz="1000">
              <a:latin typeface="Tahoma"/>
              <a:cs typeface="Tahoma"/>
            </a:endParaRPr>
          </a:p>
          <a:p>
            <a:pPr marL="288290" marR="311150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dirty="0">
                <a:latin typeface="Tahoma"/>
                <a:cs typeface="Tahoma"/>
              </a:rPr>
              <a:t>Apply</a:t>
            </a:r>
            <a:r>
              <a:rPr sz="1000" spc="-2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mentor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feedback;</a:t>
            </a:r>
            <a:r>
              <a:rPr sz="1000" spc="-20" dirty="0">
                <a:latin typeface="Tahoma"/>
                <a:cs typeface="Tahoma"/>
              </a:rPr>
              <a:t> optional 	</a:t>
            </a:r>
            <a:r>
              <a:rPr sz="1000" spc="-40" dirty="0">
                <a:latin typeface="Tahoma"/>
                <a:cs typeface="Tahoma"/>
              </a:rPr>
              <a:t>database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105" dirty="0">
                <a:latin typeface="Tahoma"/>
                <a:cs typeface="Tahoma"/>
              </a:rPr>
              <a:t>/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map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dirty="0">
                <a:latin typeface="Tahoma"/>
                <a:cs typeface="Tahoma"/>
              </a:rPr>
              <a:t>Final</a:t>
            </a:r>
            <a:r>
              <a:rPr sz="1000" spc="-20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documentation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20" dirty="0">
                <a:latin typeface="Tahoma"/>
                <a:cs typeface="Tahoma"/>
              </a:rPr>
              <a:t> demo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1894" y="2131384"/>
            <a:ext cx="2416175" cy="1000125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5"/>
              </a:spcBef>
            </a:pPr>
            <a:r>
              <a:rPr sz="1000" b="1" spc="-40" dirty="0">
                <a:solidFill>
                  <a:srgbClr val="133768"/>
                </a:solidFill>
                <a:latin typeface="Arial"/>
                <a:cs typeface="Arial"/>
              </a:rPr>
              <a:t>Solutions</a:t>
            </a:r>
            <a:r>
              <a:rPr sz="1000" b="1" spc="6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270" dirty="0">
                <a:solidFill>
                  <a:srgbClr val="133768"/>
                </a:solidFill>
                <a:latin typeface="Arial"/>
                <a:cs typeface="Arial"/>
              </a:rPr>
              <a:t>/</a:t>
            </a:r>
            <a:r>
              <a:rPr sz="1000" b="1" spc="60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Learning</a:t>
            </a:r>
            <a:endParaRPr sz="1000">
              <a:latin typeface="Arial"/>
              <a:cs typeface="Arial"/>
            </a:endParaRPr>
          </a:p>
          <a:p>
            <a:pPr marL="312420" marR="184150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20" dirty="0">
                <a:latin typeface="Tahoma"/>
                <a:cs typeface="Tahoma"/>
              </a:rPr>
              <a:t>One</a:t>
            </a:r>
            <a:r>
              <a:rPr sz="1000" spc="-1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ID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format;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CSV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checked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45" dirty="0">
                <a:latin typeface="Tahoma"/>
                <a:cs typeface="Tahoma"/>
              </a:rPr>
              <a:t>before 	</a:t>
            </a:r>
            <a:r>
              <a:rPr sz="1000" spc="-30" dirty="0">
                <a:latin typeface="Tahoma"/>
                <a:cs typeface="Tahoma"/>
              </a:rPr>
              <a:t>loading;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C++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code</a:t>
            </a:r>
            <a:r>
              <a:rPr sz="1000" spc="2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fixed</a:t>
            </a:r>
            <a:endParaRPr sz="1000">
              <a:latin typeface="Tahoma"/>
              <a:cs typeface="Tahoma"/>
            </a:endParaRPr>
          </a:p>
          <a:p>
            <a:pPr marL="312420" marR="30480" indent="-165735">
              <a:lnSpc>
                <a:spcPct val="100000"/>
              </a:lnSpc>
              <a:spcBef>
                <a:spcPts val="4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10" dirty="0">
                <a:latin typeface="Tahoma"/>
                <a:cs typeface="Tahoma"/>
              </a:rPr>
              <a:t>Validate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data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at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boundary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55" dirty="0">
                <a:latin typeface="Tahoma"/>
                <a:cs typeface="Tahoma"/>
              </a:rPr>
              <a:t>between 	</a:t>
            </a:r>
            <a:r>
              <a:rPr sz="1000" spc="-10" dirty="0">
                <a:latin typeface="Tahoma"/>
                <a:cs typeface="Tahoma"/>
              </a:rPr>
              <a:t>modules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675"/>
              </a:lnSpc>
            </a:pPr>
            <a:fld id="{81D60167-4931-47E6-BA6A-407CBD079E47}" type="slidenum">
              <a:rPr spc="-10" dirty="0"/>
              <a:t>14</a:t>
            </a:fld>
            <a:r>
              <a:rPr spc="-10" dirty="0"/>
              <a:t>/15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41DA2CF-D7A4-78E0-EC9E-9B7160219C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13590" y="110355"/>
            <a:ext cx="348615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spc="40" dirty="0">
                <a:latin typeface="Calibri"/>
                <a:cs typeface="Calibri"/>
              </a:rPr>
              <a:t>graphice</a:t>
            </a:r>
            <a:endParaRPr sz="600" dirty="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5399392" y="72605"/>
            <a:ext cx="223520" cy="223520"/>
            <a:chOff x="5399392" y="72605"/>
            <a:chExt cx="223520" cy="223520"/>
          </a:xfrm>
        </p:grpSpPr>
        <p:sp>
          <p:nvSpPr>
            <p:cNvPr id="4" name="object 4"/>
            <p:cNvSpPr/>
            <p:nvPr/>
          </p:nvSpPr>
          <p:spPr>
            <a:xfrm>
              <a:off x="5399392" y="293281"/>
              <a:ext cx="223520" cy="0"/>
            </a:xfrm>
            <a:custGeom>
              <a:avLst/>
              <a:gdLst/>
              <a:ahLst/>
              <a:cxnLst/>
              <a:rect l="l" t="t" r="r" b="b"/>
              <a:pathLst>
                <a:path w="223520">
                  <a:moveTo>
                    <a:pt x="0" y="0"/>
                  </a:moveTo>
                  <a:lnTo>
                    <a:pt x="223189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620054" y="72605"/>
              <a:ext cx="0" cy="223520"/>
            </a:xfrm>
            <a:custGeom>
              <a:avLst/>
              <a:gdLst/>
              <a:ahLst/>
              <a:cxnLst/>
              <a:rect l="l" t="t" r="r" b="b"/>
              <a:pathLst>
                <a:path h="223520">
                  <a:moveTo>
                    <a:pt x="0" y="223202"/>
                  </a:moveTo>
                  <a:lnTo>
                    <a:pt x="0" y="0"/>
                  </a:lnTo>
                </a:path>
              </a:pathLst>
            </a:custGeom>
            <a:ln w="505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Expected</a:t>
            </a:r>
            <a:r>
              <a:rPr spc="55" dirty="0"/>
              <a:t> </a:t>
            </a:r>
            <a:r>
              <a:rPr spc="-20" dirty="0"/>
              <a:t>Outcomes</a:t>
            </a:r>
            <a:r>
              <a:rPr spc="60" dirty="0"/>
              <a:t> </a:t>
            </a:r>
            <a:r>
              <a:rPr spc="170" dirty="0"/>
              <a:t>&amp;</a:t>
            </a:r>
            <a:r>
              <a:rPr spc="60" dirty="0"/>
              <a:t> </a:t>
            </a:r>
            <a:r>
              <a:rPr spc="-35" dirty="0"/>
              <a:t>References</a:t>
            </a:r>
          </a:p>
        </p:txBody>
      </p:sp>
      <p:sp>
        <p:nvSpPr>
          <p:cNvPr id="7" name="object 7"/>
          <p:cNvSpPr/>
          <p:nvPr/>
        </p:nvSpPr>
        <p:spPr>
          <a:xfrm>
            <a:off x="359994" y="678522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995" y="0"/>
                </a:lnTo>
              </a:path>
            </a:pathLst>
          </a:custGeom>
          <a:ln w="11391">
            <a:solidFill>
              <a:srgbClr val="13376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21894" y="887609"/>
            <a:ext cx="2284730" cy="16198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90"/>
              </a:spcBef>
            </a:pPr>
            <a:r>
              <a:rPr sz="1000" b="1" spc="-25" dirty="0">
                <a:solidFill>
                  <a:srgbClr val="133768"/>
                </a:solidFill>
                <a:latin typeface="Arial"/>
                <a:cs typeface="Arial"/>
              </a:rPr>
              <a:t>Expected</a:t>
            </a:r>
            <a:r>
              <a:rPr sz="1000" b="1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Final</a:t>
            </a:r>
            <a:r>
              <a:rPr sz="1000" b="1" spc="5" dirty="0">
                <a:solidFill>
                  <a:srgbClr val="133768"/>
                </a:solidFill>
                <a:latin typeface="Arial"/>
                <a:cs typeface="Arial"/>
              </a:rPr>
              <a:t> </a:t>
            </a: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Outcomes</a:t>
            </a:r>
            <a:endParaRPr sz="1000">
              <a:latin typeface="Arial"/>
              <a:cs typeface="Arial"/>
            </a:endParaRPr>
          </a:p>
          <a:p>
            <a:pPr marL="312420" marR="228600" indent="-16573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25" dirty="0">
                <a:latin typeface="Tahoma"/>
                <a:cs typeface="Tahoma"/>
              </a:rPr>
              <a:t>Complete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working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rescue-</a:t>
            </a:r>
            <a:r>
              <a:rPr sz="1000" spc="-35" dirty="0">
                <a:latin typeface="Tahoma"/>
                <a:cs typeface="Tahoma"/>
              </a:rPr>
              <a:t>routing 	</a:t>
            </a:r>
            <a:r>
              <a:rPr sz="1000" spc="-10" dirty="0">
                <a:latin typeface="Tahoma"/>
                <a:cs typeface="Tahoma"/>
              </a:rPr>
              <a:t>system</a:t>
            </a:r>
            <a:endParaRPr sz="1000">
              <a:latin typeface="Tahoma"/>
              <a:cs typeface="Tahoma"/>
            </a:endParaRPr>
          </a:p>
          <a:p>
            <a:pPr marL="312420" marR="290195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35" dirty="0">
                <a:latin typeface="Tahoma"/>
                <a:cs typeface="Tahoma"/>
              </a:rPr>
              <a:t>Measured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results: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route</a:t>
            </a:r>
            <a:r>
              <a:rPr sz="1000" spc="-30" dirty="0">
                <a:latin typeface="Tahoma"/>
                <a:cs typeface="Tahoma"/>
              </a:rPr>
              <a:t> </a:t>
            </a:r>
            <a:r>
              <a:rPr sz="1000" spc="-35" dirty="0">
                <a:latin typeface="Tahoma"/>
                <a:cs typeface="Tahoma"/>
              </a:rPr>
              <a:t>quality, 	</a:t>
            </a:r>
            <a:r>
              <a:rPr sz="1000" spc="-30" dirty="0">
                <a:latin typeface="Tahoma"/>
                <a:cs typeface="Tahoma"/>
              </a:rPr>
              <a:t>runtime,</a:t>
            </a:r>
            <a:r>
              <a:rPr sz="1000" spc="10" dirty="0">
                <a:latin typeface="Tahoma"/>
                <a:cs typeface="Tahoma"/>
              </a:rPr>
              <a:t> </a:t>
            </a:r>
            <a:r>
              <a:rPr sz="1000" spc="60" dirty="0">
                <a:latin typeface="Tahoma"/>
                <a:cs typeface="Tahoma"/>
              </a:rPr>
              <a:t>ML</a:t>
            </a:r>
            <a:r>
              <a:rPr sz="1000" spc="1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risk</a:t>
            </a:r>
            <a:endParaRPr sz="1000">
              <a:latin typeface="Tahoma"/>
              <a:cs typeface="Tahoma"/>
            </a:endParaRPr>
          </a:p>
          <a:p>
            <a:pPr marL="313055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3055" algn="l"/>
              </a:tabLst>
            </a:pPr>
            <a:r>
              <a:rPr sz="1000" spc="-20" dirty="0">
                <a:latin typeface="Tahoma"/>
                <a:cs typeface="Tahoma"/>
              </a:rPr>
              <a:t>Useful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for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50" dirty="0">
                <a:latin typeface="Tahoma"/>
                <a:cs typeface="Tahoma"/>
              </a:rPr>
              <a:t>disaster-response</a:t>
            </a:r>
            <a:r>
              <a:rPr sz="1000" spc="-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planning</a:t>
            </a:r>
            <a:endParaRPr sz="1000">
              <a:latin typeface="Tahoma"/>
              <a:cs typeface="Tahoma"/>
            </a:endParaRPr>
          </a:p>
          <a:p>
            <a:pPr marL="312420" marR="103505" indent="-16573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000" spc="-30" dirty="0">
                <a:latin typeface="Tahoma"/>
                <a:cs typeface="Tahoma"/>
              </a:rPr>
              <a:t>Extendable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with</a:t>
            </a:r>
            <a:r>
              <a:rPr sz="1000" spc="-40" dirty="0">
                <a:latin typeface="Tahoma"/>
                <a:cs typeface="Tahoma"/>
              </a:rPr>
              <a:t> database</a:t>
            </a:r>
            <a:r>
              <a:rPr sz="1000" spc="-35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and</a:t>
            </a:r>
            <a:r>
              <a:rPr sz="1000" spc="-40" dirty="0">
                <a:latin typeface="Tahoma"/>
                <a:cs typeface="Tahoma"/>
              </a:rPr>
              <a:t> </a:t>
            </a:r>
            <a:r>
              <a:rPr sz="1000" spc="-25" dirty="0">
                <a:latin typeface="Tahoma"/>
                <a:cs typeface="Tahoma"/>
              </a:rPr>
              <a:t>map 	</a:t>
            </a:r>
            <a:r>
              <a:rPr sz="1000" spc="-10" dirty="0">
                <a:latin typeface="Tahoma"/>
                <a:cs typeface="Tahoma"/>
              </a:rPr>
              <a:t>frontend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18497" y="887609"/>
            <a:ext cx="2223135" cy="1619885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000" b="1" spc="-10" dirty="0">
                <a:solidFill>
                  <a:srgbClr val="133768"/>
                </a:solidFill>
                <a:latin typeface="Arial"/>
                <a:cs typeface="Arial"/>
              </a:rPr>
              <a:t>References</a:t>
            </a:r>
            <a:endParaRPr sz="1000">
              <a:latin typeface="Arial"/>
              <a:cs typeface="Arial"/>
            </a:endParaRPr>
          </a:p>
          <a:p>
            <a:pPr marL="288290" marR="330835" indent="-167005">
              <a:lnSpc>
                <a:spcPct val="100000"/>
              </a:lnSpc>
              <a:spcBef>
                <a:spcPts val="595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spc="-30" dirty="0">
                <a:latin typeface="Tahoma"/>
                <a:cs typeface="Tahoma"/>
              </a:rPr>
              <a:t>Cormen</a:t>
            </a:r>
            <a:r>
              <a:rPr sz="1000" spc="-5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et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al.,</a:t>
            </a:r>
            <a:r>
              <a:rPr sz="1000" spc="-70" dirty="0">
                <a:latin typeface="Tahoma"/>
                <a:cs typeface="Tahoma"/>
              </a:rPr>
              <a:t> </a:t>
            </a:r>
            <a:r>
              <a:rPr sz="1000" i="1" dirty="0">
                <a:latin typeface="Arial"/>
                <a:cs typeface="Arial"/>
              </a:rPr>
              <a:t>Introduction</a:t>
            </a:r>
            <a:r>
              <a:rPr sz="1000" i="1" spc="-25" dirty="0">
                <a:latin typeface="Arial"/>
                <a:cs typeface="Arial"/>
              </a:rPr>
              <a:t> to 	Algorithms</a:t>
            </a:r>
            <a:r>
              <a:rPr sz="1000" spc="-25" dirty="0">
                <a:latin typeface="Tahoma"/>
                <a:cs typeface="Tahoma"/>
              </a:rPr>
              <a:t>,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dirty="0">
                <a:latin typeface="Tahoma"/>
                <a:cs typeface="Tahoma"/>
              </a:rPr>
              <a:t>MIT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Press</a:t>
            </a:r>
            <a:endParaRPr sz="1000">
              <a:latin typeface="Tahoma"/>
              <a:cs typeface="Tahoma"/>
            </a:endParaRPr>
          </a:p>
          <a:p>
            <a:pPr marL="288290" marR="5080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spc="-50" dirty="0">
                <a:latin typeface="Tahoma"/>
                <a:cs typeface="Tahoma"/>
              </a:rPr>
              <a:t>GeeksforGeeks:</a:t>
            </a:r>
            <a:r>
              <a:rPr sz="1000" spc="7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Graph, </a:t>
            </a:r>
            <a:r>
              <a:rPr sz="1000" spc="-10" dirty="0">
                <a:latin typeface="Tahoma"/>
                <a:cs typeface="Tahoma"/>
              </a:rPr>
              <a:t>Dijkstra,</a:t>
            </a:r>
            <a:r>
              <a:rPr sz="1000" spc="-25" dirty="0">
                <a:latin typeface="Tahoma"/>
                <a:cs typeface="Tahoma"/>
              </a:rPr>
              <a:t> A*, 	</a:t>
            </a:r>
            <a:r>
              <a:rPr sz="1000" dirty="0">
                <a:latin typeface="Tahoma"/>
                <a:cs typeface="Tahoma"/>
              </a:rPr>
              <a:t>Min</a:t>
            </a:r>
            <a:r>
              <a:rPr sz="1000" spc="6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Heap</a:t>
            </a:r>
            <a:endParaRPr sz="1000">
              <a:latin typeface="Tahoma"/>
              <a:cs typeface="Tahoma"/>
            </a:endParaRPr>
          </a:p>
          <a:p>
            <a:pPr marL="288925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8925" algn="l"/>
              </a:tabLst>
            </a:pPr>
            <a:r>
              <a:rPr sz="1000" spc="-20" dirty="0">
                <a:latin typeface="Tahoma"/>
                <a:cs typeface="Tahoma"/>
              </a:rPr>
              <a:t>Scikit-</a:t>
            </a:r>
            <a:r>
              <a:rPr sz="1000" spc="-25" dirty="0">
                <a:latin typeface="Tahoma"/>
                <a:cs typeface="Tahoma"/>
              </a:rPr>
              <a:t>learn</a:t>
            </a:r>
            <a:r>
              <a:rPr sz="1000" spc="3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documentation</a:t>
            </a:r>
            <a:endParaRPr sz="1000">
              <a:latin typeface="Tahoma"/>
              <a:cs typeface="Tahoma"/>
            </a:endParaRPr>
          </a:p>
          <a:p>
            <a:pPr marL="288290" marR="338455" indent="-167005">
              <a:lnSpc>
                <a:spcPct val="100000"/>
              </a:lnSpc>
              <a:spcBef>
                <a:spcPts val="590"/>
              </a:spcBef>
              <a:buClr>
                <a:srgbClr val="133768"/>
              </a:buClr>
              <a:buAutoNum type="arabicPeriod"/>
              <a:tabLst>
                <a:tab pos="289560" algn="l"/>
              </a:tabLst>
            </a:pPr>
            <a:r>
              <a:rPr sz="1000" spc="-20" dirty="0">
                <a:latin typeface="Tahoma"/>
                <a:cs typeface="Tahoma"/>
              </a:rPr>
              <a:t>OpenStreetMap </a:t>
            </a:r>
            <a:r>
              <a:rPr sz="1000" spc="-30" dirty="0">
                <a:latin typeface="Tahoma"/>
                <a:cs typeface="Tahoma"/>
              </a:rPr>
              <a:t>and</a:t>
            </a:r>
            <a:r>
              <a:rPr sz="1000" spc="-15" dirty="0">
                <a:latin typeface="Tahoma"/>
                <a:cs typeface="Tahoma"/>
              </a:rPr>
              <a:t> </a:t>
            </a:r>
            <a:r>
              <a:rPr sz="1000" spc="-30" dirty="0">
                <a:latin typeface="Tahoma"/>
                <a:cs typeface="Tahoma"/>
              </a:rPr>
              <a:t>Leaflet.js 	</a:t>
            </a:r>
            <a:r>
              <a:rPr sz="1000" spc="-10" dirty="0">
                <a:latin typeface="Tahoma"/>
                <a:cs typeface="Tahoma"/>
              </a:rPr>
              <a:t>documentation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32721" y="2671660"/>
            <a:ext cx="1965960" cy="340360"/>
          </a:xfrm>
          <a:prstGeom prst="rect">
            <a:avLst/>
          </a:prstGeom>
          <a:solidFill>
            <a:srgbClr val="133768"/>
          </a:solidFill>
        </p:spPr>
        <p:txBody>
          <a:bodyPr vert="horz" wrap="square" lIns="0" tIns="0" rIns="0" bIns="0" rtlCol="0">
            <a:spAutoFit/>
          </a:bodyPr>
          <a:lstStyle/>
          <a:p>
            <a:pPr marL="41910" algn="ctr">
              <a:lnSpc>
                <a:spcPts val="1190"/>
              </a:lnSpc>
            </a:pPr>
            <a:r>
              <a:rPr sz="1000" b="1" dirty="0">
                <a:solidFill>
                  <a:srgbClr val="FFFFFF"/>
                </a:solidFill>
                <a:latin typeface="Arial"/>
                <a:cs typeface="Arial"/>
              </a:rPr>
              <a:t>Thank</a:t>
            </a:r>
            <a:r>
              <a:rPr sz="1000" b="1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000" b="1" spc="-25" dirty="0">
                <a:solidFill>
                  <a:srgbClr val="FFFFFF"/>
                </a:solidFill>
                <a:latin typeface="Arial"/>
                <a:cs typeface="Arial"/>
              </a:rPr>
              <a:t>You</a:t>
            </a:r>
            <a:endParaRPr sz="1000">
              <a:latin typeface="Arial"/>
              <a:cs typeface="Arial"/>
            </a:endParaRPr>
          </a:p>
          <a:p>
            <a:pPr marL="41910" algn="ctr">
              <a:lnSpc>
                <a:spcPts val="1200"/>
              </a:lnSpc>
            </a:pPr>
            <a:r>
              <a:rPr sz="1000" spc="-30" dirty="0">
                <a:solidFill>
                  <a:srgbClr val="FFFFFF"/>
                </a:solidFill>
                <a:latin typeface="Tahoma"/>
                <a:cs typeface="Tahoma"/>
              </a:rPr>
              <a:t>Questions</a:t>
            </a:r>
            <a:r>
              <a:rPr sz="10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70" dirty="0">
                <a:solidFill>
                  <a:srgbClr val="FFFFFF"/>
                </a:solidFill>
                <a:latin typeface="Tahoma"/>
                <a:cs typeface="Tahoma"/>
              </a:rPr>
              <a:t>&amp;</a:t>
            </a:r>
            <a:r>
              <a:rPr sz="1000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000" spc="-10" dirty="0">
                <a:solidFill>
                  <a:srgbClr val="FFFFFF"/>
                </a:solidFill>
                <a:latin typeface="Tahoma"/>
                <a:cs typeface="Tahoma"/>
              </a:rPr>
              <a:t>Suggestions</a:t>
            </a:r>
            <a:endParaRPr sz="10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675"/>
              </a:lnSpc>
            </a:pPr>
            <a:r>
              <a:rPr dirty="0"/>
              <a:t>Department</a:t>
            </a:r>
            <a:r>
              <a:rPr spc="25" dirty="0"/>
              <a:t> </a:t>
            </a:r>
            <a:r>
              <a:rPr dirty="0"/>
              <a:t>of</a:t>
            </a:r>
            <a:r>
              <a:rPr spc="25" dirty="0"/>
              <a:t> </a:t>
            </a:r>
            <a:r>
              <a:rPr dirty="0"/>
              <a:t>Computer</a:t>
            </a:r>
            <a:r>
              <a:rPr spc="25" dirty="0"/>
              <a:t> </a:t>
            </a:r>
            <a:r>
              <a:rPr spc="-25" dirty="0"/>
              <a:t>Science</a:t>
            </a:r>
            <a:r>
              <a:rPr spc="25" dirty="0"/>
              <a:t> </a:t>
            </a:r>
            <a:r>
              <a:rPr spc="80" dirty="0"/>
              <a:t>&amp;</a:t>
            </a:r>
            <a:r>
              <a:rPr spc="25" dirty="0"/>
              <a:t> </a:t>
            </a:r>
            <a:r>
              <a:rPr spc="-10" dirty="0"/>
              <a:t>Engineering</a:t>
            </a:r>
            <a:r>
              <a:rPr spc="25" dirty="0"/>
              <a:t> </a:t>
            </a:r>
            <a:r>
              <a:rPr dirty="0"/>
              <a:t>—</a:t>
            </a:r>
            <a:r>
              <a:rPr spc="25" dirty="0"/>
              <a:t> </a:t>
            </a:r>
            <a:r>
              <a:rPr spc="-10" dirty="0"/>
              <a:t>Graphic</a:t>
            </a:r>
            <a:r>
              <a:rPr spc="25" dirty="0"/>
              <a:t> </a:t>
            </a:r>
            <a:r>
              <a:rPr dirty="0"/>
              <a:t>Era</a:t>
            </a:r>
            <a:r>
              <a:rPr spc="30" dirty="0"/>
              <a:t> </a:t>
            </a:r>
            <a:r>
              <a:rPr spc="-10" dirty="0"/>
              <a:t>(Deemed</a:t>
            </a:r>
            <a:r>
              <a:rPr spc="25" dirty="0"/>
              <a:t> </a:t>
            </a:r>
            <a:r>
              <a:rPr dirty="0"/>
              <a:t>to</a:t>
            </a:r>
            <a:r>
              <a:rPr spc="25" dirty="0"/>
              <a:t> </a:t>
            </a:r>
            <a:r>
              <a:rPr dirty="0"/>
              <a:t>be</a:t>
            </a:r>
            <a:r>
              <a:rPr spc="25" dirty="0"/>
              <a:t> </a:t>
            </a:r>
            <a:r>
              <a:rPr spc="-10" dirty="0"/>
              <a:t>University)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2865">
              <a:lnSpc>
                <a:spcPts val="675"/>
              </a:lnSpc>
            </a:pPr>
            <a:fld id="{81D60167-4931-47E6-BA6A-407CBD079E47}" type="slidenum">
              <a:rPr spc="-10" dirty="0"/>
              <a:t>15</a:t>
            </a:fld>
            <a:r>
              <a:rPr spc="-10" dirty="0"/>
              <a:t>/15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5727658-F963-F581-17D2-31E8DCC20D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7673" y="23414"/>
            <a:ext cx="457660" cy="45766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1596</Words>
  <Application>Microsoft Office PowerPoint</Application>
  <PresentationFormat>Custom</PresentationFormat>
  <Paragraphs>254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Gill Sans MT</vt:lpstr>
      <vt:lpstr>Lucida Sans Unicode</vt:lpstr>
      <vt:lpstr>Tahoma</vt:lpstr>
      <vt:lpstr>Trebuchet MS</vt:lpstr>
      <vt:lpstr>Office Theme</vt:lpstr>
      <vt:lpstr>PROJECT-BASED LEARNING</vt:lpstr>
      <vt:lpstr>Team &amp; Mentor Details</vt:lpstr>
      <vt:lpstr>Phase-I Recap &amp; Feedback Incorporated</vt:lpstr>
      <vt:lpstr>Problem Statement &amp; Finalized Objectives</vt:lpstr>
      <vt:lpstr>Updated System Architecture / Workflow</vt:lpstr>
      <vt:lpstr>Module Design &amp; Functional Requirements</vt:lpstr>
      <vt:lpstr>Technology Stack &amp; Development Methodology</vt:lpstr>
      <vt:lpstr>Implementation of PBL Course Concepts</vt:lpstr>
      <vt:lpstr>PowerPoint Presentation</vt:lpstr>
      <vt:lpstr>Working Prototype / Demonstration</vt:lpstr>
      <vt:lpstr>Testing, Results &amp; Validation</vt:lpstr>
      <vt:lpstr>GitHub Repository &amp; Development Activity</vt:lpstr>
      <vt:lpstr>Individual Contribution</vt:lpstr>
      <vt:lpstr>Challenges, Remaining Work &amp; Phase-III Roadmap</vt:lpstr>
      <vt:lpstr>Expected Outcomes &amp;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Project-Based Learning [2mm]Phase-II Evaluation</dc:title>
  <dc:creator>Dynamic Disaster Risk, Evaluation &amp; Rescue Optimization SystemTeam ID: DSCPP-III-2026-T119</dc:creator>
  <cp:lastModifiedBy>Harsh Raunchela</cp:lastModifiedBy>
  <cp:revision>4</cp:revision>
  <dcterms:created xsi:type="dcterms:W3CDTF">2026-10-16T04:16:45Z</dcterms:created>
  <dcterms:modified xsi:type="dcterms:W3CDTF">2026-10-18T07:33:52Z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2026-10-14T00:00:00Z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2026-10-16T00:00:00Z</vt:filetime>
  </property>
  <property fmtid="{D5CDD505-2E9C-101B-9397-08002B2CF9AE}" pid="6" name="PTEX.Fullbanner">
    <vt:lpwstr>This is pdfTeX, Version 3.141592653-2.6-1.40.29 (TeX Live 2026) kpathsea version 6.4.2</vt:lpwstr>
  </property>
  <property fmtid="{D5CDD505-2E9C-101B-9397-08002B2CF9AE}" pid="7" name="Producer">
    <vt:lpwstr>pdfTeX-1.40.29</vt:lpwstr>
  </property>
</Properties>
</file>